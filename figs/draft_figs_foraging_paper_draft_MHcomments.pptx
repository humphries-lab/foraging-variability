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comment1.xml" ContentType="application/vnd.openxmlformats-officedocument.presentationml.comments+xml"/>
  <Override PartName="/ppt/notesSlides/notesSlide2.xml" ContentType="application/vnd.openxmlformats-officedocument.presentationml.notesSlide+xml"/>
  <Override PartName="/ppt/comments/comment2.xml" ContentType="application/vnd.openxmlformats-officedocument.presentationml.comments+xml"/>
  <Override PartName="/ppt/comments/comment3.xml" ContentType="application/vnd.openxmlformats-officedocument.presentationml.comments+xml"/>
  <Override PartName="/ppt/notesSlides/notesSlide3.xml" ContentType="application/vnd.openxmlformats-officedocument.presentationml.notesSlide+xml"/>
  <Override PartName="/ppt/comments/comment4.xml" ContentType="application/vnd.openxmlformats-officedocument.presentationml.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comment5.xml" ContentType="application/vnd.openxmlformats-officedocument.presentationml.comments+xml"/>
  <Override PartName="/ppt/notesSlides/notesSlide6.xml" ContentType="application/vnd.openxmlformats-officedocument.presentationml.notesSlide+xml"/>
  <Override PartName="/ppt/comments/comment6.xml" ContentType="application/vnd.openxmlformats-officedocument.presentationml.comments+xml"/>
  <Override PartName="/ppt/notesSlides/notesSlide7.xml" ContentType="application/vnd.openxmlformats-officedocument.presentationml.notesSlide+xml"/>
  <Override PartName="/ppt/comments/comment7.xml" ContentType="application/vnd.openxmlformats-officedocument.presentationml.comments+xml"/>
  <Override PartName="/ppt/notesSlides/notesSlide8.xml" ContentType="application/vnd.openxmlformats-officedocument.presentationml.notesSlide+xml"/>
  <Override PartName="/ppt/comments/comment8.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14"/>
  </p:notesMasterIdLst>
  <p:sldIdLst>
    <p:sldId id="256" r:id="rId2"/>
    <p:sldId id="281" r:id="rId3"/>
    <p:sldId id="292" r:id="rId4"/>
    <p:sldId id="288" r:id="rId5"/>
    <p:sldId id="282" r:id="rId6"/>
    <p:sldId id="293" r:id="rId7"/>
    <p:sldId id="286" r:id="rId8"/>
    <p:sldId id="290" r:id="rId9"/>
    <p:sldId id="287" r:id="rId10"/>
    <p:sldId id="291" r:id="rId11"/>
    <p:sldId id="285" r:id="rId12"/>
    <p:sldId id="289" r:id="rId13"/>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799084A4-9AB7-154A-B85F-872B15CFB7AD}">
          <p14:sldIdLst>
            <p14:sldId id="256"/>
            <p14:sldId id="281"/>
            <p14:sldId id="292"/>
            <p14:sldId id="288"/>
            <p14:sldId id="282"/>
            <p14:sldId id="293"/>
            <p14:sldId id="286"/>
            <p14:sldId id="290"/>
            <p14:sldId id="287"/>
            <p14:sldId id="291"/>
            <p14:sldId id="285"/>
            <p14:sldId id="289"/>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rk Humphries (staff)" initials="MH(" lastIdx="10" clrIdx="0">
    <p:extLst>
      <p:ext uri="{19B8F6BF-5375-455C-9EA6-DF929625EA0E}">
        <p15:presenceInfo xmlns:p15="http://schemas.microsoft.com/office/powerpoint/2012/main" userId="S::mark.humphries@nottingham.ac.uk::ab10e92a-91dd-4d72-9eaf-3a3018324676" providerId="AD"/>
      </p:ext>
    </p:extLst>
  </p:cmAuthor>
  <p:cmAuthor id="2" name="Emma Scholey (PhD Psychology Lab FT)" initials="ES(PLF" lastIdx="67" clrIdx="1">
    <p:extLst>
      <p:ext uri="{19B8F6BF-5375-455C-9EA6-DF929625EA0E}">
        <p15:presenceInfo xmlns:p15="http://schemas.microsoft.com/office/powerpoint/2012/main" userId="S::exs165@student.bham.ac.uk::b8267b62-ea09-491f-89e3-b1308758bc50" providerId="AD"/>
      </p:ext>
    </p:extLst>
  </p:cmAuthor>
  <p:cmAuthor id="3" name="Mark Humphries (staff)" initials="MH( [2]" lastIdx="21" clrIdx="2">
    <p:extLst>
      <p:ext uri="{19B8F6BF-5375-455C-9EA6-DF929625EA0E}">
        <p15:presenceInfo xmlns:p15="http://schemas.microsoft.com/office/powerpoint/2012/main" userId="S-1-5-21-1664130791-3153540899-3044996548-58965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5809"/>
    <p:restoredTop sz="94694"/>
  </p:normalViewPr>
  <p:slideViewPr>
    <p:cSldViewPr snapToGrid="0">
      <p:cViewPr varScale="1">
        <p:scale>
          <a:sx n="84" d="100"/>
          <a:sy n="84" d="100"/>
        </p:scale>
        <p:origin x="1400" y="184"/>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_rels/viewProps.xml.rels><?xml version="1.0" encoding="UTF-8" standalone="yes"?>
<Relationships xmlns="http://schemas.openxmlformats.org/package/2006/relationships"><Relationship Id="rId1" Type="http://schemas.openxmlformats.org/officeDocument/2006/relationships/slide" Target="slides/slide1.xml"/></Relationships>
</file>

<file path=ppt/comments/comment1.xml><?xml version="1.0" encoding="utf-8"?>
<p:cmLst xmlns:a="http://schemas.openxmlformats.org/drawingml/2006/main" xmlns:r="http://schemas.openxmlformats.org/officeDocument/2006/relationships" xmlns:p="http://schemas.openxmlformats.org/presentationml/2006/main">
  <p:cm authorId="2" dt="2023-08-07T18:07:50.664" idx="2">
    <p:pos x="10" y="10"/>
    <p:text>Have just taken this from your grant for now - will redraft this </p:text>
    <p:extLst>
      <p:ext uri="{C676402C-5697-4E1C-873F-D02D1690AC5C}">
        <p15:threadingInfo xmlns:p15="http://schemas.microsoft.com/office/powerpoint/2012/main" timeZoneBias="-60"/>
      </p:ext>
    </p:extLst>
  </p:cm>
  <p:cm authorId="2" dt="2023-08-07T18:08:32.026" idx="3">
    <p:pos x="146" y="146"/>
    <p:text>Decide on legends - put labels on lines?</p:text>
    <p:extLst>
      <p:ext uri="{C676402C-5697-4E1C-873F-D02D1690AC5C}">
        <p15:threadingInfo xmlns:p15="http://schemas.microsoft.com/office/powerpoint/2012/main" timeZoneBias="-60"/>
      </p:ext>
    </p:extLst>
  </p:cm>
  <p:cm authorId="3" dt="2023-08-30T11:53:35.329" idx="1">
    <p:pos x="146" y="282"/>
    <p:text>yes, labels directly on panels
(could write them in their ink colours at top right of panel b)</p:text>
    <p:extLst>
      <p:ext uri="{C676402C-5697-4E1C-873F-D02D1690AC5C}">
        <p15:threadingInfo xmlns:p15="http://schemas.microsoft.com/office/powerpoint/2012/main" timeZoneBias="-60">
          <p15:parentCm authorId="2" idx="3"/>
        </p15:threadingInfo>
      </p:ext>
    </p:extLst>
  </p:cm>
  <p:cm authorId="3" dt="2023-08-30T11:53:39.908" idx="2">
    <p:pos x="3602" y="2442"/>
    <p:text>Panel g: Why is the y-axis scale so compressed? Put the max at e.g. 10 so that the spread of SDs for different patches is clear</p:text>
    <p:extLst>
      <p:ext uri="{C676402C-5697-4E1C-873F-D02D1690AC5C}">
        <p15:threadingInfo xmlns:p15="http://schemas.microsoft.com/office/powerpoint/2012/main" timeZoneBias="-60"/>
      </p:ext>
    </p:extLst>
  </p:cm>
  <p:cm authorId="3" dt="2023-08-30T11:55:05.156" idx="3">
    <p:pos x="2840" y="1476"/>
    <p:text>panels d, f &amp; i: inconsistency of line types. In panel b, the dashed green/blue lines mean "background reward rate" in the MVT explanation. In panesl d,f&amp;i the solid lines plot the intercept of the dashed/solid lines in panel b, and the dashed lines now mean "model predictions".
Make consistent e.g. the dashed lines mean one thing; and perhaps the background rate lines in b are solid etc</p:text>
    <p:extLst>
      <p:ext uri="{C676402C-5697-4E1C-873F-D02D1690AC5C}">
        <p15:threadingInfo xmlns:p15="http://schemas.microsoft.com/office/powerpoint/2012/main" timeZoneBias="-60"/>
      </p:ext>
    </p:extLst>
  </p:cm>
  <p:cm authorId="3" dt="2023-08-30T11:59:26.447" idx="4">
    <p:pos x="1079" y="3961"/>
    <p:text>panel h: this isn't the graph for e-greedy...</p:text>
    <p:extLst>
      <p:ext uri="{C676402C-5697-4E1C-873F-D02D1690AC5C}">
        <p15:threadingInfo xmlns:p15="http://schemas.microsoft.com/office/powerpoint/2012/main" timeZoneBias="-60"/>
      </p:ext>
    </p:extLst>
  </p:cm>
  <p:cm authorId="2" dt="2023-08-31T09:47:47.167" idx="66">
    <p:pos x="1079" y="4097"/>
    <p:text>Change to epsilon</p:text>
    <p:extLst>
      <p:ext uri="{C676402C-5697-4E1C-873F-D02D1690AC5C}">
        <p15:threadingInfo xmlns:p15="http://schemas.microsoft.com/office/powerpoint/2012/main" timeZoneBias="-60">
          <p15:parentCm authorId="3" idx="4"/>
        </p15:threadingInfo>
      </p:ext>
    </p:extLst>
  </p:cm>
  <p:cm authorId="3" dt="2023-08-30T11:59:49.110" idx="5">
    <p:pos x="4072" y="6104"/>
    <p:text>e-greedy cannot replicate the patch effect, and therefore not MVT predictions. It can replicate the environment effect (as shown) and so could also arguably overharvest (just make e very small...)</p:text>
    <p:extLst>
      <p:ext uri="{C676402C-5697-4E1C-873F-D02D1690AC5C}">
        <p15:threadingInfo xmlns:p15="http://schemas.microsoft.com/office/powerpoint/2012/main" timeZoneBias="-60"/>
      </p:ext>
    </p:extLst>
  </p:cm>
  <p:cm authorId="3" dt="2023-08-30T12:29:31.609" idx="18">
    <p:pos x="1656" y="1228"/>
    <p:text>Panel d: do we need this? Is it important that the model approximate MVT? (though does nicely make the point about overharvesting in panel f, and patch effect compared to panel i)</p:text>
    <p:extLst>
      <p:ext uri="{C676402C-5697-4E1C-873F-D02D1690AC5C}">
        <p15:threadingInfo xmlns:p15="http://schemas.microsoft.com/office/powerpoint/2012/main" timeZoneBias="-60"/>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2" dt="2023-08-07T18:09:20.175" idx="62">
    <p:pos x="282" y="282"/>
    <p:text>Supplementary: 
Timestep/continuous time analysis? </p:text>
    <p:extLst>
      <p:ext uri="{C676402C-5697-4E1C-873F-D02D1690AC5C}">
        <p15:threadingInfo xmlns:p15="http://schemas.microsoft.com/office/powerpoint/2012/main" timeZoneBias="-6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2" dt="2023-08-09T11:52:21.924" idx="42">
    <p:pos x="3476" y="1678"/>
    <p:text>This 2.8s travel time is annoying as we can't model it with timstep of 1s. For fitting, I just assumed that travel time for this env is 3s. Okay, or need to rethink? </p:text>
    <p:extLst>
      <p:ext uri="{C676402C-5697-4E1C-873F-D02D1690AC5C}">
        <p15:threadingInfo xmlns:p15="http://schemas.microsoft.com/office/powerpoint/2012/main" timeZoneBias="-60"/>
      </p:ext>
    </p:extLst>
  </p:cm>
  <p:cm authorId="2" dt="2023-08-09T11:53:48.537" idx="43">
    <p:pos x="3476" y="1814"/>
    <p:text>Could look at study 1 of their data instead which has 6s travel time and instead varies env by patch frequency (like Le Heron)</p:text>
    <p:extLst>
      <p:ext uri="{C676402C-5697-4E1C-873F-D02D1690AC5C}">
        <p15:threadingInfo xmlns:p15="http://schemas.microsoft.com/office/powerpoint/2012/main" timeZoneBias="-60">
          <p15:parentCm authorId="2" idx="42"/>
        </p15:threadingInfo>
      </p:ext>
    </p:extLst>
  </p:cm>
  <p:cm authorId="3" dt="2023-08-30T12:17:01.881" idx="13">
    <p:pos x="3476" y="1950"/>
    <p:text>As discussed at Oxford meeting, fitting both would be fun - a direct replication, and this travel time version which may induce learning.
Fine to round to 1s for now</p:text>
    <p:extLst>
      <p:ext uri="{C676402C-5697-4E1C-873F-D02D1690AC5C}">
        <p15:threadingInfo xmlns:p15="http://schemas.microsoft.com/office/powerpoint/2012/main" timeZoneBias="-60">
          <p15:parentCm authorId="2" idx="42"/>
        </p15:threadingInfo>
      </p:ext>
    </p:extLst>
  </p:cm>
  <p:cm authorId="2" dt="2023-08-09T11:54:04.988" idx="44">
    <p:pos x="45" y="1768"/>
    <p:text>Study had 6 blocks (3 rich, 3 poor). For fitting, I just assumed they were fit together (no refresh in between blocks)</p:text>
    <p:extLst>
      <p:ext uri="{C676402C-5697-4E1C-873F-D02D1690AC5C}">
        <p15:threadingInfo xmlns:p15="http://schemas.microsoft.com/office/powerpoint/2012/main" timeZoneBias="-60"/>
      </p:ext>
    </p:extLst>
  </p:cm>
  <p:cm authorId="2" dt="2023-08-09T11:58:40.616" idx="46">
    <p:pos x="50" y="2109"/>
    <p:text>Each rat had 5 days of testing, results averaged over all 5 test days. For fitting, I just assumed they were fit together (no 'refresh' in between blocks)</p:text>
    <p:extLst>
      <p:ext uri="{C676402C-5697-4E1C-873F-D02D1690AC5C}">
        <p15:threadingInfo xmlns:p15="http://schemas.microsoft.com/office/powerpoint/2012/main" timeZoneBias="-60"/>
      </p:ext>
    </p:extLst>
  </p:cm>
  <p:cm authorId="2" dt="2023-08-09T11:59:59.827" idx="47">
    <p:pos x="50" y="2229"/>
    <p:text>In this paper, they use continuous time semi-markov models, but then split the task into states based on events, and assume time in each state is constant... is it valid for us to model each 1s 'tilmestep' as a state? </p:text>
    <p:extLst>
      <p:ext uri="{C676402C-5697-4E1C-873F-D02D1690AC5C}">
        <p15:threadingInfo xmlns:p15="http://schemas.microsoft.com/office/powerpoint/2012/main" timeZoneBias="-60"/>
      </p:ext>
    </p:extLst>
  </p:cm>
  <p:cm authorId="3" dt="2023-08-30T12:18:13.647" idx="14">
    <p:pos x="3672" y="1368"/>
    <p:text>two patch distributions for LeHeron 2020?</p:text>
    <p:extLst>
      <p:ext uri="{C676402C-5697-4E1C-873F-D02D1690AC5C}">
        <p15:threadingInfo xmlns:p15="http://schemas.microsoft.com/office/powerpoint/2012/main" timeZoneBias="-6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2" dt="2023-08-08T16:23:41.958" idx="23">
    <p:pos x="984" y="259"/>
    <p:text>These are very similar to Fig 1 plots, since I'm using the Le Heron RR function in fig 1. But I still think I should repeat the model predictions for this specific task here, since each task will have different predictions</p:text>
    <p:extLst>
      <p:ext uri="{C676402C-5697-4E1C-873F-D02D1690AC5C}">
        <p15:threadingInfo xmlns:p15="http://schemas.microsoft.com/office/powerpoint/2012/main" timeZoneBias="-60"/>
      </p:ext>
    </p:extLst>
  </p:cm>
  <p:cm authorId="3" dt="2023-08-30T12:05:43.604" idx="6">
    <p:pos x="984" y="395"/>
    <p:text>Yes, agree is good to have a-c here for consistency across figures. Perhaps we use other values for Figure 1.
Same consistency point as Figure 1: the dashed lines mean different things in panel a and in panels b&amp;c, so change one as per Figure 1. Also, scaling of panel c.</p:text>
    <p:extLst>
      <p:ext uri="{C676402C-5697-4E1C-873F-D02D1690AC5C}">
        <p15:threadingInfo xmlns:p15="http://schemas.microsoft.com/office/powerpoint/2012/main" timeZoneBias="-60">
          <p15:parentCm authorId="2" idx="23"/>
        </p15:threadingInfo>
      </p:ext>
    </p:extLst>
  </p:cm>
  <p:cm authorId="2" dt="2023-08-08T16:24:44.694" idx="24">
    <p:pos x="2934" y="86"/>
    <p:text>Panel a has MVT beta's overlaid, whereas panel b and c have expected group participant beta's from leaving times overlaid. This is confusing, but want to show clear SD prediction at the plateau in fig c. Ideas?</p:text>
    <p:extLst>
      <p:ext uri="{C676402C-5697-4E1C-873F-D02D1690AC5C}">
        <p15:threadingInfo xmlns:p15="http://schemas.microsoft.com/office/powerpoint/2012/main" timeZoneBias="-60"/>
      </p:ext>
    </p:extLst>
  </p:cm>
  <p:cm authorId="3" dt="2023-08-30T12:07:32.719" idx="7">
    <p:pos x="2934" y="222"/>
    <p:text>This may become clearer as we attempt to write the results. For now, no problem to put the best-fit beta values on the b-c panels, and refer back to them *after* talking about fitting the model.</p:text>
    <p:extLst>
      <p:ext uri="{C676402C-5697-4E1C-873F-D02D1690AC5C}">
        <p15:threadingInfo xmlns:p15="http://schemas.microsoft.com/office/powerpoint/2012/main" timeZoneBias="-60">
          <p15:parentCm authorId="2" idx="24"/>
        </p15:threadingInfo>
      </p:ext>
    </p:extLst>
  </p:cm>
  <p:cm authorId="3" dt="2023-08-30T12:07:50.490" idx="8">
    <p:pos x="1070" y="1570"/>
    <p:text>as noted in Oxford meeting, I think we'll split these into "choice model" and "learning models"; only focussing on "choice models" here</p:text>
    <p:extLst>
      <p:ext uri="{C676402C-5697-4E1C-873F-D02D1690AC5C}">
        <p15:threadingInfo xmlns:p15="http://schemas.microsoft.com/office/powerpoint/2012/main" timeZoneBias="-60"/>
      </p:ext>
    </p:extLst>
  </p:cm>
  <p:cm authorId="3" dt="2023-08-30T12:08:50.758" idx="9">
    <p:pos x="1070" y="1706"/>
    <p:text>We may also want to: 
(a) plot as P(model), but can do that later...
(b) put this after main results here, or in SI, depending on how narrative unfolds (e.g. are we focusing on the effect of stochastic choice first, or on which stochastic choice model?</p:text>
    <p:extLst>
      <p:ext uri="{C676402C-5697-4E1C-873F-D02D1690AC5C}">
        <p15:threadingInfo xmlns:p15="http://schemas.microsoft.com/office/powerpoint/2012/main" timeZoneBias="-60">
          <p15:parentCm authorId="3" idx="8"/>
        </p15:threadingInfo>
      </p:ext>
    </p:extLst>
  </p:cm>
  <p:cm authorId="3" dt="2023-08-30T12:13:03.513" idx="11">
    <p:pos x="2210" y="1494"/>
    <p:text>We'll want to say something about overharvesting here. So we need to show participants overharvested (and so is consistent with our claim that the model captures overharvesting)
Can't decide whether to do this with panel (e) or add a separate overharvesting panel</p:text>
    <p:extLst>
      <p:ext uri="{C676402C-5697-4E1C-873F-D02D1690AC5C}">
        <p15:threadingInfo xmlns:p15="http://schemas.microsoft.com/office/powerpoint/2012/main" timeZoneBias="-60"/>
      </p:ext>
    </p:extLst>
  </p:cm>
  <p:cm authorId="3" dt="2023-08-30T12:14:44.894" idx="12">
    <p:pos x="2643" y="3260"/>
    <p:text>good sanity check!</p:text>
    <p:extLst>
      <p:ext uri="{C676402C-5697-4E1C-873F-D02D1690AC5C}">
        <p15:threadingInfo xmlns:p15="http://schemas.microsoft.com/office/powerpoint/2012/main" timeZoneBias="-60"/>
      </p:ext>
    </p:extLst>
  </p:cm>
  <p:cm authorId="3" dt="2023-08-30T12:32:16.612" idx="19">
    <p:pos x="2794" y="1666"/>
    <p:text>As noted in Oxford meeting, my assumption was that we'd present the model first, then the data; but actually let's leave this as is and see what works most comfortably in the Results text</p:text>
    <p:extLst>
      <p:ext uri="{C676402C-5697-4E1C-873F-D02D1690AC5C}">
        <p15:threadingInfo xmlns:p15="http://schemas.microsoft.com/office/powerpoint/2012/main" timeZoneBias="-6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2" dt="2023-08-08T16:24:44.694" idx="29">
    <p:pos x="3536" y="331"/>
    <p:text>Panel a has MVT beta's overlaid, whereas panel b and c have expected group participant beta's from leaving times overlaid. This could confusion, but want to show clear SD prediction at the plateau in fig c. Ideas?</p:text>
    <p:extLst>
      <p:ext uri="{C676402C-5697-4E1C-873F-D02D1690AC5C}">
        <p15:threadingInfo xmlns:p15="http://schemas.microsoft.com/office/powerpoint/2012/main" timeZoneBias="-60"/>
      </p:ext>
    </p:extLst>
  </p:cm>
  <p:cm authorId="2" dt="2023-08-09T11:57:01.676" idx="45">
    <p:pos x="1078" y="1891"/>
    <p:text>Need to look into why learning rho model works better</p:text>
    <p:extLst>
      <p:ext uri="{C676402C-5697-4E1C-873F-D02D1690AC5C}">
        <p15:threadingInfo xmlns:p15="http://schemas.microsoft.com/office/powerpoint/2012/main" timeZoneBias="-60"/>
      </p:ext>
    </p:extLst>
  </p:cm>
  <p:cm authorId="3" dt="2023-08-30T12:20:28.671" idx="15">
    <p:pos x="1078" y="2027"/>
    <p:text>As discussed at Oxford meeting, here needs to be "choice models", so softmax results in panels e-j. 
Looks like a separate "learning" section of the paper will be needed!</p:text>
    <p:extLst>
      <p:ext uri="{C676402C-5697-4E1C-873F-D02D1690AC5C}">
        <p15:threadingInfo xmlns:p15="http://schemas.microsoft.com/office/powerpoint/2012/main" timeZoneBias="-60">
          <p15:parentCm authorId="2" idx="45"/>
        </p15:threadingInfo>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2" dt="2023-08-08T16:24:44.694" idx="34">
    <p:pos x="1292" y="516"/>
    <p:text>Panel a has MVT beta's overlaid, whereas panel b and c have expected group participant beta's from leaving times overlaid. This could confusion, but want to show clear SD prediction at the plateau in fig c. Ideas?</p:text>
    <p:extLst>
      <p:ext uri="{C676402C-5697-4E1C-873F-D02D1690AC5C}">
        <p15:threadingInfo xmlns:p15="http://schemas.microsoft.com/office/powerpoint/2012/main" timeZoneBias="-60"/>
      </p:ext>
    </p:extLst>
  </p:cm>
  <p:cm authorId="2" dt="2023-08-09T11:43:28.201" idx="40">
    <p:pos x="1212" y="1728"/>
    <p:text>Gap/reviewer comment: In Kane's paper, they are fitting hyperbolic discount models (whole aim of paper). Do we need to look at these too (at least justify why we're not including them)</p:text>
    <p:extLst>
      <p:ext uri="{C676402C-5697-4E1C-873F-D02D1690AC5C}">
        <p15:threadingInfo xmlns:p15="http://schemas.microsoft.com/office/powerpoint/2012/main" timeZoneBias="-60"/>
      </p:ext>
    </p:extLst>
  </p:cm>
  <p:cm authorId="2" dt="2023-08-09T11:44:47.301" idx="41">
    <p:pos x="2605" y="4328"/>
    <p:text>Gap: why does model SD show interaction when participants don't? </p:text>
    <p:extLst>
      <p:ext uri="{C676402C-5697-4E1C-873F-D02D1690AC5C}">
        <p15:threadingInfo xmlns:p15="http://schemas.microsoft.com/office/powerpoint/2012/main" timeZoneBias="-60"/>
      </p:ext>
    </p:extLst>
  </p:cm>
  <p:cm authorId="3" dt="2023-08-30T12:21:09.649" idx="16">
    <p:pos x="2605" y="4464"/>
    <p:text>Confirm if this is true for the softmax-only model</p:text>
    <p:extLst>
      <p:ext uri="{C676402C-5697-4E1C-873F-D02D1690AC5C}">
        <p15:threadingInfo xmlns:p15="http://schemas.microsoft.com/office/powerpoint/2012/main" timeZoneBias="-60">
          <p15:parentCm authorId="2" idx="41"/>
        </p15:threadingInfo>
      </p:ext>
    </p:extLst>
  </p:cm>
  <p:cm authorId="3" dt="2023-08-30T13:29:34.958" idx="21">
    <p:pos x="2605" y="4600"/>
    <p:text>And also: given where mean beta falls on the models's SD (panel c), there are three predictions:
1. [biggest] that rich envrionment will have higher SD than poor, even though beta is lower!
2. that poor environment will have no difference in SD between patches
3. that rich environment will have difference in SD between patches (higher yield = higher SD).
It is only prediction 3 we don't see in the data?
And we need to highlight that the magnitude of the SD is correct (as this is fixed by the model, not fit)</p:text>
    <p:extLst>
      <p:ext uri="{C676402C-5697-4E1C-873F-D02D1690AC5C}">
        <p15:threadingInfo xmlns:p15="http://schemas.microsoft.com/office/powerpoint/2012/main" timeZoneBias="-60">
          <p15:parentCm authorId="2" idx="41"/>
        </p15:threadingInfo>
      </p:ext>
    </p:extLst>
  </p:cm>
  <p:cm authorId="2" dt="2023-08-21T12:27:18.854" idx="65">
    <p:pos x="1122" y="644"/>
    <p:text>Need to confirm with authors these MVT optimal reward rates</p:text>
    <p:extLst>
      <p:ext uri="{C676402C-5697-4E1C-873F-D02D1690AC5C}">
        <p15:threadingInfo xmlns:p15="http://schemas.microsoft.com/office/powerpoint/2012/main" timeZoneBias="-60"/>
      </p:ext>
    </p:extLst>
  </p:cm>
  <p:cm authorId="3" dt="2023-08-30T13:24:35.411" idx="20">
    <p:pos x="3781" y="357"/>
    <p:text>Panel c: Some comment here re: compressed range of SD functions</p:text>
    <p:extLst>
      <p:ext uri="{C676402C-5697-4E1C-873F-D02D1690AC5C}">
        <p15:threadingInfo xmlns:p15="http://schemas.microsoft.com/office/powerpoint/2012/main" timeZoneBias="-6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2" dt="2023-08-11T15:15:19.786" idx="52">
    <p:pos x="10" y="10"/>
    <p:text>Tested 2 parameter 'hyperbolic' models but BIC was much larger and made ugly plots - ignore these? </p:text>
    <p:extLst>
      <p:ext uri="{C676402C-5697-4E1C-873F-D02D1690AC5C}">
        <p15:threadingInfo xmlns:p15="http://schemas.microsoft.com/office/powerpoint/2012/main" timeZoneBias="-6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2" dt="2023-08-15T13:50:34.438" idx="55">
    <p:pos x="10" y="10"/>
    <p:text>Tested equivalent of M1 with all the models. Expected scalar RW model to win (as M5 won before, with RW update of rho at each timestep). I should probably also test equivalent of M5 with avgRR function too?  </p:text>
    <p:extLst>
      <p:ext uri="{C676402C-5697-4E1C-873F-D02D1690AC5C}">
        <p15:threadingInfo xmlns:p15="http://schemas.microsoft.com/office/powerpoint/2012/main" timeZoneBias="-60"/>
      </p:ext>
    </p:extLst>
  </p:cm>
  <p:cm authorId="3" dt="2023-08-30T12:23:28.410" idx="17">
    <p:pos x="3173" y="4372"/>
    <p:text>so the "flipped" SD effect is not there for best-fitting "lambda"? Isn't that odd!</p:text>
    <p:extLst>
      <p:ext uri="{C676402C-5697-4E1C-873F-D02D1690AC5C}">
        <p15:threadingInfo xmlns:p15="http://schemas.microsoft.com/office/powerpoint/2012/main" timeZoneBias="-60"/>
      </p:ext>
    </p:extLst>
  </p:cm>
  <p:cm authorId="2" dt="2023-08-31T09:52:29.070" idx="67">
    <p:pos x="3173" y="4508"/>
    <p:text>To plot model predictions for lambda model to sense check this. </p:text>
    <p:extLst>
      <p:ext uri="{C676402C-5697-4E1C-873F-D02D1690AC5C}">
        <p15:threadingInfo xmlns:p15="http://schemas.microsoft.com/office/powerpoint/2012/main" timeZoneBias="-60">
          <p15:parentCm authorId="3" idx="17"/>
        </p15:threadingInfo>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A39B59-0D06-1146-9E1B-F17099F2073F}" type="datetimeFigureOut">
              <a:rPr lang="en-US" smtClean="0"/>
              <a:t>8/30/23</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6774CA-907B-0140-B4E5-1419F6050810}" type="slidenum">
              <a:rPr lang="en-US" smtClean="0"/>
              <a:t>‹#›</a:t>
            </a:fld>
            <a:endParaRPr lang="en-US"/>
          </a:p>
        </p:txBody>
      </p:sp>
    </p:spTree>
    <p:extLst>
      <p:ext uri="{BB962C8B-B14F-4D97-AF65-F5344CB8AC3E}">
        <p14:creationId xmlns:p14="http://schemas.microsoft.com/office/powerpoint/2010/main" val="3980451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2</a:t>
            </a:fld>
            <a:endParaRPr lang="en-US"/>
          </a:p>
        </p:txBody>
      </p:sp>
    </p:spTree>
    <p:extLst>
      <p:ext uri="{BB962C8B-B14F-4D97-AF65-F5344CB8AC3E}">
        <p14:creationId xmlns:p14="http://schemas.microsoft.com/office/powerpoint/2010/main" val="2178217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3</a:t>
            </a:fld>
            <a:endParaRPr lang="en-US"/>
          </a:p>
        </p:txBody>
      </p:sp>
    </p:spTree>
    <p:extLst>
      <p:ext uri="{BB962C8B-B14F-4D97-AF65-F5344CB8AC3E}">
        <p14:creationId xmlns:p14="http://schemas.microsoft.com/office/powerpoint/2010/main" val="19009007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5</a:t>
            </a:fld>
            <a:endParaRPr lang="en-US"/>
          </a:p>
        </p:txBody>
      </p:sp>
    </p:spTree>
    <p:extLst>
      <p:ext uri="{BB962C8B-B14F-4D97-AF65-F5344CB8AC3E}">
        <p14:creationId xmlns:p14="http://schemas.microsoft.com/office/powerpoint/2010/main" val="24944468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6</a:t>
            </a:fld>
            <a:endParaRPr lang="en-US"/>
          </a:p>
        </p:txBody>
      </p:sp>
    </p:spTree>
    <p:extLst>
      <p:ext uri="{BB962C8B-B14F-4D97-AF65-F5344CB8AC3E}">
        <p14:creationId xmlns:p14="http://schemas.microsoft.com/office/powerpoint/2010/main" val="4216422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7</a:t>
            </a:fld>
            <a:endParaRPr lang="en-US"/>
          </a:p>
        </p:txBody>
      </p:sp>
    </p:spTree>
    <p:extLst>
      <p:ext uri="{BB962C8B-B14F-4D97-AF65-F5344CB8AC3E}">
        <p14:creationId xmlns:p14="http://schemas.microsoft.com/office/powerpoint/2010/main" val="17197980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9</a:t>
            </a:fld>
            <a:endParaRPr lang="en-US"/>
          </a:p>
        </p:txBody>
      </p:sp>
    </p:spTree>
    <p:extLst>
      <p:ext uri="{BB962C8B-B14F-4D97-AF65-F5344CB8AC3E}">
        <p14:creationId xmlns:p14="http://schemas.microsoft.com/office/powerpoint/2010/main" val="41212809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11</a:t>
            </a:fld>
            <a:endParaRPr lang="en-US"/>
          </a:p>
        </p:txBody>
      </p:sp>
    </p:spTree>
    <p:extLst>
      <p:ext uri="{BB962C8B-B14F-4D97-AF65-F5344CB8AC3E}">
        <p14:creationId xmlns:p14="http://schemas.microsoft.com/office/powerpoint/2010/main" val="22132848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6774CA-907B-0140-B4E5-1419F6050810}" type="slidenum">
              <a:rPr lang="en-US" smtClean="0"/>
              <a:t>12</a:t>
            </a:fld>
            <a:endParaRPr lang="en-US"/>
          </a:p>
        </p:txBody>
      </p:sp>
    </p:spTree>
    <p:extLst>
      <p:ext uri="{BB962C8B-B14F-4D97-AF65-F5344CB8AC3E}">
        <p14:creationId xmlns:p14="http://schemas.microsoft.com/office/powerpoint/2010/main" val="3640100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GB"/>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C50955E0-3E6F-4141-9EF3-F24898B05313}" type="datetimeFigureOut">
              <a:rPr lang="en-US" smtClean="0"/>
              <a:t>8/30/23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3844094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50955E0-3E6F-4141-9EF3-F24898B05313}" type="datetimeFigureOut">
              <a:rPr lang="en-US" smtClean="0"/>
              <a:t>8/30/23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3143138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GB"/>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50955E0-3E6F-4141-9EF3-F24898B05313}" type="datetimeFigureOut">
              <a:rPr lang="en-US" smtClean="0"/>
              <a:t>8/30/23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3163487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50955E0-3E6F-4141-9EF3-F24898B05313}" type="datetimeFigureOut">
              <a:rPr lang="en-US" smtClean="0"/>
              <a:t>8/30/23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9690178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GB"/>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50955E0-3E6F-4141-9EF3-F24898B05313}" type="datetimeFigureOut">
              <a:rPr lang="en-US" smtClean="0"/>
              <a:t>8/30/23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2800798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C50955E0-3E6F-4141-9EF3-F24898B05313}" type="datetimeFigureOut">
              <a:rPr lang="en-US" smtClean="0"/>
              <a:t>8/30/23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15545126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0955E0-3E6F-4141-9EF3-F24898B05313}" type="datetimeFigureOut">
              <a:rPr lang="en-US" smtClean="0"/>
              <a:t>8/30/23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25302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GB"/>
              <a:t>Click to edit Master title style</a:t>
            </a:r>
            <a:endParaRPr lang="en-US" dirty="0"/>
          </a:p>
        </p:txBody>
      </p:sp>
      <p:sp>
        <p:nvSpPr>
          <p:cNvPr id="3" name="Content Placeholder 2"/>
          <p:cNvSpPr>
            <a:spLocks noGrp="1"/>
          </p:cNvSpPr>
          <p:nvPr>
            <p:ph idx="1"/>
          </p:nvPr>
        </p:nvSpPr>
        <p:spPr>
          <a:xfrm>
            <a:off x="2915543" y="1426282"/>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C50955E0-3E6F-4141-9EF3-F24898B05313}" type="datetimeFigureOut">
              <a:rPr lang="en-US" smtClean="0"/>
              <a:t>8/30/23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7446229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GB"/>
              <a:t>Click to edit Master title style</a:t>
            </a:r>
            <a:endParaRPr lang="en-US" dirty="0"/>
          </a:p>
        </p:txBody>
      </p:sp>
      <p:sp>
        <p:nvSpPr>
          <p:cNvPr id="3" name="Picture Placeholder 2"/>
          <p:cNvSpPr>
            <a:spLocks noGrp="1" noChangeAspect="1"/>
          </p:cNvSpPr>
          <p:nvPr>
            <p:ph type="pic" idx="1"/>
          </p:nvPr>
        </p:nvSpPr>
        <p:spPr>
          <a:xfrm>
            <a:off x="2915543" y="1426282"/>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GB"/>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GB"/>
              <a:t>Click to edit Master text styles</a:t>
            </a:r>
          </a:p>
        </p:txBody>
      </p:sp>
      <p:sp>
        <p:nvSpPr>
          <p:cNvPr id="5" name="Date Placeholder 4"/>
          <p:cNvSpPr>
            <a:spLocks noGrp="1"/>
          </p:cNvSpPr>
          <p:nvPr>
            <p:ph type="dt" sz="half" idx="10"/>
          </p:nvPr>
        </p:nvSpPr>
        <p:spPr/>
        <p:txBody>
          <a:bodyPr/>
          <a:lstStyle/>
          <a:p>
            <a:fld id="{C50955E0-3E6F-4141-9EF3-F24898B05313}" type="datetimeFigureOut">
              <a:rPr lang="en-US" smtClean="0"/>
              <a:t>8/30/23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17233102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50955E0-3E6F-4141-9EF3-F24898B05313}" type="datetimeFigureOut">
              <a:rPr lang="en-US" smtClean="0"/>
              <a:t>8/30/23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2186660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50955E0-3E6F-4141-9EF3-F24898B05313}" type="datetimeFigureOut">
              <a:rPr lang="en-US" smtClean="0"/>
              <a:t>8/30/23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46AF69-DE5C-2B49-B80A-58A2E50A5FDF}" type="slidenum">
              <a:rPr lang="en-US" smtClean="0"/>
              <a:t>‹#›</a:t>
            </a:fld>
            <a:endParaRPr lang="en-US"/>
          </a:p>
        </p:txBody>
      </p:sp>
    </p:spTree>
    <p:extLst>
      <p:ext uri="{BB962C8B-B14F-4D97-AF65-F5344CB8AC3E}">
        <p14:creationId xmlns:p14="http://schemas.microsoft.com/office/powerpoint/2010/main" val="31511518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471487" y="9181397"/>
            <a:ext cx="1543050" cy="527403"/>
          </a:xfrm>
          <a:prstGeom prst="rect">
            <a:avLst/>
          </a:prstGeom>
        </p:spPr>
        <p:txBody>
          <a:bodyPr vert="horz" lIns="91440" tIns="45720" rIns="91440" bIns="45720" rtlCol="0" anchor="ctr"/>
          <a:lstStyle>
            <a:lvl1pPr algn="l">
              <a:defRPr sz="900">
                <a:solidFill>
                  <a:schemeClr val="tx1">
                    <a:tint val="75000"/>
                  </a:schemeClr>
                </a:solidFill>
              </a:defRPr>
            </a:lvl1pPr>
          </a:lstStyle>
          <a:p>
            <a:fld id="{C50955E0-3E6F-4141-9EF3-F24898B05313}" type="datetimeFigureOut">
              <a:rPr lang="en-US" smtClean="0"/>
              <a:t>8/30/23</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75000"/>
                  </a:schemeClr>
                </a:solidFill>
              </a:defRPr>
            </a:lvl1pPr>
          </a:lstStyle>
          <a:p>
            <a:fld id="{1246AF69-DE5C-2B49-B80A-58A2E50A5FDF}" type="slidenum">
              <a:rPr lang="en-US" smtClean="0"/>
              <a:t>‹#›</a:t>
            </a:fld>
            <a:endParaRPr lang="en-US"/>
          </a:p>
        </p:txBody>
      </p:sp>
    </p:spTree>
    <p:extLst>
      <p:ext uri="{BB962C8B-B14F-4D97-AF65-F5344CB8AC3E}">
        <p14:creationId xmlns:p14="http://schemas.microsoft.com/office/powerpoint/2010/main" val="56446156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svg"/><Relationship Id="rId18" Type="http://schemas.openxmlformats.org/officeDocument/2006/relationships/image" Target="../media/image16.png"/><Relationship Id="rId3" Type="http://schemas.openxmlformats.org/officeDocument/2006/relationships/image" Target="../media/image1.png"/><Relationship Id="rId7" Type="http://schemas.openxmlformats.org/officeDocument/2006/relationships/image" Target="../media/image5.svg"/><Relationship Id="rId12" Type="http://schemas.openxmlformats.org/officeDocument/2006/relationships/image" Target="../media/image10.png"/><Relationship Id="rId17" Type="http://schemas.openxmlformats.org/officeDocument/2006/relationships/image" Target="../media/image15.sv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comments" Target="../comments/comment1.xml"/><Relationship Id="rId1" Type="http://schemas.openxmlformats.org/officeDocument/2006/relationships/slideLayout" Target="../slideLayouts/slideLayout2.xml"/><Relationship Id="rId6" Type="http://schemas.openxmlformats.org/officeDocument/2006/relationships/image" Target="../media/image4.png"/><Relationship Id="rId11" Type="http://schemas.openxmlformats.org/officeDocument/2006/relationships/image" Target="../media/image9.svg"/><Relationship Id="rId5" Type="http://schemas.openxmlformats.org/officeDocument/2006/relationships/image" Target="../media/image3.png"/><Relationship Id="rId15" Type="http://schemas.openxmlformats.org/officeDocument/2006/relationships/image" Target="../media/image13.svg"/><Relationship Id="rId10" Type="http://schemas.openxmlformats.org/officeDocument/2006/relationships/image" Target="../media/image8.png"/><Relationship Id="rId19" Type="http://schemas.openxmlformats.org/officeDocument/2006/relationships/image" Target="../media/image17.svg"/><Relationship Id="rId4" Type="http://schemas.openxmlformats.org/officeDocument/2006/relationships/image" Target="../media/image2.svg"/><Relationship Id="rId9" Type="http://schemas.openxmlformats.org/officeDocument/2006/relationships/image" Target="../media/image7.svg"/><Relationship Id="rId14" Type="http://schemas.openxmlformats.org/officeDocument/2006/relationships/image" Target="../media/image12.png"/></Relationships>
</file>

<file path=ppt/slides/_rels/slide3.xml.rels><?xml version="1.0" encoding="UTF-8" standalone="yes"?>
<Relationships xmlns="http://schemas.openxmlformats.org/package/2006/relationships"><Relationship Id="rId8" Type="http://schemas.openxmlformats.org/officeDocument/2006/relationships/image" Target="../media/image23.sv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sv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1.sv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comments" Target="../comments/comment2.xml"/><Relationship Id="rId10" Type="http://schemas.openxmlformats.org/officeDocument/2006/relationships/image" Target="../media/image25.svg"/><Relationship Id="rId4" Type="http://schemas.openxmlformats.org/officeDocument/2006/relationships/image" Target="../media/image19.svg"/><Relationship Id="rId9" Type="http://schemas.openxmlformats.org/officeDocument/2006/relationships/image" Target="../media/image24.png"/><Relationship Id="rId14" Type="http://schemas.openxmlformats.org/officeDocument/2006/relationships/image" Target="../media/image29.svg"/></Relationships>
</file>

<file path=ppt/slides/_rels/slide4.xml.rels><?xml version="1.0" encoding="UTF-8" standalone="yes"?>
<Relationships xmlns="http://schemas.openxmlformats.org/package/2006/relationships"><Relationship Id="rId2" Type="http://schemas.openxmlformats.org/officeDocument/2006/relationships/comments" Target="../comments/comment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5.svg"/><Relationship Id="rId13" Type="http://schemas.openxmlformats.org/officeDocument/2006/relationships/image" Target="../media/image38.png"/><Relationship Id="rId18" Type="http://schemas.openxmlformats.org/officeDocument/2006/relationships/image" Target="../media/image43.svg"/><Relationship Id="rId3" Type="http://schemas.openxmlformats.org/officeDocument/2006/relationships/image" Target="../media/image30.png"/><Relationship Id="rId21" Type="http://schemas.openxmlformats.org/officeDocument/2006/relationships/image" Target="../media/image46.png"/><Relationship Id="rId7" Type="http://schemas.openxmlformats.org/officeDocument/2006/relationships/image" Target="../media/image14.png"/><Relationship Id="rId12" Type="http://schemas.openxmlformats.org/officeDocument/2006/relationships/image" Target="../media/image37.svg"/><Relationship Id="rId17" Type="http://schemas.openxmlformats.org/officeDocument/2006/relationships/image" Target="../media/image42.png"/><Relationship Id="rId2" Type="http://schemas.openxmlformats.org/officeDocument/2006/relationships/notesSlide" Target="../notesSlides/notesSlide3.xml"/><Relationship Id="rId16" Type="http://schemas.openxmlformats.org/officeDocument/2006/relationships/image" Target="../media/image41.svg"/><Relationship Id="rId20" Type="http://schemas.openxmlformats.org/officeDocument/2006/relationships/image" Target="../media/image45.svg"/><Relationship Id="rId1" Type="http://schemas.openxmlformats.org/officeDocument/2006/relationships/slideLayout" Target="../slideLayouts/slideLayout2.xml"/><Relationship Id="rId6" Type="http://schemas.openxmlformats.org/officeDocument/2006/relationships/image" Target="../media/image33.svg"/><Relationship Id="rId11" Type="http://schemas.openxmlformats.org/officeDocument/2006/relationships/image" Target="../media/image36.png"/><Relationship Id="rId5" Type="http://schemas.openxmlformats.org/officeDocument/2006/relationships/image" Target="../media/image32.png"/><Relationship Id="rId15" Type="http://schemas.openxmlformats.org/officeDocument/2006/relationships/image" Target="../media/image40.png"/><Relationship Id="rId23" Type="http://schemas.openxmlformats.org/officeDocument/2006/relationships/comments" Target="../comments/comment4.xml"/><Relationship Id="rId10" Type="http://schemas.openxmlformats.org/officeDocument/2006/relationships/image" Target="../media/image35.svg"/><Relationship Id="rId19" Type="http://schemas.openxmlformats.org/officeDocument/2006/relationships/image" Target="../media/image44.png"/><Relationship Id="rId4" Type="http://schemas.openxmlformats.org/officeDocument/2006/relationships/image" Target="../media/image31.svg"/><Relationship Id="rId9" Type="http://schemas.openxmlformats.org/officeDocument/2006/relationships/image" Target="../media/image34.png"/><Relationship Id="rId14" Type="http://schemas.openxmlformats.org/officeDocument/2006/relationships/image" Target="../media/image39.svg"/><Relationship Id="rId22" Type="http://schemas.openxmlformats.org/officeDocument/2006/relationships/image" Target="../media/image47.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53.svg"/><Relationship Id="rId13" Type="http://schemas.openxmlformats.org/officeDocument/2006/relationships/image" Target="../media/image58.png"/><Relationship Id="rId18" Type="http://schemas.openxmlformats.org/officeDocument/2006/relationships/image" Target="../media/image63.svg"/><Relationship Id="rId3" Type="http://schemas.openxmlformats.org/officeDocument/2006/relationships/image" Target="../media/image48.png"/><Relationship Id="rId21" Type="http://schemas.openxmlformats.org/officeDocument/2006/relationships/image" Target="../media/image66.png"/><Relationship Id="rId7" Type="http://schemas.openxmlformats.org/officeDocument/2006/relationships/image" Target="../media/image52.png"/><Relationship Id="rId12" Type="http://schemas.openxmlformats.org/officeDocument/2006/relationships/image" Target="../media/image57.svg"/><Relationship Id="rId17" Type="http://schemas.openxmlformats.org/officeDocument/2006/relationships/image" Target="../media/image62.png"/><Relationship Id="rId2" Type="http://schemas.openxmlformats.org/officeDocument/2006/relationships/notesSlide" Target="../notesSlides/notesSlide5.xml"/><Relationship Id="rId16" Type="http://schemas.openxmlformats.org/officeDocument/2006/relationships/image" Target="../media/image61.svg"/><Relationship Id="rId20" Type="http://schemas.openxmlformats.org/officeDocument/2006/relationships/image" Target="../media/image65.svg"/><Relationship Id="rId1" Type="http://schemas.openxmlformats.org/officeDocument/2006/relationships/slideLayout" Target="../slideLayouts/slideLayout2.xml"/><Relationship Id="rId6" Type="http://schemas.openxmlformats.org/officeDocument/2006/relationships/image" Target="../media/image51.svg"/><Relationship Id="rId11" Type="http://schemas.openxmlformats.org/officeDocument/2006/relationships/image" Target="../media/image56.png"/><Relationship Id="rId5" Type="http://schemas.openxmlformats.org/officeDocument/2006/relationships/image" Target="../media/image50.png"/><Relationship Id="rId15" Type="http://schemas.openxmlformats.org/officeDocument/2006/relationships/image" Target="../media/image60.png"/><Relationship Id="rId23" Type="http://schemas.openxmlformats.org/officeDocument/2006/relationships/comments" Target="../comments/comment5.xml"/><Relationship Id="rId10" Type="http://schemas.openxmlformats.org/officeDocument/2006/relationships/image" Target="../media/image55.svg"/><Relationship Id="rId19" Type="http://schemas.openxmlformats.org/officeDocument/2006/relationships/image" Target="../media/image64.png"/><Relationship Id="rId4" Type="http://schemas.openxmlformats.org/officeDocument/2006/relationships/image" Target="../media/image49.svg"/><Relationship Id="rId9" Type="http://schemas.openxmlformats.org/officeDocument/2006/relationships/image" Target="../media/image54.png"/><Relationship Id="rId14" Type="http://schemas.openxmlformats.org/officeDocument/2006/relationships/image" Target="../media/image59.svg"/><Relationship Id="rId22" Type="http://schemas.openxmlformats.org/officeDocument/2006/relationships/image" Target="../media/image67.svg"/></Relationships>
</file>

<file path=ppt/slides/_rels/slide8.xml.rels><?xml version="1.0" encoding="UTF-8" standalone="yes"?>
<Relationships xmlns="http://schemas.openxmlformats.org/package/2006/relationships"><Relationship Id="rId3" Type="http://schemas.openxmlformats.org/officeDocument/2006/relationships/image" Target="../media/image69.svg"/><Relationship Id="rId2" Type="http://schemas.openxmlformats.org/officeDocument/2006/relationships/image" Target="../media/image68.png"/><Relationship Id="rId1" Type="http://schemas.openxmlformats.org/officeDocument/2006/relationships/slideLayout" Target="../slideLayouts/slideLayout2.xml"/><Relationship Id="rId5" Type="http://schemas.openxmlformats.org/officeDocument/2006/relationships/image" Target="../media/image71.svg"/><Relationship Id="rId4" Type="http://schemas.openxmlformats.org/officeDocument/2006/relationships/image" Target="../media/image70.png"/></Relationships>
</file>

<file path=ppt/slides/_rels/slide9.xml.rels><?xml version="1.0" encoding="UTF-8" standalone="yes"?>
<Relationships xmlns="http://schemas.openxmlformats.org/package/2006/relationships"><Relationship Id="rId8" Type="http://schemas.openxmlformats.org/officeDocument/2006/relationships/image" Target="../media/image77.svg"/><Relationship Id="rId13" Type="http://schemas.openxmlformats.org/officeDocument/2006/relationships/image" Target="../media/image82.png"/><Relationship Id="rId18" Type="http://schemas.openxmlformats.org/officeDocument/2006/relationships/image" Target="../media/image87.svg"/><Relationship Id="rId3" Type="http://schemas.openxmlformats.org/officeDocument/2006/relationships/image" Target="../media/image72.png"/><Relationship Id="rId21" Type="http://schemas.openxmlformats.org/officeDocument/2006/relationships/image" Target="../media/image90.png"/><Relationship Id="rId7" Type="http://schemas.openxmlformats.org/officeDocument/2006/relationships/image" Target="../media/image76.png"/><Relationship Id="rId12" Type="http://schemas.openxmlformats.org/officeDocument/2006/relationships/image" Target="../media/image81.svg"/><Relationship Id="rId17" Type="http://schemas.openxmlformats.org/officeDocument/2006/relationships/image" Target="../media/image86.png"/><Relationship Id="rId2" Type="http://schemas.openxmlformats.org/officeDocument/2006/relationships/notesSlide" Target="../notesSlides/notesSlide6.xml"/><Relationship Id="rId16" Type="http://schemas.openxmlformats.org/officeDocument/2006/relationships/image" Target="../media/image85.svg"/><Relationship Id="rId20" Type="http://schemas.openxmlformats.org/officeDocument/2006/relationships/image" Target="../media/image89.svg"/><Relationship Id="rId1" Type="http://schemas.openxmlformats.org/officeDocument/2006/relationships/slideLayout" Target="../slideLayouts/slideLayout2.xml"/><Relationship Id="rId6" Type="http://schemas.openxmlformats.org/officeDocument/2006/relationships/image" Target="../media/image75.svg"/><Relationship Id="rId11" Type="http://schemas.openxmlformats.org/officeDocument/2006/relationships/image" Target="../media/image80.png"/><Relationship Id="rId5" Type="http://schemas.openxmlformats.org/officeDocument/2006/relationships/image" Target="../media/image74.png"/><Relationship Id="rId15" Type="http://schemas.openxmlformats.org/officeDocument/2006/relationships/image" Target="../media/image84.png"/><Relationship Id="rId23" Type="http://schemas.openxmlformats.org/officeDocument/2006/relationships/comments" Target="../comments/comment6.xml"/><Relationship Id="rId10" Type="http://schemas.openxmlformats.org/officeDocument/2006/relationships/image" Target="../media/image79.svg"/><Relationship Id="rId19" Type="http://schemas.openxmlformats.org/officeDocument/2006/relationships/image" Target="../media/image88.png"/><Relationship Id="rId4" Type="http://schemas.openxmlformats.org/officeDocument/2006/relationships/image" Target="../media/image73.svg"/><Relationship Id="rId9" Type="http://schemas.openxmlformats.org/officeDocument/2006/relationships/image" Target="../media/image78.png"/><Relationship Id="rId14" Type="http://schemas.openxmlformats.org/officeDocument/2006/relationships/image" Target="../media/image83.svg"/><Relationship Id="rId22" Type="http://schemas.openxmlformats.org/officeDocument/2006/relationships/image" Target="../media/image91.svg"/></Relationships>
</file>

<file path=ppt/slides/_rels/slide10.xml.rels><?xml version="1.0" encoding="UTF-8" standalone="yes"?>
<Relationships xmlns="http://schemas.openxmlformats.org/package/2006/relationships"><Relationship Id="rId3" Type="http://schemas.openxmlformats.org/officeDocument/2006/relationships/image" Target="../media/image93.svg"/><Relationship Id="rId2" Type="http://schemas.openxmlformats.org/officeDocument/2006/relationships/image" Target="../media/image92.png"/><Relationship Id="rId1" Type="http://schemas.openxmlformats.org/officeDocument/2006/relationships/slideLayout" Target="../slideLayouts/slideLayout2.xml"/><Relationship Id="rId5" Type="http://schemas.openxmlformats.org/officeDocument/2006/relationships/image" Target="../media/image95.svg"/><Relationship Id="rId4" Type="http://schemas.openxmlformats.org/officeDocument/2006/relationships/image" Target="../media/image94.png"/></Relationships>
</file>

<file path=ppt/slides/_rels/slide11.xml.rels><?xml version="1.0" encoding="UTF-8" standalone="yes"?>
<Relationships xmlns="http://schemas.openxmlformats.org/package/2006/relationships"><Relationship Id="rId8" Type="http://schemas.openxmlformats.org/officeDocument/2006/relationships/image" Target="../media/image99.svg"/><Relationship Id="rId13" Type="http://schemas.openxmlformats.org/officeDocument/2006/relationships/image" Target="../media/image102.png"/><Relationship Id="rId3" Type="http://schemas.openxmlformats.org/officeDocument/2006/relationships/image" Target="../media/image34.png"/><Relationship Id="rId7" Type="http://schemas.openxmlformats.org/officeDocument/2006/relationships/image" Target="../media/image98.png"/><Relationship Id="rId12" Type="http://schemas.openxmlformats.org/officeDocument/2006/relationships/image" Target="../media/image31.sv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97.svg"/><Relationship Id="rId11" Type="http://schemas.openxmlformats.org/officeDocument/2006/relationships/image" Target="../media/image30.png"/><Relationship Id="rId5" Type="http://schemas.openxmlformats.org/officeDocument/2006/relationships/image" Target="../media/image96.png"/><Relationship Id="rId15" Type="http://schemas.openxmlformats.org/officeDocument/2006/relationships/comments" Target="../comments/comment7.xml"/><Relationship Id="rId10" Type="http://schemas.openxmlformats.org/officeDocument/2006/relationships/image" Target="../media/image101.svg"/><Relationship Id="rId4" Type="http://schemas.openxmlformats.org/officeDocument/2006/relationships/image" Target="../media/image35.svg"/><Relationship Id="rId9" Type="http://schemas.openxmlformats.org/officeDocument/2006/relationships/image" Target="../media/image100.png"/><Relationship Id="rId14" Type="http://schemas.openxmlformats.org/officeDocument/2006/relationships/image" Target="../media/image103.svg"/></Relationships>
</file>

<file path=ppt/slides/_rels/slide12.xml.rels><?xml version="1.0" encoding="UTF-8" standalone="yes"?>
<Relationships xmlns="http://schemas.openxmlformats.org/package/2006/relationships"><Relationship Id="rId8" Type="http://schemas.openxmlformats.org/officeDocument/2006/relationships/image" Target="../media/image109.svg"/><Relationship Id="rId13" Type="http://schemas.openxmlformats.org/officeDocument/2006/relationships/image" Target="../media/image114.png"/><Relationship Id="rId3" Type="http://schemas.openxmlformats.org/officeDocument/2006/relationships/image" Target="../media/image104.png"/><Relationship Id="rId7" Type="http://schemas.openxmlformats.org/officeDocument/2006/relationships/image" Target="../media/image108.png"/><Relationship Id="rId12" Type="http://schemas.openxmlformats.org/officeDocument/2006/relationships/image" Target="../media/image113.sv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07.svg"/><Relationship Id="rId11" Type="http://schemas.openxmlformats.org/officeDocument/2006/relationships/image" Target="../media/image112.png"/><Relationship Id="rId5" Type="http://schemas.openxmlformats.org/officeDocument/2006/relationships/image" Target="../media/image106.png"/><Relationship Id="rId15" Type="http://schemas.openxmlformats.org/officeDocument/2006/relationships/comments" Target="../comments/comment8.xml"/><Relationship Id="rId10" Type="http://schemas.openxmlformats.org/officeDocument/2006/relationships/image" Target="../media/image111.svg"/><Relationship Id="rId4" Type="http://schemas.openxmlformats.org/officeDocument/2006/relationships/image" Target="../media/image105.svg"/><Relationship Id="rId9" Type="http://schemas.openxmlformats.org/officeDocument/2006/relationships/image" Target="../media/image110.png"/><Relationship Id="rId14" Type="http://schemas.openxmlformats.org/officeDocument/2006/relationships/image" Target="../media/image11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EDF7C-1481-45A9-F513-3CFA2850A471}"/>
              </a:ext>
            </a:extLst>
          </p:cNvPr>
          <p:cNvSpPr>
            <a:spLocks noGrp="1"/>
          </p:cNvSpPr>
          <p:nvPr>
            <p:ph type="ctrTitle"/>
          </p:nvPr>
        </p:nvSpPr>
        <p:spPr/>
        <p:txBody>
          <a:bodyPr/>
          <a:lstStyle/>
          <a:p>
            <a:r>
              <a:rPr lang="en-US" dirty="0"/>
              <a:t>Figures for stochastic MVT paper</a:t>
            </a:r>
          </a:p>
        </p:txBody>
      </p:sp>
      <p:sp>
        <p:nvSpPr>
          <p:cNvPr id="3" name="Subtitle 2">
            <a:extLst>
              <a:ext uri="{FF2B5EF4-FFF2-40B4-BE49-F238E27FC236}">
                <a16:creationId xmlns:a16="http://schemas.microsoft.com/office/drawing/2014/main" id="{5F4C099F-8315-331B-FDA4-9C0BA82228D1}"/>
              </a:ext>
            </a:extLst>
          </p:cNvPr>
          <p:cNvSpPr>
            <a:spLocks noGrp="1"/>
          </p:cNvSpPr>
          <p:nvPr>
            <p:ph type="subTitle" idx="1"/>
          </p:nvPr>
        </p:nvSpPr>
        <p:spPr/>
        <p:txBody>
          <a:bodyPr/>
          <a:lstStyle/>
          <a:p>
            <a:r>
              <a:rPr lang="en-US" dirty="0"/>
              <a:t>21 August 2023</a:t>
            </a:r>
          </a:p>
        </p:txBody>
      </p:sp>
    </p:spTree>
    <p:extLst>
      <p:ext uri="{BB962C8B-B14F-4D97-AF65-F5344CB8AC3E}">
        <p14:creationId xmlns:p14="http://schemas.microsoft.com/office/powerpoint/2010/main" val="12150289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5" name="Graphic 134">
            <a:extLst>
              <a:ext uri="{FF2B5EF4-FFF2-40B4-BE49-F238E27FC236}">
                <a16:creationId xmlns:a16="http://schemas.microsoft.com/office/drawing/2014/main" id="{1842D055-8290-27EC-DE0F-8AA8B1F6AC6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05885" y="4103510"/>
            <a:ext cx="1879600" cy="1879600"/>
          </a:xfrm>
          <a:prstGeom prst="rect">
            <a:avLst/>
          </a:prstGeom>
        </p:spPr>
      </p:pic>
      <p:pic>
        <p:nvPicPr>
          <p:cNvPr id="50" name="Picture 49" descr="A diagram of a person with a stick figure and a leaf&#10;&#10;Description automatically generated">
            <a:extLst>
              <a:ext uri="{FF2B5EF4-FFF2-40B4-BE49-F238E27FC236}">
                <a16:creationId xmlns:a16="http://schemas.microsoft.com/office/drawing/2014/main" id="{48366F5C-B144-B69E-2EF7-584137E94E81}"/>
              </a:ext>
            </a:extLst>
          </p:cNvPr>
          <p:cNvPicPr>
            <a:picLocks noChangeAspect="1"/>
          </p:cNvPicPr>
          <p:nvPr/>
        </p:nvPicPr>
        <p:blipFill>
          <a:blip r:embed="rId5"/>
          <a:stretch>
            <a:fillRect/>
          </a:stretch>
        </p:blipFill>
        <p:spPr>
          <a:xfrm>
            <a:off x="177349" y="234950"/>
            <a:ext cx="2095951" cy="1612900"/>
          </a:xfrm>
          <a:prstGeom prst="rect">
            <a:avLst/>
          </a:prstGeom>
        </p:spPr>
      </p:pic>
      <p:pic>
        <p:nvPicPr>
          <p:cNvPr id="127" name="Graphic 126">
            <a:extLst>
              <a:ext uri="{FF2B5EF4-FFF2-40B4-BE49-F238E27FC236}">
                <a16:creationId xmlns:a16="http://schemas.microsoft.com/office/drawing/2014/main" id="{CA3A9B38-36C9-A64F-0F94-F6C54C955F3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31402" y="6059452"/>
            <a:ext cx="1879600" cy="1879600"/>
          </a:xfrm>
          <a:prstGeom prst="rect">
            <a:avLst/>
          </a:prstGeom>
        </p:spPr>
      </p:pic>
      <p:pic>
        <p:nvPicPr>
          <p:cNvPr id="129" name="Graphic 128">
            <a:extLst>
              <a:ext uri="{FF2B5EF4-FFF2-40B4-BE49-F238E27FC236}">
                <a16:creationId xmlns:a16="http://schemas.microsoft.com/office/drawing/2014/main" id="{0A254E89-A245-F3E1-6CCE-E9D4DC9727CE}"/>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3209" y="3975983"/>
            <a:ext cx="1879600" cy="1879600"/>
          </a:xfrm>
          <a:prstGeom prst="rect">
            <a:avLst/>
          </a:prstGeom>
        </p:spPr>
      </p:pic>
      <p:pic>
        <p:nvPicPr>
          <p:cNvPr id="131" name="Graphic 130">
            <a:extLst>
              <a:ext uri="{FF2B5EF4-FFF2-40B4-BE49-F238E27FC236}">
                <a16:creationId xmlns:a16="http://schemas.microsoft.com/office/drawing/2014/main" id="{3803D20C-2E26-4108-0F6E-C36C281FBF67}"/>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37449" y="2076367"/>
            <a:ext cx="1879600" cy="1879600"/>
          </a:xfrm>
          <a:prstGeom prst="rect">
            <a:avLst/>
          </a:prstGeom>
        </p:spPr>
      </p:pic>
      <p:pic>
        <p:nvPicPr>
          <p:cNvPr id="133" name="Graphic 132">
            <a:extLst>
              <a:ext uri="{FF2B5EF4-FFF2-40B4-BE49-F238E27FC236}">
                <a16:creationId xmlns:a16="http://schemas.microsoft.com/office/drawing/2014/main" id="{2B46E181-CAE3-45A2-0AC8-638748087F69}"/>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639134" y="6054965"/>
            <a:ext cx="1879600" cy="1879600"/>
          </a:xfrm>
          <a:prstGeom prst="rect">
            <a:avLst/>
          </a:prstGeom>
        </p:spPr>
      </p:pic>
      <p:pic>
        <p:nvPicPr>
          <p:cNvPr id="137" name="Graphic 136">
            <a:extLst>
              <a:ext uri="{FF2B5EF4-FFF2-40B4-BE49-F238E27FC236}">
                <a16:creationId xmlns:a16="http://schemas.microsoft.com/office/drawing/2014/main" id="{8CF99917-171B-BCFB-6EC5-CAB3C7E70607}"/>
              </a:ext>
            </a:extLst>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705885" y="2152055"/>
            <a:ext cx="1879600" cy="1879600"/>
          </a:xfrm>
          <a:prstGeom prst="rect">
            <a:avLst/>
          </a:prstGeom>
        </p:spPr>
      </p:pic>
      <p:pic>
        <p:nvPicPr>
          <p:cNvPr id="141" name="Graphic 140">
            <a:extLst>
              <a:ext uri="{FF2B5EF4-FFF2-40B4-BE49-F238E27FC236}">
                <a16:creationId xmlns:a16="http://schemas.microsoft.com/office/drawing/2014/main" id="{6B7BFAD0-7436-C07D-2B5F-8A9B914C6A36}"/>
              </a:ext>
            </a:extLst>
          </p:cNvPr>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2726118" y="86895"/>
            <a:ext cx="1879600" cy="1879600"/>
          </a:xfrm>
          <a:prstGeom prst="rect">
            <a:avLst/>
          </a:prstGeom>
        </p:spPr>
      </p:pic>
      <p:pic>
        <p:nvPicPr>
          <p:cNvPr id="143" name="Graphic 142">
            <a:extLst>
              <a:ext uri="{FF2B5EF4-FFF2-40B4-BE49-F238E27FC236}">
                <a16:creationId xmlns:a16="http://schemas.microsoft.com/office/drawing/2014/main" id="{A97F488A-3D98-C277-8549-4DED228CB2C1}"/>
              </a:ext>
            </a:extLst>
          </p:cNvPr>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4842636" y="3888422"/>
            <a:ext cx="1879600" cy="1879600"/>
          </a:xfrm>
          <a:prstGeom prst="rect">
            <a:avLst/>
          </a:prstGeom>
        </p:spPr>
      </p:pic>
      <p:sp>
        <p:nvSpPr>
          <p:cNvPr id="87" name="TextBox 86">
            <a:extLst>
              <a:ext uri="{FF2B5EF4-FFF2-40B4-BE49-F238E27FC236}">
                <a16:creationId xmlns:a16="http://schemas.microsoft.com/office/drawing/2014/main" id="{48AB627D-D99B-75D4-B278-722995E71B6C}"/>
              </a:ext>
            </a:extLst>
          </p:cNvPr>
          <p:cNvSpPr txBox="1"/>
          <p:nvPr/>
        </p:nvSpPr>
        <p:spPr>
          <a:xfrm>
            <a:off x="412750" y="8142922"/>
            <a:ext cx="6134100" cy="1785104"/>
          </a:xfrm>
          <a:prstGeom prst="rect">
            <a:avLst/>
          </a:prstGeom>
          <a:noFill/>
        </p:spPr>
        <p:txBody>
          <a:bodyPr wrap="square" rtlCol="0">
            <a:spAutoFit/>
          </a:bodyPr>
          <a:lstStyle/>
          <a:p>
            <a:r>
              <a:rPr lang="en-US" sz="1100" b="1" dirty="0"/>
              <a:t>a) </a:t>
            </a:r>
            <a:r>
              <a:rPr lang="en-US" sz="1100" dirty="0"/>
              <a:t>Schematic of patch foraging decision</a:t>
            </a:r>
          </a:p>
          <a:p>
            <a:r>
              <a:rPr lang="en-US" sz="1100" b="1" dirty="0"/>
              <a:t>b) </a:t>
            </a:r>
            <a:r>
              <a:rPr lang="en-US" sz="1100" dirty="0"/>
              <a:t>Introduce deterministic MVT rule: patch reward rate vs average RR in environment </a:t>
            </a:r>
          </a:p>
          <a:p>
            <a:r>
              <a:rPr lang="en-US" sz="1100" b="1" dirty="0"/>
              <a:t>c) </a:t>
            </a:r>
            <a:r>
              <a:rPr lang="en-US" sz="1100" dirty="0"/>
              <a:t>Introduce </a:t>
            </a:r>
            <a:r>
              <a:rPr lang="en-US" sz="1100" dirty="0" err="1"/>
              <a:t>softmax</a:t>
            </a:r>
            <a:r>
              <a:rPr lang="en-US" sz="1100" dirty="0"/>
              <a:t> model – what does it predict? Expected leaving times for </a:t>
            </a:r>
            <a:r>
              <a:rPr lang="en-US" sz="1100" dirty="0" err="1"/>
              <a:t>softmax</a:t>
            </a:r>
            <a:r>
              <a:rPr lang="en-US" sz="1100" dirty="0"/>
              <a:t> model for range of beta</a:t>
            </a:r>
          </a:p>
          <a:p>
            <a:r>
              <a:rPr lang="en-US" sz="1100" b="1" dirty="0"/>
              <a:t>d) </a:t>
            </a:r>
            <a:r>
              <a:rPr lang="en-US" sz="1100" dirty="0" err="1"/>
              <a:t>Softmax</a:t>
            </a:r>
            <a:r>
              <a:rPr lang="en-US" sz="1100" dirty="0"/>
              <a:t> model can reproduce MVT (patch and environment effect) </a:t>
            </a:r>
          </a:p>
          <a:p>
            <a:r>
              <a:rPr lang="en-US" sz="1100" b="1" dirty="0"/>
              <a:t>e) </a:t>
            </a:r>
            <a:r>
              <a:rPr lang="en-US" sz="1100" dirty="0"/>
              <a:t>and</a:t>
            </a:r>
            <a:r>
              <a:rPr lang="en-US" sz="1100" b="1" dirty="0"/>
              <a:t> f) </a:t>
            </a:r>
            <a:r>
              <a:rPr lang="en-US" sz="1100" dirty="0" err="1"/>
              <a:t>Softmax</a:t>
            </a:r>
            <a:r>
              <a:rPr lang="en-US" sz="1100" dirty="0"/>
              <a:t> model could also reproduce overharvesting (increase in leaving times due to increase in inverse temperature (= more exploit))</a:t>
            </a:r>
          </a:p>
          <a:p>
            <a:r>
              <a:rPr lang="en-US" sz="1100" b="1" dirty="0"/>
              <a:t>g) </a:t>
            </a:r>
            <a:r>
              <a:rPr lang="en-US" sz="1100" dirty="0"/>
              <a:t>Assuming betas that would reproduce overharvesting, the </a:t>
            </a:r>
            <a:r>
              <a:rPr lang="en-US" sz="1100" dirty="0" err="1"/>
              <a:t>softmax</a:t>
            </a:r>
            <a:r>
              <a:rPr lang="en-US" sz="1100" dirty="0"/>
              <a:t> model predicts a plateau in the expected SD of leaving times</a:t>
            </a:r>
          </a:p>
          <a:p>
            <a:r>
              <a:rPr lang="en-US" sz="1100" b="1" dirty="0"/>
              <a:t>h) </a:t>
            </a:r>
            <a:r>
              <a:rPr lang="en-US" sz="1100" dirty="0"/>
              <a:t>and</a:t>
            </a:r>
            <a:r>
              <a:rPr lang="en-US" sz="1100" b="1" dirty="0"/>
              <a:t> </a:t>
            </a:r>
            <a:r>
              <a:rPr lang="en-US" sz="1100" b="1" dirty="0" err="1"/>
              <a:t>i</a:t>
            </a:r>
            <a:r>
              <a:rPr lang="en-US" sz="1100" b="1" dirty="0"/>
              <a:t>) </a:t>
            </a:r>
            <a:r>
              <a:rPr lang="en-US" sz="1100" dirty="0"/>
              <a:t>A model that isn’t reward-aware (i.e. e-greedy) cannot replicate MVT/overharvesting </a:t>
            </a:r>
            <a:r>
              <a:rPr lang="en-US" sz="1100" dirty="0" err="1"/>
              <a:t>behaviour</a:t>
            </a:r>
            <a:endParaRPr lang="en-US" sz="1100" dirty="0"/>
          </a:p>
        </p:txBody>
      </p:sp>
      <p:sp>
        <p:nvSpPr>
          <p:cNvPr id="88" name="TextBox 87">
            <a:extLst>
              <a:ext uri="{FF2B5EF4-FFF2-40B4-BE49-F238E27FC236}">
                <a16:creationId xmlns:a16="http://schemas.microsoft.com/office/drawing/2014/main" id="{790669AD-18F8-09A4-DD66-6FFFCAFE6BE7}"/>
              </a:ext>
            </a:extLst>
          </p:cNvPr>
          <p:cNvSpPr txBox="1"/>
          <p:nvPr/>
        </p:nvSpPr>
        <p:spPr>
          <a:xfrm>
            <a:off x="4605718" y="512802"/>
            <a:ext cx="2002664" cy="646331"/>
          </a:xfrm>
          <a:prstGeom prst="rect">
            <a:avLst/>
          </a:prstGeom>
          <a:noFill/>
        </p:spPr>
        <p:txBody>
          <a:bodyPr wrap="none" rtlCol="0">
            <a:spAutoFit/>
          </a:bodyPr>
          <a:lstStyle/>
          <a:p>
            <a:r>
              <a:rPr lang="en-US" dirty="0"/>
              <a:t>Figure 1:</a:t>
            </a:r>
          </a:p>
          <a:p>
            <a:r>
              <a:rPr lang="en-US" dirty="0"/>
              <a:t>Model predictions  </a:t>
            </a:r>
          </a:p>
        </p:txBody>
      </p:sp>
      <p:sp>
        <p:nvSpPr>
          <p:cNvPr id="89" name="TextBox 88">
            <a:extLst>
              <a:ext uri="{FF2B5EF4-FFF2-40B4-BE49-F238E27FC236}">
                <a16:creationId xmlns:a16="http://schemas.microsoft.com/office/drawing/2014/main" id="{278A2FB0-6D26-57DE-296F-005756EACA1F}"/>
              </a:ext>
            </a:extLst>
          </p:cNvPr>
          <p:cNvSpPr txBox="1"/>
          <p:nvPr/>
        </p:nvSpPr>
        <p:spPr>
          <a:xfrm>
            <a:off x="534434" y="0"/>
            <a:ext cx="295274" cy="369332"/>
          </a:xfrm>
          <a:prstGeom prst="rect">
            <a:avLst/>
          </a:prstGeom>
          <a:noFill/>
        </p:spPr>
        <p:txBody>
          <a:bodyPr wrap="none" rtlCol="0">
            <a:spAutoFit/>
          </a:bodyPr>
          <a:lstStyle/>
          <a:p>
            <a:r>
              <a:rPr lang="en-US" dirty="0"/>
              <a:t>a</a:t>
            </a:r>
          </a:p>
        </p:txBody>
      </p:sp>
      <p:sp>
        <p:nvSpPr>
          <p:cNvPr id="90" name="TextBox 89">
            <a:extLst>
              <a:ext uri="{FF2B5EF4-FFF2-40B4-BE49-F238E27FC236}">
                <a16:creationId xmlns:a16="http://schemas.microsoft.com/office/drawing/2014/main" id="{7111B364-FB16-AC81-E91A-AF1028AC2158}"/>
              </a:ext>
            </a:extLst>
          </p:cNvPr>
          <p:cNvSpPr txBox="1"/>
          <p:nvPr/>
        </p:nvSpPr>
        <p:spPr>
          <a:xfrm>
            <a:off x="2408978" y="127000"/>
            <a:ext cx="306494" cy="369332"/>
          </a:xfrm>
          <a:prstGeom prst="rect">
            <a:avLst/>
          </a:prstGeom>
          <a:noFill/>
        </p:spPr>
        <p:txBody>
          <a:bodyPr wrap="none" rtlCol="0">
            <a:spAutoFit/>
          </a:bodyPr>
          <a:lstStyle/>
          <a:p>
            <a:r>
              <a:rPr lang="en-US" dirty="0"/>
              <a:t>b</a:t>
            </a:r>
          </a:p>
        </p:txBody>
      </p:sp>
      <p:sp>
        <p:nvSpPr>
          <p:cNvPr id="91" name="TextBox 90">
            <a:extLst>
              <a:ext uri="{FF2B5EF4-FFF2-40B4-BE49-F238E27FC236}">
                <a16:creationId xmlns:a16="http://schemas.microsoft.com/office/drawing/2014/main" id="{AE72EDE6-B868-3A25-E10D-70509BC15B5F}"/>
              </a:ext>
            </a:extLst>
          </p:cNvPr>
          <p:cNvSpPr txBox="1"/>
          <p:nvPr/>
        </p:nvSpPr>
        <p:spPr>
          <a:xfrm>
            <a:off x="393209" y="1700173"/>
            <a:ext cx="282450" cy="369332"/>
          </a:xfrm>
          <a:prstGeom prst="rect">
            <a:avLst/>
          </a:prstGeom>
          <a:noFill/>
        </p:spPr>
        <p:txBody>
          <a:bodyPr wrap="none" rtlCol="0">
            <a:spAutoFit/>
          </a:bodyPr>
          <a:lstStyle/>
          <a:p>
            <a:r>
              <a:rPr lang="en-US" dirty="0"/>
              <a:t>c</a:t>
            </a:r>
          </a:p>
        </p:txBody>
      </p:sp>
      <p:sp>
        <p:nvSpPr>
          <p:cNvPr id="92" name="TextBox 91">
            <a:extLst>
              <a:ext uri="{FF2B5EF4-FFF2-40B4-BE49-F238E27FC236}">
                <a16:creationId xmlns:a16="http://schemas.microsoft.com/office/drawing/2014/main" id="{97708272-52DD-F55A-AE29-417EF8D202CB}"/>
              </a:ext>
            </a:extLst>
          </p:cNvPr>
          <p:cNvSpPr txBox="1"/>
          <p:nvPr/>
        </p:nvSpPr>
        <p:spPr>
          <a:xfrm>
            <a:off x="2451947" y="1884839"/>
            <a:ext cx="306494" cy="369332"/>
          </a:xfrm>
          <a:prstGeom prst="rect">
            <a:avLst/>
          </a:prstGeom>
          <a:noFill/>
        </p:spPr>
        <p:txBody>
          <a:bodyPr wrap="none" rtlCol="0">
            <a:spAutoFit/>
          </a:bodyPr>
          <a:lstStyle/>
          <a:p>
            <a:r>
              <a:rPr lang="en-US" dirty="0"/>
              <a:t>d</a:t>
            </a:r>
          </a:p>
        </p:txBody>
      </p:sp>
      <p:sp>
        <p:nvSpPr>
          <p:cNvPr id="93" name="TextBox 92">
            <a:extLst>
              <a:ext uri="{FF2B5EF4-FFF2-40B4-BE49-F238E27FC236}">
                <a16:creationId xmlns:a16="http://schemas.microsoft.com/office/drawing/2014/main" id="{CEC9FA63-C7FB-24C1-2A8E-8CE70FEC83AD}"/>
              </a:ext>
            </a:extLst>
          </p:cNvPr>
          <p:cNvSpPr txBox="1"/>
          <p:nvPr/>
        </p:nvSpPr>
        <p:spPr>
          <a:xfrm>
            <a:off x="350391" y="3662323"/>
            <a:ext cx="300082" cy="369332"/>
          </a:xfrm>
          <a:prstGeom prst="rect">
            <a:avLst/>
          </a:prstGeom>
          <a:noFill/>
        </p:spPr>
        <p:txBody>
          <a:bodyPr wrap="none" rtlCol="0">
            <a:spAutoFit/>
          </a:bodyPr>
          <a:lstStyle/>
          <a:p>
            <a:r>
              <a:rPr lang="en-US" dirty="0"/>
              <a:t>e</a:t>
            </a:r>
          </a:p>
        </p:txBody>
      </p:sp>
      <p:sp>
        <p:nvSpPr>
          <p:cNvPr id="94" name="TextBox 93">
            <a:extLst>
              <a:ext uri="{FF2B5EF4-FFF2-40B4-BE49-F238E27FC236}">
                <a16:creationId xmlns:a16="http://schemas.microsoft.com/office/drawing/2014/main" id="{CC86550A-51AF-905C-0484-AAF37476590E}"/>
              </a:ext>
            </a:extLst>
          </p:cNvPr>
          <p:cNvSpPr txBox="1"/>
          <p:nvPr/>
        </p:nvSpPr>
        <p:spPr>
          <a:xfrm>
            <a:off x="2660051" y="3815834"/>
            <a:ext cx="255198" cy="369332"/>
          </a:xfrm>
          <a:prstGeom prst="rect">
            <a:avLst/>
          </a:prstGeom>
          <a:noFill/>
        </p:spPr>
        <p:txBody>
          <a:bodyPr wrap="none" rtlCol="0">
            <a:spAutoFit/>
          </a:bodyPr>
          <a:lstStyle/>
          <a:p>
            <a:r>
              <a:rPr lang="en-US" dirty="0"/>
              <a:t>f</a:t>
            </a:r>
          </a:p>
        </p:txBody>
      </p:sp>
      <p:sp>
        <p:nvSpPr>
          <p:cNvPr id="95" name="TextBox 94">
            <a:extLst>
              <a:ext uri="{FF2B5EF4-FFF2-40B4-BE49-F238E27FC236}">
                <a16:creationId xmlns:a16="http://schemas.microsoft.com/office/drawing/2014/main" id="{CB9E0D26-AD32-1BF0-F9C8-2B68A0FEAF51}"/>
              </a:ext>
            </a:extLst>
          </p:cNvPr>
          <p:cNvSpPr txBox="1"/>
          <p:nvPr/>
        </p:nvSpPr>
        <p:spPr>
          <a:xfrm>
            <a:off x="4458883" y="3815834"/>
            <a:ext cx="293670" cy="369332"/>
          </a:xfrm>
          <a:prstGeom prst="rect">
            <a:avLst/>
          </a:prstGeom>
          <a:noFill/>
        </p:spPr>
        <p:txBody>
          <a:bodyPr wrap="none" rtlCol="0">
            <a:spAutoFit/>
          </a:bodyPr>
          <a:lstStyle/>
          <a:p>
            <a:r>
              <a:rPr lang="en-US" dirty="0"/>
              <a:t>g</a:t>
            </a:r>
          </a:p>
        </p:txBody>
      </p:sp>
      <p:sp>
        <p:nvSpPr>
          <p:cNvPr id="96" name="TextBox 95">
            <a:extLst>
              <a:ext uri="{FF2B5EF4-FFF2-40B4-BE49-F238E27FC236}">
                <a16:creationId xmlns:a16="http://schemas.microsoft.com/office/drawing/2014/main" id="{0D279662-672B-A465-C85F-4BD0AED5CE35}"/>
              </a:ext>
            </a:extLst>
          </p:cNvPr>
          <p:cNvSpPr txBox="1"/>
          <p:nvPr/>
        </p:nvSpPr>
        <p:spPr>
          <a:xfrm>
            <a:off x="363100" y="5836162"/>
            <a:ext cx="306494" cy="369332"/>
          </a:xfrm>
          <a:prstGeom prst="rect">
            <a:avLst/>
          </a:prstGeom>
          <a:noFill/>
        </p:spPr>
        <p:txBody>
          <a:bodyPr wrap="none" rtlCol="0">
            <a:spAutoFit/>
          </a:bodyPr>
          <a:lstStyle/>
          <a:p>
            <a:r>
              <a:rPr lang="en-US" dirty="0"/>
              <a:t>h</a:t>
            </a:r>
          </a:p>
        </p:txBody>
      </p:sp>
      <p:sp>
        <p:nvSpPr>
          <p:cNvPr id="97" name="TextBox 96">
            <a:extLst>
              <a:ext uri="{FF2B5EF4-FFF2-40B4-BE49-F238E27FC236}">
                <a16:creationId xmlns:a16="http://schemas.microsoft.com/office/drawing/2014/main" id="{4D5055E1-189B-D640-540E-995D012459E6}"/>
              </a:ext>
            </a:extLst>
          </p:cNvPr>
          <p:cNvSpPr txBox="1"/>
          <p:nvPr/>
        </p:nvSpPr>
        <p:spPr>
          <a:xfrm>
            <a:off x="2639134" y="5768022"/>
            <a:ext cx="237566" cy="369332"/>
          </a:xfrm>
          <a:prstGeom prst="rect">
            <a:avLst/>
          </a:prstGeom>
          <a:noFill/>
        </p:spPr>
        <p:txBody>
          <a:bodyPr wrap="none" rtlCol="0">
            <a:spAutoFit/>
          </a:bodyPr>
          <a:lstStyle/>
          <a:p>
            <a:r>
              <a:rPr lang="en-US" dirty="0" err="1"/>
              <a:t>i</a:t>
            </a:r>
            <a:endParaRPr lang="en-US" dirty="0"/>
          </a:p>
        </p:txBody>
      </p:sp>
    </p:spTree>
    <p:extLst>
      <p:ext uri="{BB962C8B-B14F-4D97-AF65-F5344CB8AC3E}">
        <p14:creationId xmlns:p14="http://schemas.microsoft.com/office/powerpoint/2010/main" val="21797520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TextBox 86">
            <a:extLst>
              <a:ext uri="{FF2B5EF4-FFF2-40B4-BE49-F238E27FC236}">
                <a16:creationId xmlns:a16="http://schemas.microsoft.com/office/drawing/2014/main" id="{48AB627D-D99B-75D4-B278-722995E71B6C}"/>
              </a:ext>
            </a:extLst>
          </p:cNvPr>
          <p:cNvSpPr txBox="1"/>
          <p:nvPr/>
        </p:nvSpPr>
        <p:spPr>
          <a:xfrm>
            <a:off x="723900" y="5247163"/>
            <a:ext cx="6134100" cy="430887"/>
          </a:xfrm>
          <a:prstGeom prst="rect">
            <a:avLst/>
          </a:prstGeom>
          <a:noFill/>
        </p:spPr>
        <p:txBody>
          <a:bodyPr wrap="square" rtlCol="0">
            <a:spAutoFit/>
          </a:bodyPr>
          <a:lstStyle/>
          <a:p>
            <a:r>
              <a:rPr lang="en-US" sz="1100" b="1" dirty="0"/>
              <a:t>a-c</a:t>
            </a:r>
            <a:r>
              <a:rPr lang="en-US" sz="1100" dirty="0"/>
              <a:t> Expected leaving times for lapse model for lapse parameter value of </a:t>
            </a:r>
            <a:r>
              <a:rPr lang="en-US" sz="1100" b="1" dirty="0"/>
              <a:t>a) </a:t>
            </a:r>
            <a:r>
              <a:rPr lang="en-US" sz="1100" dirty="0"/>
              <a:t>0.001 </a:t>
            </a:r>
            <a:r>
              <a:rPr lang="en-US" sz="1100" b="1" dirty="0"/>
              <a:t>b) </a:t>
            </a:r>
            <a:r>
              <a:rPr lang="en-US" sz="1100" dirty="0"/>
              <a:t>0.01 </a:t>
            </a:r>
            <a:r>
              <a:rPr lang="en-US" sz="1100" b="1" dirty="0"/>
              <a:t>c) </a:t>
            </a:r>
            <a:r>
              <a:rPr lang="en-US" sz="1100" dirty="0"/>
              <a:t>0.04.</a:t>
            </a:r>
          </a:p>
          <a:p>
            <a:r>
              <a:rPr lang="en-US" sz="1100" b="1" dirty="0"/>
              <a:t>d-f</a:t>
            </a:r>
            <a:r>
              <a:rPr lang="en-US" sz="1100" dirty="0"/>
              <a:t> SD leaving times for lapse model for lapse parameter value of </a:t>
            </a:r>
            <a:r>
              <a:rPr lang="en-US" sz="1100" b="1" dirty="0"/>
              <a:t>a) </a:t>
            </a:r>
            <a:r>
              <a:rPr lang="en-US" sz="1100" dirty="0"/>
              <a:t>0.001 </a:t>
            </a:r>
            <a:r>
              <a:rPr lang="en-US" sz="1100" b="1" dirty="0"/>
              <a:t>b) </a:t>
            </a:r>
            <a:r>
              <a:rPr lang="en-US" sz="1100" dirty="0"/>
              <a:t>0.01 </a:t>
            </a:r>
            <a:r>
              <a:rPr lang="en-US" sz="1100" b="1" dirty="0"/>
              <a:t>c) </a:t>
            </a:r>
            <a:r>
              <a:rPr lang="en-US" sz="1100" dirty="0"/>
              <a:t>0.04.</a:t>
            </a:r>
          </a:p>
        </p:txBody>
      </p:sp>
      <p:sp>
        <p:nvSpPr>
          <p:cNvPr id="88" name="TextBox 87">
            <a:extLst>
              <a:ext uri="{FF2B5EF4-FFF2-40B4-BE49-F238E27FC236}">
                <a16:creationId xmlns:a16="http://schemas.microsoft.com/office/drawing/2014/main" id="{790669AD-18F8-09A4-DD66-6FFFCAFE6BE7}"/>
              </a:ext>
            </a:extLst>
          </p:cNvPr>
          <p:cNvSpPr txBox="1"/>
          <p:nvPr/>
        </p:nvSpPr>
        <p:spPr>
          <a:xfrm>
            <a:off x="526698" y="147251"/>
            <a:ext cx="5540147" cy="369332"/>
          </a:xfrm>
          <a:prstGeom prst="rect">
            <a:avLst/>
          </a:prstGeom>
          <a:noFill/>
        </p:spPr>
        <p:txBody>
          <a:bodyPr wrap="square" rtlCol="0">
            <a:spAutoFit/>
          </a:bodyPr>
          <a:lstStyle/>
          <a:p>
            <a:r>
              <a:rPr lang="en-US" b="1" dirty="0"/>
              <a:t>Supplementary</a:t>
            </a:r>
            <a:r>
              <a:rPr lang="en-US" dirty="0"/>
              <a:t> Figure 1: Model predictions  </a:t>
            </a:r>
          </a:p>
        </p:txBody>
      </p:sp>
      <p:pic>
        <p:nvPicPr>
          <p:cNvPr id="19" name="Graphic 18">
            <a:extLst>
              <a:ext uri="{FF2B5EF4-FFF2-40B4-BE49-F238E27FC236}">
                <a16:creationId xmlns:a16="http://schemas.microsoft.com/office/drawing/2014/main" id="{3E63BA05-1459-C323-8414-877E6743DBA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2449" y="912191"/>
            <a:ext cx="1879600" cy="1879600"/>
          </a:xfrm>
          <a:prstGeom prst="rect">
            <a:avLst/>
          </a:prstGeom>
        </p:spPr>
      </p:pic>
      <p:pic>
        <p:nvPicPr>
          <p:cNvPr id="21" name="Graphic 20">
            <a:extLst>
              <a:ext uri="{FF2B5EF4-FFF2-40B4-BE49-F238E27FC236}">
                <a16:creationId xmlns:a16="http://schemas.microsoft.com/office/drawing/2014/main" id="{7B804826-F6AD-79D6-F35A-A52EBD663FB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19788" y="912191"/>
            <a:ext cx="1879600" cy="1879600"/>
          </a:xfrm>
          <a:prstGeom prst="rect">
            <a:avLst/>
          </a:prstGeom>
        </p:spPr>
      </p:pic>
      <p:pic>
        <p:nvPicPr>
          <p:cNvPr id="23" name="Graphic 22">
            <a:extLst>
              <a:ext uri="{FF2B5EF4-FFF2-40B4-BE49-F238E27FC236}">
                <a16:creationId xmlns:a16="http://schemas.microsoft.com/office/drawing/2014/main" id="{9493110D-728D-1693-20F2-66937DACFF8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787127" y="840630"/>
            <a:ext cx="1879600" cy="1879600"/>
          </a:xfrm>
          <a:prstGeom prst="rect">
            <a:avLst/>
          </a:prstGeom>
        </p:spPr>
      </p:pic>
      <p:pic>
        <p:nvPicPr>
          <p:cNvPr id="33" name="Graphic 32">
            <a:extLst>
              <a:ext uri="{FF2B5EF4-FFF2-40B4-BE49-F238E27FC236}">
                <a16:creationId xmlns:a16="http://schemas.microsoft.com/office/drawing/2014/main" id="{DC08BFD2-1F73-F5DE-E215-E8D2949E432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719788" y="3187399"/>
            <a:ext cx="1879600" cy="1879600"/>
          </a:xfrm>
          <a:prstGeom prst="rect">
            <a:avLst/>
          </a:prstGeom>
        </p:spPr>
      </p:pic>
      <p:pic>
        <p:nvPicPr>
          <p:cNvPr id="35" name="Graphic 34">
            <a:extLst>
              <a:ext uri="{FF2B5EF4-FFF2-40B4-BE49-F238E27FC236}">
                <a16:creationId xmlns:a16="http://schemas.microsoft.com/office/drawing/2014/main" id="{957CE53A-E03D-B0DC-BCD7-2FD09039A24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787127" y="3225358"/>
            <a:ext cx="1879600" cy="1879600"/>
          </a:xfrm>
          <a:prstGeom prst="rect">
            <a:avLst/>
          </a:prstGeom>
        </p:spPr>
      </p:pic>
      <p:pic>
        <p:nvPicPr>
          <p:cNvPr id="37" name="Graphic 36">
            <a:extLst>
              <a:ext uri="{FF2B5EF4-FFF2-40B4-BE49-F238E27FC236}">
                <a16:creationId xmlns:a16="http://schemas.microsoft.com/office/drawing/2014/main" id="{A4CC35F2-45A0-EDCA-E1B5-0883BECF940B}"/>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52449" y="3187399"/>
            <a:ext cx="1879600" cy="1879600"/>
          </a:xfrm>
          <a:prstGeom prst="rect">
            <a:avLst/>
          </a:prstGeom>
        </p:spPr>
      </p:pic>
      <p:sp>
        <p:nvSpPr>
          <p:cNvPr id="38" name="TextBox 37">
            <a:extLst>
              <a:ext uri="{FF2B5EF4-FFF2-40B4-BE49-F238E27FC236}">
                <a16:creationId xmlns:a16="http://schemas.microsoft.com/office/drawing/2014/main" id="{5710D652-9A46-F948-4F45-BCBA26BBE6A5}"/>
              </a:ext>
            </a:extLst>
          </p:cNvPr>
          <p:cNvSpPr txBox="1"/>
          <p:nvPr/>
        </p:nvSpPr>
        <p:spPr>
          <a:xfrm>
            <a:off x="1144972" y="634475"/>
            <a:ext cx="1050288" cy="369332"/>
          </a:xfrm>
          <a:prstGeom prst="rect">
            <a:avLst/>
          </a:prstGeom>
          <a:noFill/>
        </p:spPr>
        <p:txBody>
          <a:bodyPr wrap="none" rtlCol="0">
            <a:spAutoFit/>
          </a:bodyPr>
          <a:lstStyle/>
          <a:p>
            <a:r>
              <a:rPr lang="en-US" dirty="0"/>
              <a:t>𝜺 = 0.001</a:t>
            </a:r>
          </a:p>
        </p:txBody>
      </p:sp>
      <p:sp>
        <p:nvSpPr>
          <p:cNvPr id="39" name="TextBox 38">
            <a:extLst>
              <a:ext uri="{FF2B5EF4-FFF2-40B4-BE49-F238E27FC236}">
                <a16:creationId xmlns:a16="http://schemas.microsoft.com/office/drawing/2014/main" id="{3785D0D0-E534-59D2-2ED2-5CFEDD02AD75}"/>
              </a:ext>
            </a:extLst>
          </p:cNvPr>
          <p:cNvSpPr txBox="1"/>
          <p:nvPr/>
        </p:nvSpPr>
        <p:spPr>
          <a:xfrm>
            <a:off x="3324315" y="634475"/>
            <a:ext cx="933269" cy="369332"/>
          </a:xfrm>
          <a:prstGeom prst="rect">
            <a:avLst/>
          </a:prstGeom>
          <a:noFill/>
        </p:spPr>
        <p:txBody>
          <a:bodyPr wrap="none" rtlCol="0">
            <a:spAutoFit/>
          </a:bodyPr>
          <a:lstStyle/>
          <a:p>
            <a:r>
              <a:rPr lang="en-US" dirty="0"/>
              <a:t>𝜺 = 0.01</a:t>
            </a:r>
          </a:p>
        </p:txBody>
      </p:sp>
      <p:sp>
        <p:nvSpPr>
          <p:cNvPr id="40" name="TextBox 39">
            <a:extLst>
              <a:ext uri="{FF2B5EF4-FFF2-40B4-BE49-F238E27FC236}">
                <a16:creationId xmlns:a16="http://schemas.microsoft.com/office/drawing/2014/main" id="{EFDBD082-D664-31E6-1416-6D7E3B163159}"/>
              </a:ext>
            </a:extLst>
          </p:cNvPr>
          <p:cNvSpPr txBox="1"/>
          <p:nvPr/>
        </p:nvSpPr>
        <p:spPr>
          <a:xfrm>
            <a:off x="5386639" y="627484"/>
            <a:ext cx="933269" cy="369332"/>
          </a:xfrm>
          <a:prstGeom prst="rect">
            <a:avLst/>
          </a:prstGeom>
          <a:noFill/>
        </p:spPr>
        <p:txBody>
          <a:bodyPr wrap="none" rtlCol="0">
            <a:spAutoFit/>
          </a:bodyPr>
          <a:lstStyle/>
          <a:p>
            <a:r>
              <a:rPr lang="en-US" dirty="0"/>
              <a:t>𝜺 = 0.04</a:t>
            </a:r>
          </a:p>
        </p:txBody>
      </p:sp>
    </p:spTree>
    <p:extLst>
      <p:ext uri="{BB962C8B-B14F-4D97-AF65-F5344CB8AC3E}">
        <p14:creationId xmlns:p14="http://schemas.microsoft.com/office/powerpoint/2010/main" val="3426136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19490C3E-821F-17B9-38B2-DE737CB2FAE3}"/>
              </a:ext>
            </a:extLst>
          </p:cNvPr>
          <p:cNvGraphicFramePr>
            <a:graphicFrameLocks noGrp="1"/>
          </p:cNvGraphicFramePr>
          <p:nvPr>
            <p:extLst>
              <p:ext uri="{D42A27DB-BD31-4B8C-83A1-F6EECF244321}">
                <p14:modId xmlns:p14="http://schemas.microsoft.com/office/powerpoint/2010/main" val="1296211656"/>
              </p:ext>
            </p:extLst>
          </p:nvPr>
        </p:nvGraphicFramePr>
        <p:xfrm>
          <a:off x="328364" y="1763353"/>
          <a:ext cx="5915025" cy="1845996"/>
        </p:xfrm>
        <a:graphic>
          <a:graphicData uri="http://schemas.openxmlformats.org/drawingml/2006/table">
            <a:tbl>
              <a:tblPr/>
              <a:tblGrid>
                <a:gridCol w="893915">
                  <a:extLst>
                    <a:ext uri="{9D8B030D-6E8A-4147-A177-3AD203B41FA5}">
                      <a16:colId xmlns:a16="http://schemas.microsoft.com/office/drawing/2014/main" val="3313765571"/>
                    </a:ext>
                  </a:extLst>
                </a:gridCol>
                <a:gridCol w="687627">
                  <a:extLst>
                    <a:ext uri="{9D8B030D-6E8A-4147-A177-3AD203B41FA5}">
                      <a16:colId xmlns:a16="http://schemas.microsoft.com/office/drawing/2014/main" val="3135885159"/>
                    </a:ext>
                  </a:extLst>
                </a:gridCol>
                <a:gridCol w="704818">
                  <a:extLst>
                    <a:ext uri="{9D8B030D-6E8A-4147-A177-3AD203B41FA5}">
                      <a16:colId xmlns:a16="http://schemas.microsoft.com/office/drawing/2014/main" val="956992078"/>
                    </a:ext>
                  </a:extLst>
                </a:gridCol>
                <a:gridCol w="807962">
                  <a:extLst>
                    <a:ext uri="{9D8B030D-6E8A-4147-A177-3AD203B41FA5}">
                      <a16:colId xmlns:a16="http://schemas.microsoft.com/office/drawing/2014/main" val="1473238402"/>
                    </a:ext>
                  </a:extLst>
                </a:gridCol>
                <a:gridCol w="567292">
                  <a:extLst>
                    <a:ext uri="{9D8B030D-6E8A-4147-A177-3AD203B41FA5}">
                      <a16:colId xmlns:a16="http://schemas.microsoft.com/office/drawing/2014/main" val="765515654"/>
                    </a:ext>
                  </a:extLst>
                </a:gridCol>
                <a:gridCol w="464148">
                  <a:extLst>
                    <a:ext uri="{9D8B030D-6E8A-4147-A177-3AD203B41FA5}">
                      <a16:colId xmlns:a16="http://schemas.microsoft.com/office/drawing/2014/main" val="3549852778"/>
                    </a:ext>
                  </a:extLst>
                </a:gridCol>
                <a:gridCol w="349544">
                  <a:extLst>
                    <a:ext uri="{9D8B030D-6E8A-4147-A177-3AD203B41FA5}">
                      <a16:colId xmlns:a16="http://schemas.microsoft.com/office/drawing/2014/main" val="136934297"/>
                    </a:ext>
                  </a:extLst>
                </a:gridCol>
                <a:gridCol w="532911">
                  <a:extLst>
                    <a:ext uri="{9D8B030D-6E8A-4147-A177-3AD203B41FA5}">
                      <a16:colId xmlns:a16="http://schemas.microsoft.com/office/drawing/2014/main" val="1091402874"/>
                    </a:ext>
                  </a:extLst>
                </a:gridCol>
                <a:gridCol w="373897">
                  <a:extLst>
                    <a:ext uri="{9D8B030D-6E8A-4147-A177-3AD203B41FA5}">
                      <a16:colId xmlns:a16="http://schemas.microsoft.com/office/drawing/2014/main" val="4025434443"/>
                    </a:ext>
                  </a:extLst>
                </a:gridCol>
                <a:gridCol w="532911">
                  <a:extLst>
                    <a:ext uri="{9D8B030D-6E8A-4147-A177-3AD203B41FA5}">
                      <a16:colId xmlns:a16="http://schemas.microsoft.com/office/drawing/2014/main" val="3093971702"/>
                    </a:ext>
                  </a:extLst>
                </a:gridCol>
              </a:tblGrid>
              <a:tr h="91706">
                <a:tc>
                  <a:txBody>
                    <a:bodyPr/>
                    <a:lstStyle/>
                    <a:p>
                      <a:pPr algn="l" fontAlgn="b"/>
                      <a:r>
                        <a:rPr lang="en-GB" sz="1000" b="1" i="0" u="none" strike="noStrike">
                          <a:solidFill>
                            <a:srgbClr val="000000"/>
                          </a:solidFill>
                          <a:effectLst/>
                          <a:latin typeface="Calibri" panose="020F0502020204030204" pitchFamily="34" charset="0"/>
                        </a:rPr>
                        <a:t>Paper</a:t>
                      </a:r>
                    </a:p>
                  </a:txBody>
                  <a:tcPr marL="4299" marR="4299" marT="4299" marB="0" anchor="b">
                    <a:lnL>
                      <a:noFill/>
                    </a:lnL>
                    <a:lnR>
                      <a:noFill/>
                    </a:lnR>
                    <a:lnT>
                      <a:noFill/>
                    </a:lnT>
                    <a:lnB>
                      <a:noFill/>
                    </a:lnB>
                  </a:tcPr>
                </a:tc>
                <a:tc>
                  <a:txBody>
                    <a:bodyPr/>
                    <a:lstStyle/>
                    <a:p>
                      <a:pPr algn="l" fontAlgn="b"/>
                      <a:r>
                        <a:rPr lang="en-GB" sz="1000" b="1" i="0" u="none" strike="noStrike">
                          <a:solidFill>
                            <a:srgbClr val="000000"/>
                          </a:solidFill>
                          <a:effectLst/>
                          <a:latin typeface="Calibri" panose="020F0502020204030204" pitchFamily="34" charset="0"/>
                        </a:rPr>
                        <a:t>Study</a:t>
                      </a:r>
                    </a:p>
                  </a:txBody>
                  <a:tcPr marL="4299" marR="4299" marT="4299" marB="0" anchor="b">
                    <a:lnL>
                      <a:noFill/>
                    </a:lnL>
                    <a:lnR>
                      <a:noFill/>
                    </a:lnR>
                    <a:lnT>
                      <a:noFill/>
                    </a:lnT>
                    <a:lnB>
                      <a:noFill/>
                    </a:lnB>
                  </a:tcPr>
                </a:tc>
                <a:tc>
                  <a:txBody>
                    <a:bodyPr/>
                    <a:lstStyle/>
                    <a:p>
                      <a:pPr algn="l" fontAlgn="b"/>
                      <a:r>
                        <a:rPr lang="en-GB" sz="1000" b="1" i="0" u="none" strike="noStrike" dirty="0">
                          <a:solidFill>
                            <a:srgbClr val="000000"/>
                          </a:solidFill>
                          <a:effectLst/>
                          <a:latin typeface="Calibri" panose="020F0502020204030204" pitchFamily="34" charset="0"/>
                        </a:rPr>
                        <a:t>Sample</a:t>
                      </a:r>
                    </a:p>
                  </a:txBody>
                  <a:tcPr marL="4299" marR="4299" marT="4299" marB="0" anchor="b">
                    <a:lnL>
                      <a:noFill/>
                    </a:lnL>
                    <a:lnR>
                      <a:noFill/>
                    </a:lnR>
                    <a:lnT>
                      <a:noFill/>
                    </a:lnT>
                    <a:lnB>
                      <a:noFill/>
                    </a:lnB>
                  </a:tcPr>
                </a:tc>
                <a:tc>
                  <a:txBody>
                    <a:bodyPr/>
                    <a:lstStyle/>
                    <a:p>
                      <a:pPr algn="l" fontAlgn="b"/>
                      <a:r>
                        <a:rPr lang="en-GB" sz="1000" b="1" i="0" u="none" strike="noStrike">
                          <a:solidFill>
                            <a:srgbClr val="000000"/>
                          </a:solidFill>
                          <a:effectLst/>
                          <a:latin typeface="Calibri" panose="020F0502020204030204" pitchFamily="34" charset="0"/>
                        </a:rPr>
                        <a:t>Patch Types</a:t>
                      </a:r>
                    </a:p>
                  </a:txBody>
                  <a:tcPr marL="4299" marR="4299" marT="4299" marB="0" anchor="b">
                    <a:lnL>
                      <a:noFill/>
                    </a:lnL>
                    <a:lnR>
                      <a:noFill/>
                    </a:lnR>
                    <a:lnT>
                      <a:noFill/>
                    </a:lnT>
                    <a:lnB>
                      <a:noFill/>
                    </a:lnB>
                  </a:tcPr>
                </a:tc>
                <a:tc>
                  <a:txBody>
                    <a:bodyPr/>
                    <a:lstStyle/>
                    <a:p>
                      <a:pPr algn="l" fontAlgn="b"/>
                      <a:r>
                        <a:rPr lang="en-GB" sz="1000" b="1" i="0" u="none" strike="noStrike">
                          <a:solidFill>
                            <a:srgbClr val="000000"/>
                          </a:solidFill>
                          <a:effectLst/>
                          <a:latin typeface="Calibri" panose="020F0502020204030204" pitchFamily="34" charset="0"/>
                        </a:rPr>
                        <a:t>Initial yield (r0 ml)</a:t>
                      </a:r>
                    </a:p>
                  </a:txBody>
                  <a:tcPr marL="4299" marR="4299" marT="4299" marB="0" anchor="b">
                    <a:lnL>
                      <a:noFill/>
                    </a:lnL>
                    <a:lnR>
                      <a:noFill/>
                    </a:lnR>
                    <a:lnT>
                      <a:noFill/>
                    </a:lnT>
                    <a:lnB>
                      <a:noFill/>
                    </a:lnB>
                  </a:tcPr>
                </a:tc>
                <a:tc>
                  <a:txBody>
                    <a:bodyPr/>
                    <a:lstStyle/>
                    <a:p>
                      <a:pPr algn="l" fontAlgn="b"/>
                      <a:r>
                        <a:rPr lang="en-GB" sz="1000" b="1" i="0" u="none" strike="noStrike">
                          <a:solidFill>
                            <a:srgbClr val="000000"/>
                          </a:solidFill>
                          <a:effectLst/>
                          <a:latin typeface="Calibri" panose="020F0502020204030204" pitchFamily="34" charset="0"/>
                        </a:rPr>
                        <a:t>Decay function</a:t>
                      </a:r>
                    </a:p>
                  </a:txBody>
                  <a:tcPr marL="4299" marR="4299" marT="4299" marB="0" anchor="b">
                    <a:lnL>
                      <a:noFill/>
                    </a:lnL>
                    <a:lnR>
                      <a:noFill/>
                    </a:lnR>
                    <a:lnT>
                      <a:noFill/>
                    </a:lnT>
                    <a:lnB>
                      <a:noFill/>
                    </a:lnB>
                  </a:tcPr>
                </a:tc>
                <a:tc>
                  <a:txBody>
                    <a:bodyPr/>
                    <a:lstStyle/>
                    <a:p>
                      <a:pPr algn="l" fontAlgn="b"/>
                      <a:r>
                        <a:rPr lang="en-GB" sz="1000" b="1" i="0" u="none" strike="noStrike">
                          <a:solidFill>
                            <a:srgbClr val="000000"/>
                          </a:solidFill>
                          <a:effectLst/>
                          <a:latin typeface="Calibri" panose="020F0502020204030204" pitchFamily="34" charset="0"/>
                        </a:rPr>
                        <a:t>Decay rate</a:t>
                      </a:r>
                    </a:p>
                  </a:txBody>
                  <a:tcPr marL="4299" marR="4299" marT="4299" marB="0" anchor="b">
                    <a:lnL>
                      <a:noFill/>
                    </a:lnL>
                    <a:lnR>
                      <a:noFill/>
                    </a:lnR>
                    <a:lnT>
                      <a:noFill/>
                    </a:lnT>
                    <a:lnB>
                      <a:noFill/>
                    </a:lnB>
                  </a:tcPr>
                </a:tc>
                <a:tc>
                  <a:txBody>
                    <a:bodyPr/>
                    <a:lstStyle/>
                    <a:p>
                      <a:pPr algn="l" fontAlgn="b"/>
                      <a:r>
                        <a:rPr lang="en-GB" sz="1000" b="1" i="0" u="none" strike="noStrike">
                          <a:solidFill>
                            <a:srgbClr val="000000"/>
                          </a:solidFill>
                          <a:effectLst/>
                          <a:latin typeface="Calibri" panose="020F0502020204030204" pitchFamily="34" charset="0"/>
                        </a:rPr>
                        <a:t>Environments</a:t>
                      </a:r>
                    </a:p>
                  </a:txBody>
                  <a:tcPr marL="4299" marR="4299" marT="4299" marB="0" anchor="b">
                    <a:lnL>
                      <a:noFill/>
                    </a:lnL>
                    <a:lnR>
                      <a:noFill/>
                    </a:lnR>
                    <a:lnT>
                      <a:noFill/>
                    </a:lnT>
                    <a:lnB>
                      <a:noFill/>
                    </a:lnB>
                  </a:tcPr>
                </a:tc>
                <a:tc>
                  <a:txBody>
                    <a:bodyPr/>
                    <a:lstStyle/>
                    <a:p>
                      <a:pPr algn="l" fontAlgn="b"/>
                      <a:r>
                        <a:rPr lang="en-GB" sz="1000" b="1" i="0" u="none" strike="noStrike">
                          <a:solidFill>
                            <a:srgbClr val="000000"/>
                          </a:solidFill>
                          <a:effectLst/>
                          <a:latin typeface="Calibri" panose="020F0502020204030204" pitchFamily="34" charset="0"/>
                        </a:rPr>
                        <a:t>Travel Time</a:t>
                      </a:r>
                    </a:p>
                  </a:txBody>
                  <a:tcPr marL="4299" marR="4299" marT="4299" marB="0" anchor="b">
                    <a:lnL>
                      <a:noFill/>
                    </a:lnL>
                    <a:lnR>
                      <a:noFill/>
                    </a:lnR>
                    <a:lnT>
                      <a:noFill/>
                    </a:lnT>
                    <a:lnB>
                      <a:noFill/>
                    </a:lnB>
                  </a:tcPr>
                </a:tc>
                <a:tc>
                  <a:txBody>
                    <a:bodyPr/>
                    <a:lstStyle/>
                    <a:p>
                      <a:pPr algn="l" fontAlgn="b"/>
                      <a:r>
                        <a:rPr lang="en-GB" sz="1000" b="1" i="0" u="none" strike="noStrike">
                          <a:solidFill>
                            <a:srgbClr val="000000"/>
                          </a:solidFill>
                          <a:effectLst/>
                          <a:latin typeface="Calibri" panose="020F0502020204030204" pitchFamily="34" charset="0"/>
                        </a:rPr>
                        <a:t>Patch distribution</a:t>
                      </a:r>
                    </a:p>
                  </a:txBody>
                  <a:tcPr marL="4299" marR="4299" marT="4299" marB="0" anchor="b">
                    <a:lnL>
                      <a:noFill/>
                    </a:lnL>
                    <a:lnR>
                      <a:noFill/>
                    </a:lnR>
                    <a:lnT>
                      <a:noFill/>
                    </a:lnT>
                    <a:lnB>
                      <a:noFill/>
                    </a:lnB>
                  </a:tcPr>
                </a:tc>
                <a:extLst>
                  <a:ext uri="{0D108BD9-81ED-4DB2-BD59-A6C34878D82A}">
                    <a16:rowId xmlns:a16="http://schemas.microsoft.com/office/drawing/2014/main" val="3218492757"/>
                  </a:ext>
                </a:extLst>
              </a:tr>
              <a:tr h="91706">
                <a:tc>
                  <a:txBody>
                    <a:bodyPr/>
                    <a:lstStyle/>
                    <a:p>
                      <a:pPr algn="l" fontAlgn="b"/>
                      <a:r>
                        <a:rPr lang="en-GB" sz="1000" b="0" i="0" u="none" strike="noStrike">
                          <a:solidFill>
                            <a:srgbClr val="000000"/>
                          </a:solidFill>
                          <a:effectLst/>
                          <a:latin typeface="Calibri" panose="020F0502020204030204" pitchFamily="34" charset="0"/>
                        </a:rPr>
                        <a:t>Le Heron et al. (2020)</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Study 1 </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39 young adult humans</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N = 3 (low, medium, high) </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[32.5, 45, 57.5]</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Exponential</a:t>
                      </a:r>
                    </a:p>
                  </a:txBody>
                  <a:tcPr marL="4299" marR="4299" marT="4299" marB="0" anchor="b">
                    <a:lnL>
                      <a:noFill/>
                    </a:lnL>
                    <a:lnR>
                      <a:noFill/>
                    </a:lnR>
                    <a:lnT>
                      <a:noFill/>
                    </a:lnT>
                    <a:lnB>
                      <a:noFill/>
                    </a:lnB>
                  </a:tcPr>
                </a:tc>
                <a:tc>
                  <a:txBody>
                    <a:bodyPr/>
                    <a:lstStyle/>
                    <a:p>
                      <a:pPr algn="r" fontAlgn="b"/>
                      <a:r>
                        <a:rPr lang="en-GB" sz="1000" b="0" i="0" u="none" strike="noStrike">
                          <a:solidFill>
                            <a:srgbClr val="000000"/>
                          </a:solidFill>
                          <a:effectLst/>
                          <a:latin typeface="Calibri" panose="020F0502020204030204" pitchFamily="34" charset="0"/>
                        </a:rPr>
                        <a:t>0.075</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N = 2 (rich poor)</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6s</a:t>
                      </a:r>
                    </a:p>
                  </a:txBody>
                  <a:tcPr marL="4299" marR="4299" marT="4299" marB="0" anchor="b">
                    <a:lnL>
                      <a:noFill/>
                    </a:lnL>
                    <a:lnR>
                      <a:noFill/>
                    </a:lnR>
                    <a:lnT>
                      <a:noFill/>
                    </a:lnT>
                    <a:lnB>
                      <a:noFill/>
                    </a:lnB>
                  </a:tcPr>
                </a:tc>
                <a:tc>
                  <a:txBody>
                    <a:bodyPr/>
                    <a:lstStyle/>
                    <a:p>
                      <a:pPr algn="l" fontAlgn="b"/>
                      <a:r>
                        <a:rPr lang="en-GB" sz="1000" b="0" i="0" u="none" strike="noStrike" dirty="0">
                          <a:solidFill>
                            <a:srgbClr val="000000"/>
                          </a:solidFill>
                          <a:effectLst/>
                          <a:latin typeface="Calibri" panose="020F0502020204030204" pitchFamily="34" charset="0"/>
                        </a:rPr>
                        <a:t>16%, 33%, 50%</a:t>
                      </a:r>
                    </a:p>
                  </a:txBody>
                  <a:tcPr marL="4299" marR="4299" marT="4299" marB="0" anchor="b">
                    <a:lnL>
                      <a:noFill/>
                    </a:lnL>
                    <a:lnR>
                      <a:noFill/>
                    </a:lnR>
                    <a:lnT>
                      <a:noFill/>
                    </a:lnT>
                    <a:lnB>
                      <a:noFill/>
                    </a:lnB>
                  </a:tcPr>
                </a:tc>
                <a:extLst>
                  <a:ext uri="{0D108BD9-81ED-4DB2-BD59-A6C34878D82A}">
                    <a16:rowId xmlns:a16="http://schemas.microsoft.com/office/drawing/2014/main" val="3404301509"/>
                  </a:ext>
                </a:extLst>
              </a:tr>
              <a:tr h="91706">
                <a:tc>
                  <a:txBody>
                    <a:bodyPr/>
                    <a:lstStyle/>
                    <a:p>
                      <a:pPr algn="l" fontAlgn="b"/>
                      <a:r>
                        <a:rPr lang="en-GB" sz="1000" b="0" i="0" u="none" strike="noStrike" dirty="0">
                          <a:solidFill>
                            <a:srgbClr val="000000"/>
                          </a:solidFill>
                          <a:effectLst/>
                          <a:latin typeface="Calibri" panose="020F0502020204030204" pitchFamily="34" charset="0"/>
                        </a:rPr>
                        <a:t>Contreras-Huerta et al. (2022)</a:t>
                      </a:r>
                    </a:p>
                  </a:txBody>
                  <a:tcPr marL="4299" marR="4299" marT="4299" marB="0" anchor="b">
                    <a:lnL>
                      <a:noFill/>
                    </a:lnL>
                    <a:lnR>
                      <a:noFill/>
                    </a:lnR>
                    <a:lnT>
                      <a:noFill/>
                    </a:lnT>
                    <a:lnB>
                      <a:noFill/>
                    </a:lnB>
                  </a:tcPr>
                </a:tc>
                <a:tc>
                  <a:txBody>
                    <a:bodyPr/>
                    <a:lstStyle/>
                    <a:p>
                      <a:pPr algn="l" fontAlgn="b"/>
                      <a:r>
                        <a:rPr lang="en-GB" sz="1000" b="0" i="0" u="none" strike="noStrike" dirty="0">
                          <a:solidFill>
                            <a:srgbClr val="000000"/>
                          </a:solidFill>
                          <a:effectLst/>
                          <a:latin typeface="Calibri" panose="020F0502020204030204" pitchFamily="34" charset="0"/>
                        </a:rPr>
                        <a:t>Study 2 - self condition</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29 young adult humans</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N = 2 (low, high) </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[34.5, 57.5]</a:t>
                      </a:r>
                    </a:p>
                  </a:txBody>
                  <a:tcPr marL="4299" marR="4299" marT="4299" marB="0" anchor="b">
                    <a:lnL>
                      <a:noFill/>
                    </a:lnL>
                    <a:lnR>
                      <a:noFill/>
                    </a:lnR>
                    <a:lnT>
                      <a:noFill/>
                    </a:lnT>
                    <a:lnB>
                      <a:noFill/>
                    </a:lnB>
                  </a:tcPr>
                </a:tc>
                <a:tc>
                  <a:txBody>
                    <a:bodyPr/>
                    <a:lstStyle/>
                    <a:p>
                      <a:pPr algn="l" fontAlgn="b"/>
                      <a:r>
                        <a:rPr lang="en-GB" sz="1000" b="0" i="0" u="none" strike="noStrike" dirty="0">
                          <a:solidFill>
                            <a:srgbClr val="000000"/>
                          </a:solidFill>
                          <a:effectLst/>
                          <a:latin typeface="Calibri" panose="020F0502020204030204" pitchFamily="34" charset="0"/>
                        </a:rPr>
                        <a:t>Exponential</a:t>
                      </a:r>
                    </a:p>
                  </a:txBody>
                  <a:tcPr marL="4299" marR="4299" marT="4299" marB="0" anchor="b">
                    <a:lnL>
                      <a:noFill/>
                    </a:lnL>
                    <a:lnR>
                      <a:noFill/>
                    </a:lnR>
                    <a:lnT>
                      <a:noFill/>
                    </a:lnT>
                    <a:lnB>
                      <a:noFill/>
                    </a:lnB>
                  </a:tcPr>
                </a:tc>
                <a:tc>
                  <a:txBody>
                    <a:bodyPr/>
                    <a:lstStyle/>
                    <a:p>
                      <a:pPr algn="r" fontAlgn="b"/>
                      <a:r>
                        <a:rPr lang="en-GB" sz="1000" b="0" i="0" u="none" strike="noStrike">
                          <a:solidFill>
                            <a:srgbClr val="000000"/>
                          </a:solidFill>
                          <a:effectLst/>
                          <a:latin typeface="Calibri" panose="020F0502020204030204" pitchFamily="34" charset="0"/>
                        </a:rPr>
                        <a:t>0.11</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N = 2 (short long)</a:t>
                      </a:r>
                    </a:p>
                  </a:txBody>
                  <a:tcPr marL="4299" marR="4299" marT="4299" marB="0" anchor="b">
                    <a:lnL>
                      <a:noFill/>
                    </a:lnL>
                    <a:lnR>
                      <a:noFill/>
                    </a:lnR>
                    <a:lnT>
                      <a:noFill/>
                    </a:lnT>
                    <a:lnB>
                      <a:noFill/>
                    </a:lnB>
                  </a:tcPr>
                </a:tc>
                <a:tc>
                  <a:txBody>
                    <a:bodyPr/>
                    <a:lstStyle/>
                    <a:p>
                      <a:pPr algn="l" fontAlgn="b"/>
                      <a:r>
                        <a:rPr lang="en-GB" sz="1000" b="0" i="0" u="none" strike="noStrike" dirty="0">
                          <a:solidFill>
                            <a:srgbClr val="000000"/>
                          </a:solidFill>
                          <a:effectLst/>
                          <a:latin typeface="Calibri" panose="020F0502020204030204" pitchFamily="34" charset="0"/>
                        </a:rPr>
                        <a:t>[2.8s, 5s]</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50%, 50%</a:t>
                      </a:r>
                    </a:p>
                  </a:txBody>
                  <a:tcPr marL="4299" marR="4299" marT="4299" marB="0" anchor="b">
                    <a:lnL>
                      <a:noFill/>
                    </a:lnL>
                    <a:lnR>
                      <a:noFill/>
                    </a:lnR>
                    <a:lnT>
                      <a:noFill/>
                    </a:lnT>
                    <a:lnB>
                      <a:noFill/>
                    </a:lnB>
                  </a:tcPr>
                </a:tc>
                <a:extLst>
                  <a:ext uri="{0D108BD9-81ED-4DB2-BD59-A6C34878D82A}">
                    <a16:rowId xmlns:a16="http://schemas.microsoft.com/office/drawing/2014/main" val="3856139354"/>
                  </a:ext>
                </a:extLst>
              </a:tr>
              <a:tr h="91706">
                <a:tc>
                  <a:txBody>
                    <a:bodyPr/>
                    <a:lstStyle/>
                    <a:p>
                      <a:pPr algn="l" fontAlgn="b"/>
                      <a:r>
                        <a:rPr lang="en-GB" sz="1000" b="0" i="0" u="none" strike="noStrike">
                          <a:solidFill>
                            <a:srgbClr val="000000"/>
                          </a:solidFill>
                          <a:effectLst/>
                          <a:latin typeface="Calibri" panose="020F0502020204030204" pitchFamily="34" charset="0"/>
                        </a:rPr>
                        <a:t>Kane et al. (2019)</a:t>
                      </a:r>
                    </a:p>
                  </a:txBody>
                  <a:tcPr marL="4299" marR="4299" marT="4299" marB="0" anchor="b">
                    <a:lnL>
                      <a:noFill/>
                    </a:lnL>
                    <a:lnR>
                      <a:noFill/>
                    </a:lnR>
                    <a:lnT>
                      <a:noFill/>
                    </a:lnT>
                    <a:lnB>
                      <a:noFill/>
                    </a:lnB>
                  </a:tcPr>
                </a:tc>
                <a:tc>
                  <a:txBody>
                    <a:bodyPr/>
                    <a:lstStyle/>
                    <a:p>
                      <a:pPr algn="l" fontAlgn="b"/>
                      <a:r>
                        <a:rPr lang="en-GB" sz="1000" b="0" i="0" u="none" strike="noStrike" dirty="0">
                          <a:solidFill>
                            <a:srgbClr val="000000"/>
                          </a:solidFill>
                          <a:effectLst/>
                          <a:latin typeface="Calibri" panose="020F0502020204030204" pitchFamily="34" charset="0"/>
                        </a:rPr>
                        <a:t>Study 1 - travel time</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8 Adult Long-Evans rats</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N = 3 (low, medium, high) </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[0.06, 0.09, 0.12]</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Linear</a:t>
                      </a:r>
                    </a:p>
                  </a:txBody>
                  <a:tcPr marL="4299" marR="4299" marT="4299" marB="0" anchor="b">
                    <a:lnL>
                      <a:noFill/>
                    </a:lnL>
                    <a:lnR>
                      <a:noFill/>
                    </a:lnR>
                    <a:lnT>
                      <a:noFill/>
                    </a:lnT>
                    <a:lnB>
                      <a:noFill/>
                    </a:lnB>
                  </a:tcPr>
                </a:tc>
                <a:tc>
                  <a:txBody>
                    <a:bodyPr/>
                    <a:lstStyle/>
                    <a:p>
                      <a:pPr algn="r" fontAlgn="b"/>
                      <a:r>
                        <a:rPr lang="en-GB" sz="1000" b="0" i="0" u="none" strike="noStrike">
                          <a:solidFill>
                            <a:srgbClr val="000000"/>
                          </a:solidFill>
                          <a:effectLst/>
                          <a:latin typeface="Calibri" panose="020F0502020204030204" pitchFamily="34" charset="0"/>
                        </a:rPr>
                        <a:t>0.008</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N = 2 (short long)</a:t>
                      </a:r>
                    </a:p>
                  </a:txBody>
                  <a:tcPr marL="4299" marR="4299" marT="4299" marB="0" anchor="b">
                    <a:lnL>
                      <a:noFill/>
                    </a:lnL>
                    <a:lnR>
                      <a:noFill/>
                    </a:lnR>
                    <a:lnT>
                      <a:noFill/>
                    </a:lnT>
                    <a:lnB>
                      <a:noFill/>
                    </a:lnB>
                  </a:tcPr>
                </a:tc>
                <a:tc>
                  <a:txBody>
                    <a:bodyPr/>
                    <a:lstStyle/>
                    <a:p>
                      <a:pPr algn="l" fontAlgn="b"/>
                      <a:r>
                        <a:rPr lang="en-GB" sz="1000" b="0" i="0" u="none" strike="noStrike">
                          <a:solidFill>
                            <a:srgbClr val="000000"/>
                          </a:solidFill>
                          <a:effectLst/>
                          <a:latin typeface="Calibri" panose="020F0502020204030204" pitchFamily="34" charset="0"/>
                        </a:rPr>
                        <a:t>[10s, 30s]</a:t>
                      </a:r>
                    </a:p>
                  </a:txBody>
                  <a:tcPr marL="4299" marR="4299" marT="4299" marB="0" anchor="b">
                    <a:lnL>
                      <a:noFill/>
                    </a:lnL>
                    <a:lnR>
                      <a:noFill/>
                    </a:lnR>
                    <a:lnT>
                      <a:noFill/>
                    </a:lnT>
                    <a:lnB>
                      <a:noFill/>
                    </a:lnB>
                  </a:tcPr>
                </a:tc>
                <a:tc>
                  <a:txBody>
                    <a:bodyPr/>
                    <a:lstStyle/>
                    <a:p>
                      <a:pPr algn="l" fontAlgn="b"/>
                      <a:r>
                        <a:rPr lang="en-GB" sz="1000" b="0" i="0" u="none" strike="noStrike" dirty="0">
                          <a:solidFill>
                            <a:srgbClr val="000000"/>
                          </a:solidFill>
                          <a:effectLst/>
                          <a:latin typeface="Calibri" panose="020F0502020204030204" pitchFamily="34" charset="0"/>
                        </a:rPr>
                        <a:t>33% 33% 33%</a:t>
                      </a:r>
                    </a:p>
                  </a:txBody>
                  <a:tcPr marL="4299" marR="4299" marT="4299" marB="0" anchor="b">
                    <a:lnL>
                      <a:noFill/>
                    </a:lnL>
                    <a:lnR>
                      <a:noFill/>
                    </a:lnR>
                    <a:lnT>
                      <a:noFill/>
                    </a:lnT>
                    <a:lnB>
                      <a:noFill/>
                    </a:lnB>
                  </a:tcPr>
                </a:tc>
                <a:extLst>
                  <a:ext uri="{0D108BD9-81ED-4DB2-BD59-A6C34878D82A}">
                    <a16:rowId xmlns:a16="http://schemas.microsoft.com/office/drawing/2014/main" val="237469175"/>
                  </a:ext>
                </a:extLst>
              </a:tr>
            </a:tbl>
          </a:graphicData>
        </a:graphic>
      </p:graphicFrame>
      <p:sp>
        <p:nvSpPr>
          <p:cNvPr id="5" name="TextBox 4">
            <a:extLst>
              <a:ext uri="{FF2B5EF4-FFF2-40B4-BE49-F238E27FC236}">
                <a16:creationId xmlns:a16="http://schemas.microsoft.com/office/drawing/2014/main" id="{3ED48A07-F88B-C006-FA46-0BB44CA9A224}"/>
              </a:ext>
            </a:extLst>
          </p:cNvPr>
          <p:cNvSpPr txBox="1"/>
          <p:nvPr/>
        </p:nvSpPr>
        <p:spPr>
          <a:xfrm>
            <a:off x="421419" y="970059"/>
            <a:ext cx="3386248" cy="369332"/>
          </a:xfrm>
          <a:prstGeom prst="rect">
            <a:avLst/>
          </a:prstGeom>
          <a:noFill/>
        </p:spPr>
        <p:txBody>
          <a:bodyPr wrap="none" rtlCol="0">
            <a:spAutoFit/>
          </a:bodyPr>
          <a:lstStyle/>
          <a:p>
            <a:r>
              <a:rPr lang="en-US" dirty="0"/>
              <a:t>T1 – details of replication datasets</a:t>
            </a:r>
          </a:p>
        </p:txBody>
      </p:sp>
    </p:spTree>
    <p:extLst>
      <p:ext uri="{BB962C8B-B14F-4D97-AF65-F5344CB8AC3E}">
        <p14:creationId xmlns:p14="http://schemas.microsoft.com/office/powerpoint/2010/main" val="41080273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7" name="Graphic 46">
            <a:extLst>
              <a:ext uri="{FF2B5EF4-FFF2-40B4-BE49-F238E27FC236}">
                <a16:creationId xmlns:a16="http://schemas.microsoft.com/office/drawing/2014/main" id="{335A75C6-D40D-8DD7-1E3B-7CEE1D33549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41730" y="6465636"/>
            <a:ext cx="1879600" cy="1879600"/>
          </a:xfrm>
          <a:prstGeom prst="rect">
            <a:avLst/>
          </a:prstGeom>
        </p:spPr>
      </p:pic>
      <p:pic>
        <p:nvPicPr>
          <p:cNvPr id="35" name="Graphic 34">
            <a:extLst>
              <a:ext uri="{FF2B5EF4-FFF2-40B4-BE49-F238E27FC236}">
                <a16:creationId xmlns:a16="http://schemas.microsoft.com/office/drawing/2014/main" id="{5C3584CC-44A7-BDB8-BB04-7FC49A61DD3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726914" y="251734"/>
            <a:ext cx="1879600" cy="1879600"/>
          </a:xfrm>
          <a:prstGeom prst="rect">
            <a:avLst/>
          </a:prstGeom>
        </p:spPr>
      </p:pic>
      <p:pic>
        <p:nvPicPr>
          <p:cNvPr id="41" name="Graphic 40">
            <a:extLst>
              <a:ext uri="{FF2B5EF4-FFF2-40B4-BE49-F238E27FC236}">
                <a16:creationId xmlns:a16="http://schemas.microsoft.com/office/drawing/2014/main" id="{4B26C110-B9C4-E543-FE0C-7E22B39E982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4278" y="324219"/>
            <a:ext cx="1879600" cy="1879600"/>
          </a:xfrm>
          <a:prstGeom prst="rect">
            <a:avLst/>
          </a:prstGeom>
        </p:spPr>
      </p:pic>
      <p:pic>
        <p:nvPicPr>
          <p:cNvPr id="49" name="Graphic 48">
            <a:extLst>
              <a:ext uri="{FF2B5EF4-FFF2-40B4-BE49-F238E27FC236}">
                <a16:creationId xmlns:a16="http://schemas.microsoft.com/office/drawing/2014/main" id="{43EAED50-C01A-473A-2B7E-F6842387F5C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747126" y="2435396"/>
            <a:ext cx="1879600" cy="1879600"/>
          </a:xfrm>
          <a:prstGeom prst="rect">
            <a:avLst/>
          </a:prstGeom>
        </p:spPr>
      </p:pic>
      <p:pic>
        <p:nvPicPr>
          <p:cNvPr id="54" name="Graphic 53">
            <a:extLst>
              <a:ext uri="{FF2B5EF4-FFF2-40B4-BE49-F238E27FC236}">
                <a16:creationId xmlns:a16="http://schemas.microsoft.com/office/drawing/2014/main" id="{C0D1E104-F5A4-5CE0-A666-C5A3EEE48DB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814473" y="251734"/>
            <a:ext cx="1879600" cy="1879600"/>
          </a:xfrm>
          <a:prstGeom prst="rect">
            <a:avLst/>
          </a:prstGeom>
        </p:spPr>
      </p:pic>
      <p:pic>
        <p:nvPicPr>
          <p:cNvPr id="85" name="Graphic 84">
            <a:extLst>
              <a:ext uri="{FF2B5EF4-FFF2-40B4-BE49-F238E27FC236}">
                <a16:creationId xmlns:a16="http://schemas.microsoft.com/office/drawing/2014/main" id="{DD9D4150-D709-3B66-E58B-7D128040C72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93080" y="2365972"/>
            <a:ext cx="1879600" cy="1879600"/>
          </a:xfrm>
          <a:prstGeom prst="rect">
            <a:avLst/>
          </a:prstGeom>
        </p:spPr>
      </p:pic>
      <p:pic>
        <p:nvPicPr>
          <p:cNvPr id="103" name="Graphic 102">
            <a:extLst>
              <a:ext uri="{FF2B5EF4-FFF2-40B4-BE49-F238E27FC236}">
                <a16:creationId xmlns:a16="http://schemas.microsoft.com/office/drawing/2014/main" id="{FFE71F4F-4C40-41C8-538B-F928A9E6426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3014416" y="4425382"/>
            <a:ext cx="1879600" cy="1879600"/>
          </a:xfrm>
          <a:prstGeom prst="rect">
            <a:avLst/>
          </a:prstGeom>
        </p:spPr>
      </p:pic>
      <p:pic>
        <p:nvPicPr>
          <p:cNvPr id="105" name="Graphic 104">
            <a:extLst>
              <a:ext uri="{FF2B5EF4-FFF2-40B4-BE49-F238E27FC236}">
                <a16:creationId xmlns:a16="http://schemas.microsoft.com/office/drawing/2014/main" id="{B22B54A7-3ECD-3642-E148-49CF02BD0C39}"/>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02988" y="4333840"/>
            <a:ext cx="1879600" cy="1879600"/>
          </a:xfrm>
          <a:prstGeom prst="rect">
            <a:avLst/>
          </a:prstGeom>
        </p:spPr>
      </p:pic>
      <p:pic>
        <p:nvPicPr>
          <p:cNvPr id="109" name="Graphic 108">
            <a:extLst>
              <a:ext uri="{FF2B5EF4-FFF2-40B4-BE49-F238E27FC236}">
                <a16:creationId xmlns:a16="http://schemas.microsoft.com/office/drawing/2014/main" id="{C4B68216-32A7-8BFE-0FFE-16759FC2334D}"/>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3053797" y="6589442"/>
            <a:ext cx="1879600" cy="1879600"/>
          </a:xfrm>
          <a:prstGeom prst="rect">
            <a:avLst/>
          </a:prstGeom>
        </p:spPr>
      </p:pic>
      <p:pic>
        <p:nvPicPr>
          <p:cNvPr id="111" name="Graphic 110">
            <a:extLst>
              <a:ext uri="{FF2B5EF4-FFF2-40B4-BE49-F238E27FC236}">
                <a16:creationId xmlns:a16="http://schemas.microsoft.com/office/drawing/2014/main" id="{21818A2D-A1B6-83AB-64BD-E4374AB3B888}"/>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4897924" y="2286254"/>
            <a:ext cx="1879600" cy="1879600"/>
          </a:xfrm>
          <a:prstGeom prst="rect">
            <a:avLst/>
          </a:prstGeom>
        </p:spPr>
      </p:pic>
      <p:sp>
        <p:nvSpPr>
          <p:cNvPr id="87" name="TextBox 86">
            <a:extLst>
              <a:ext uri="{FF2B5EF4-FFF2-40B4-BE49-F238E27FC236}">
                <a16:creationId xmlns:a16="http://schemas.microsoft.com/office/drawing/2014/main" id="{48AB627D-D99B-75D4-B278-722995E71B6C}"/>
              </a:ext>
            </a:extLst>
          </p:cNvPr>
          <p:cNvSpPr txBox="1"/>
          <p:nvPr/>
        </p:nvSpPr>
        <p:spPr>
          <a:xfrm>
            <a:off x="79375" y="8433504"/>
            <a:ext cx="6699250" cy="2462213"/>
          </a:xfrm>
          <a:prstGeom prst="rect">
            <a:avLst/>
          </a:prstGeom>
          <a:noFill/>
        </p:spPr>
        <p:txBody>
          <a:bodyPr wrap="square" rtlCol="0">
            <a:spAutoFit/>
          </a:bodyPr>
          <a:lstStyle/>
          <a:p>
            <a:r>
              <a:rPr lang="en-US" sz="1100" b="1" dirty="0"/>
              <a:t>a) </a:t>
            </a:r>
            <a:r>
              <a:rPr lang="en-US" sz="1100" dirty="0"/>
              <a:t>Patch reward rate function for this task, with optimal </a:t>
            </a:r>
            <a:r>
              <a:rPr lang="en-US" sz="1100" dirty="0" err="1"/>
              <a:t>AvgRR</a:t>
            </a:r>
            <a:r>
              <a:rPr lang="en-US" sz="1100" dirty="0"/>
              <a:t> overlaid</a:t>
            </a:r>
          </a:p>
          <a:p>
            <a:r>
              <a:rPr lang="en-US" sz="1100" b="1" dirty="0"/>
              <a:t>b) </a:t>
            </a:r>
            <a:r>
              <a:rPr lang="en-US" sz="1100" dirty="0"/>
              <a:t>Specific model predictions for this task – expected LT – with participant expected betas overlaid</a:t>
            </a:r>
          </a:p>
          <a:p>
            <a:r>
              <a:rPr lang="en-US" sz="1100" b="1" dirty="0"/>
              <a:t>c) </a:t>
            </a:r>
            <a:r>
              <a:rPr lang="en-US" sz="1100" dirty="0"/>
              <a:t>Specific model predictions for this task – expected SD – with participant expected betas overlaid</a:t>
            </a:r>
          </a:p>
          <a:p>
            <a:r>
              <a:rPr lang="en-US" sz="1100" b="1" dirty="0"/>
              <a:t>d) </a:t>
            </a:r>
            <a:r>
              <a:rPr lang="en-US" sz="1100" dirty="0"/>
              <a:t>BIC comparison of all models (</a:t>
            </a:r>
            <a:r>
              <a:rPr lang="en-US" sz="1100" dirty="0" err="1"/>
              <a:t>softmax</a:t>
            </a:r>
            <a:r>
              <a:rPr lang="en-US" sz="1100" dirty="0"/>
              <a:t> model is better than different choice policies and learning rules)</a:t>
            </a:r>
          </a:p>
          <a:p>
            <a:r>
              <a:rPr lang="en-US" sz="1100" b="1" dirty="0"/>
              <a:t>e) </a:t>
            </a:r>
            <a:r>
              <a:rPr lang="en-US" sz="1100" dirty="0"/>
              <a:t>Participant leave times vs </a:t>
            </a:r>
            <a:r>
              <a:rPr lang="en-US" sz="1100" b="1" dirty="0"/>
              <a:t>(f) </a:t>
            </a:r>
            <a:r>
              <a:rPr lang="en-US" sz="1100" dirty="0"/>
              <a:t>simulated leave times from best model</a:t>
            </a:r>
          </a:p>
          <a:p>
            <a:r>
              <a:rPr lang="en-US" sz="1100" b="1" dirty="0"/>
              <a:t>g) </a:t>
            </a:r>
            <a:r>
              <a:rPr lang="en-US" sz="1100" dirty="0"/>
              <a:t>Fit beta is significantly lower in rich compared to poor environment  [</a:t>
            </a:r>
            <a:r>
              <a:rPr lang="en-US" sz="1100" i="1" dirty="0"/>
              <a:t>t</a:t>
            </a:r>
            <a:r>
              <a:rPr lang="en-US" sz="1100" dirty="0"/>
              <a:t>(38) = -5.0, </a:t>
            </a:r>
            <a:r>
              <a:rPr lang="en-US" sz="1100" i="1" dirty="0"/>
              <a:t>p</a:t>
            </a:r>
            <a:r>
              <a:rPr lang="en-US" sz="1100" dirty="0"/>
              <a:t> &lt; .001]</a:t>
            </a:r>
          </a:p>
          <a:p>
            <a:r>
              <a:rPr lang="en-US" sz="1100" b="1" dirty="0"/>
              <a:t>h) </a:t>
            </a:r>
            <a:r>
              <a:rPr lang="en-US" sz="1100" dirty="0"/>
              <a:t>Correlation of participant beta fits with participant mean leaving times across environments [</a:t>
            </a:r>
            <a:r>
              <a:rPr lang="en-US" sz="1100" i="1" dirty="0"/>
              <a:t>r</a:t>
            </a:r>
            <a:r>
              <a:rPr lang="en-US" sz="1100" dirty="0"/>
              <a:t>(76) = 0.99, </a:t>
            </a:r>
            <a:r>
              <a:rPr lang="en-US" sz="1100" i="1" dirty="0"/>
              <a:t>p</a:t>
            </a:r>
            <a:r>
              <a:rPr lang="en-US" sz="1100" dirty="0"/>
              <a:t> &lt; .001]</a:t>
            </a:r>
          </a:p>
          <a:p>
            <a:r>
              <a:rPr lang="en-US" sz="1100" b="1" dirty="0" err="1"/>
              <a:t>i</a:t>
            </a:r>
            <a:r>
              <a:rPr lang="en-US" sz="1100" b="1" dirty="0"/>
              <a:t>) </a:t>
            </a:r>
            <a:r>
              <a:rPr lang="en-US" sz="1100" dirty="0"/>
              <a:t>SD of </a:t>
            </a:r>
            <a:r>
              <a:rPr lang="en-US" sz="1100" b="1" dirty="0"/>
              <a:t>participants</a:t>
            </a:r>
            <a:r>
              <a:rPr lang="en-US" sz="1100" dirty="0"/>
              <a:t> was not significantly different across patch, environment or interaction [Patch yield: </a:t>
            </a:r>
            <a:r>
              <a:rPr lang="en-US" sz="1100" i="1" dirty="0"/>
              <a:t>F</a:t>
            </a:r>
            <a:r>
              <a:rPr lang="en-US" sz="1100" dirty="0"/>
              <a:t>(2,228) = 1.77, </a:t>
            </a:r>
            <a:r>
              <a:rPr lang="en-US" sz="1100" i="1" dirty="0"/>
              <a:t>p</a:t>
            </a:r>
            <a:r>
              <a:rPr lang="en-US" sz="1100" dirty="0"/>
              <a:t> = 0.17; Environment: </a:t>
            </a:r>
            <a:r>
              <a:rPr lang="en-US" sz="1100" i="1" dirty="0"/>
              <a:t>F</a:t>
            </a:r>
            <a:r>
              <a:rPr lang="en-US" sz="1100" dirty="0"/>
              <a:t>(1,228) = 1.03, </a:t>
            </a:r>
            <a:r>
              <a:rPr lang="en-US" sz="1100" i="1" dirty="0"/>
              <a:t>p</a:t>
            </a:r>
            <a:r>
              <a:rPr lang="en-US" sz="1100" dirty="0"/>
              <a:t> = 0.31; Interaction: </a:t>
            </a:r>
            <a:r>
              <a:rPr lang="en-US" sz="1100" i="1" dirty="0"/>
              <a:t>F</a:t>
            </a:r>
            <a:r>
              <a:rPr lang="en-US" sz="1100" dirty="0"/>
              <a:t>(2,228) = 0.29, </a:t>
            </a:r>
            <a:r>
              <a:rPr lang="en-US" sz="1100" i="1" dirty="0"/>
              <a:t>p</a:t>
            </a:r>
            <a:r>
              <a:rPr lang="en-US" sz="1100" dirty="0"/>
              <a:t> = 0.75], as model predicts</a:t>
            </a:r>
          </a:p>
          <a:p>
            <a:r>
              <a:rPr lang="en-US" sz="1100" b="1" dirty="0"/>
              <a:t>(j) </a:t>
            </a:r>
            <a:r>
              <a:rPr lang="en-US" sz="1100" dirty="0"/>
              <a:t>Consistent with participants, SD of </a:t>
            </a:r>
            <a:r>
              <a:rPr lang="en-US" sz="1100" b="1" dirty="0"/>
              <a:t>simulated </a:t>
            </a:r>
            <a:r>
              <a:rPr lang="en-US" sz="1100" dirty="0"/>
              <a:t>leaving times was not significantly different across patch, environment or interaction [Patch yield: </a:t>
            </a:r>
            <a:r>
              <a:rPr lang="en-US" sz="1100" i="1" dirty="0"/>
              <a:t>F</a:t>
            </a:r>
            <a:r>
              <a:rPr lang="en-US" sz="1100" dirty="0"/>
              <a:t>(2,228) = 1.13, </a:t>
            </a:r>
            <a:r>
              <a:rPr lang="en-US" sz="1100" i="1" dirty="0"/>
              <a:t>p</a:t>
            </a:r>
            <a:r>
              <a:rPr lang="en-US" sz="1100" dirty="0"/>
              <a:t> = 0.32; Environment: </a:t>
            </a:r>
            <a:r>
              <a:rPr lang="en-US" sz="1100" i="1" dirty="0"/>
              <a:t>F</a:t>
            </a:r>
            <a:r>
              <a:rPr lang="en-US" sz="1100" dirty="0"/>
              <a:t>(1,228) = 0, </a:t>
            </a:r>
            <a:r>
              <a:rPr lang="en-US" sz="1100" i="1" dirty="0"/>
              <a:t>p</a:t>
            </a:r>
            <a:r>
              <a:rPr lang="en-US" sz="1100" dirty="0"/>
              <a:t> = 0.96; Interaction: </a:t>
            </a:r>
            <a:r>
              <a:rPr lang="en-US" sz="1100" i="1" dirty="0"/>
              <a:t>F</a:t>
            </a:r>
            <a:r>
              <a:rPr lang="en-US" sz="1100" dirty="0"/>
              <a:t>(2,228) = 1.55, </a:t>
            </a:r>
            <a:r>
              <a:rPr lang="en-US" sz="1100" i="1" dirty="0"/>
              <a:t>p</a:t>
            </a:r>
            <a:r>
              <a:rPr lang="en-US" sz="1100" dirty="0"/>
              <a:t> = 0.21] </a:t>
            </a:r>
          </a:p>
          <a:p>
            <a:endParaRPr lang="en-US" sz="1100" dirty="0"/>
          </a:p>
        </p:txBody>
      </p:sp>
      <p:sp>
        <p:nvSpPr>
          <p:cNvPr id="88" name="TextBox 87">
            <a:extLst>
              <a:ext uri="{FF2B5EF4-FFF2-40B4-BE49-F238E27FC236}">
                <a16:creationId xmlns:a16="http://schemas.microsoft.com/office/drawing/2014/main" id="{790669AD-18F8-09A4-DD66-6FFFCAFE6BE7}"/>
              </a:ext>
            </a:extLst>
          </p:cNvPr>
          <p:cNvSpPr txBox="1"/>
          <p:nvPr/>
        </p:nvSpPr>
        <p:spPr>
          <a:xfrm>
            <a:off x="340802" y="-32726"/>
            <a:ext cx="4389119" cy="369332"/>
          </a:xfrm>
          <a:prstGeom prst="rect">
            <a:avLst/>
          </a:prstGeom>
          <a:noFill/>
        </p:spPr>
        <p:txBody>
          <a:bodyPr wrap="square" rtlCol="0">
            <a:spAutoFit/>
          </a:bodyPr>
          <a:lstStyle/>
          <a:p>
            <a:r>
              <a:rPr lang="en-US" dirty="0"/>
              <a:t>Figure 2: Le Heron fitting </a:t>
            </a:r>
          </a:p>
        </p:txBody>
      </p:sp>
      <p:sp>
        <p:nvSpPr>
          <p:cNvPr id="21" name="TextBox 20">
            <a:extLst>
              <a:ext uri="{FF2B5EF4-FFF2-40B4-BE49-F238E27FC236}">
                <a16:creationId xmlns:a16="http://schemas.microsoft.com/office/drawing/2014/main" id="{B50B514A-2D8F-A2E0-8BD8-9073B50A4BD2}"/>
              </a:ext>
            </a:extLst>
          </p:cNvPr>
          <p:cNvSpPr txBox="1"/>
          <p:nvPr/>
        </p:nvSpPr>
        <p:spPr>
          <a:xfrm>
            <a:off x="541979" y="222502"/>
            <a:ext cx="295274" cy="369332"/>
          </a:xfrm>
          <a:prstGeom prst="rect">
            <a:avLst/>
          </a:prstGeom>
          <a:noFill/>
        </p:spPr>
        <p:txBody>
          <a:bodyPr wrap="none" rtlCol="0">
            <a:spAutoFit/>
          </a:bodyPr>
          <a:lstStyle/>
          <a:p>
            <a:r>
              <a:rPr lang="en-US" dirty="0"/>
              <a:t>a</a:t>
            </a:r>
          </a:p>
        </p:txBody>
      </p:sp>
      <p:sp>
        <p:nvSpPr>
          <p:cNvPr id="22" name="TextBox 21">
            <a:extLst>
              <a:ext uri="{FF2B5EF4-FFF2-40B4-BE49-F238E27FC236}">
                <a16:creationId xmlns:a16="http://schemas.microsoft.com/office/drawing/2014/main" id="{1A991E31-4539-0E2F-7B47-26765A2F9566}"/>
              </a:ext>
            </a:extLst>
          </p:cNvPr>
          <p:cNvSpPr txBox="1"/>
          <p:nvPr/>
        </p:nvSpPr>
        <p:spPr>
          <a:xfrm>
            <a:off x="2494911" y="312090"/>
            <a:ext cx="306494" cy="369332"/>
          </a:xfrm>
          <a:prstGeom prst="rect">
            <a:avLst/>
          </a:prstGeom>
          <a:noFill/>
        </p:spPr>
        <p:txBody>
          <a:bodyPr wrap="none" rtlCol="0">
            <a:spAutoFit/>
          </a:bodyPr>
          <a:lstStyle/>
          <a:p>
            <a:r>
              <a:rPr lang="en-US" dirty="0"/>
              <a:t>b</a:t>
            </a:r>
          </a:p>
        </p:txBody>
      </p:sp>
      <p:sp>
        <p:nvSpPr>
          <p:cNvPr id="23" name="TextBox 22">
            <a:extLst>
              <a:ext uri="{FF2B5EF4-FFF2-40B4-BE49-F238E27FC236}">
                <a16:creationId xmlns:a16="http://schemas.microsoft.com/office/drawing/2014/main" id="{E59304AD-B36C-41A8-BA77-367E804D9FF3}"/>
              </a:ext>
            </a:extLst>
          </p:cNvPr>
          <p:cNvSpPr txBox="1"/>
          <p:nvPr/>
        </p:nvSpPr>
        <p:spPr>
          <a:xfrm>
            <a:off x="4532023" y="151940"/>
            <a:ext cx="282450" cy="369332"/>
          </a:xfrm>
          <a:prstGeom prst="rect">
            <a:avLst/>
          </a:prstGeom>
          <a:noFill/>
        </p:spPr>
        <p:txBody>
          <a:bodyPr wrap="none" rtlCol="0">
            <a:spAutoFit/>
          </a:bodyPr>
          <a:lstStyle/>
          <a:p>
            <a:r>
              <a:rPr lang="en-US" dirty="0"/>
              <a:t>c</a:t>
            </a:r>
          </a:p>
        </p:txBody>
      </p:sp>
      <p:sp>
        <p:nvSpPr>
          <p:cNvPr id="24" name="TextBox 23">
            <a:extLst>
              <a:ext uri="{FF2B5EF4-FFF2-40B4-BE49-F238E27FC236}">
                <a16:creationId xmlns:a16="http://schemas.microsoft.com/office/drawing/2014/main" id="{35F40932-45E0-3FE4-A8A0-C10517016401}"/>
              </a:ext>
            </a:extLst>
          </p:cNvPr>
          <p:cNvSpPr txBox="1"/>
          <p:nvPr/>
        </p:nvSpPr>
        <p:spPr>
          <a:xfrm>
            <a:off x="473783" y="2147638"/>
            <a:ext cx="306494" cy="369332"/>
          </a:xfrm>
          <a:prstGeom prst="rect">
            <a:avLst/>
          </a:prstGeom>
          <a:noFill/>
        </p:spPr>
        <p:txBody>
          <a:bodyPr wrap="none" rtlCol="0">
            <a:spAutoFit/>
          </a:bodyPr>
          <a:lstStyle/>
          <a:p>
            <a:r>
              <a:rPr lang="en-US" dirty="0"/>
              <a:t>d</a:t>
            </a:r>
          </a:p>
        </p:txBody>
      </p:sp>
      <p:sp>
        <p:nvSpPr>
          <p:cNvPr id="25" name="TextBox 24">
            <a:extLst>
              <a:ext uri="{FF2B5EF4-FFF2-40B4-BE49-F238E27FC236}">
                <a16:creationId xmlns:a16="http://schemas.microsoft.com/office/drawing/2014/main" id="{B10C5A7C-74EC-1E6B-7B6D-E7EAE255EB8A}"/>
              </a:ext>
            </a:extLst>
          </p:cNvPr>
          <p:cNvSpPr txBox="1"/>
          <p:nvPr/>
        </p:nvSpPr>
        <p:spPr>
          <a:xfrm>
            <a:off x="2637434" y="2215692"/>
            <a:ext cx="300082" cy="369332"/>
          </a:xfrm>
          <a:prstGeom prst="rect">
            <a:avLst/>
          </a:prstGeom>
          <a:noFill/>
        </p:spPr>
        <p:txBody>
          <a:bodyPr wrap="none" rtlCol="0">
            <a:spAutoFit/>
          </a:bodyPr>
          <a:lstStyle/>
          <a:p>
            <a:r>
              <a:rPr lang="en-US" dirty="0"/>
              <a:t>e</a:t>
            </a:r>
          </a:p>
        </p:txBody>
      </p:sp>
      <p:sp>
        <p:nvSpPr>
          <p:cNvPr id="26" name="TextBox 25">
            <a:extLst>
              <a:ext uri="{FF2B5EF4-FFF2-40B4-BE49-F238E27FC236}">
                <a16:creationId xmlns:a16="http://schemas.microsoft.com/office/drawing/2014/main" id="{EC1ECFD3-40FE-93C3-70EC-F11F3A7B428C}"/>
              </a:ext>
            </a:extLst>
          </p:cNvPr>
          <p:cNvSpPr txBox="1"/>
          <p:nvPr/>
        </p:nvSpPr>
        <p:spPr>
          <a:xfrm>
            <a:off x="4729921" y="2213100"/>
            <a:ext cx="255198" cy="369332"/>
          </a:xfrm>
          <a:prstGeom prst="rect">
            <a:avLst/>
          </a:prstGeom>
          <a:noFill/>
        </p:spPr>
        <p:txBody>
          <a:bodyPr wrap="none" rtlCol="0">
            <a:spAutoFit/>
          </a:bodyPr>
          <a:lstStyle/>
          <a:p>
            <a:r>
              <a:rPr lang="en-US" dirty="0"/>
              <a:t>f</a:t>
            </a:r>
          </a:p>
        </p:txBody>
      </p:sp>
      <p:sp>
        <p:nvSpPr>
          <p:cNvPr id="27" name="TextBox 26">
            <a:extLst>
              <a:ext uri="{FF2B5EF4-FFF2-40B4-BE49-F238E27FC236}">
                <a16:creationId xmlns:a16="http://schemas.microsoft.com/office/drawing/2014/main" id="{745854FD-DB30-936D-46FC-B83868798CCE}"/>
              </a:ext>
            </a:extLst>
          </p:cNvPr>
          <p:cNvSpPr txBox="1"/>
          <p:nvPr/>
        </p:nvSpPr>
        <p:spPr>
          <a:xfrm>
            <a:off x="523275" y="4165854"/>
            <a:ext cx="293670" cy="369332"/>
          </a:xfrm>
          <a:prstGeom prst="rect">
            <a:avLst/>
          </a:prstGeom>
          <a:noFill/>
        </p:spPr>
        <p:txBody>
          <a:bodyPr wrap="none" rtlCol="0">
            <a:spAutoFit/>
          </a:bodyPr>
          <a:lstStyle/>
          <a:p>
            <a:r>
              <a:rPr lang="en-US" dirty="0"/>
              <a:t>g</a:t>
            </a:r>
          </a:p>
        </p:txBody>
      </p:sp>
      <p:sp>
        <p:nvSpPr>
          <p:cNvPr id="57" name="TextBox 56">
            <a:extLst>
              <a:ext uri="{FF2B5EF4-FFF2-40B4-BE49-F238E27FC236}">
                <a16:creationId xmlns:a16="http://schemas.microsoft.com/office/drawing/2014/main" id="{F12DA955-B54A-D8E3-CCD5-A87AD1066C86}"/>
              </a:ext>
            </a:extLst>
          </p:cNvPr>
          <p:cNvSpPr txBox="1"/>
          <p:nvPr/>
        </p:nvSpPr>
        <p:spPr>
          <a:xfrm>
            <a:off x="2743878" y="4230124"/>
            <a:ext cx="306494" cy="369332"/>
          </a:xfrm>
          <a:prstGeom prst="rect">
            <a:avLst/>
          </a:prstGeom>
          <a:noFill/>
        </p:spPr>
        <p:txBody>
          <a:bodyPr wrap="none" rtlCol="0">
            <a:spAutoFit/>
          </a:bodyPr>
          <a:lstStyle/>
          <a:p>
            <a:r>
              <a:rPr lang="en-US" dirty="0"/>
              <a:t>h</a:t>
            </a:r>
          </a:p>
        </p:txBody>
      </p:sp>
      <p:sp>
        <p:nvSpPr>
          <p:cNvPr id="58" name="TextBox 57">
            <a:extLst>
              <a:ext uri="{FF2B5EF4-FFF2-40B4-BE49-F238E27FC236}">
                <a16:creationId xmlns:a16="http://schemas.microsoft.com/office/drawing/2014/main" id="{A31C5699-3414-079E-5B56-0DD1E1436BC9}"/>
              </a:ext>
            </a:extLst>
          </p:cNvPr>
          <p:cNvSpPr txBox="1"/>
          <p:nvPr/>
        </p:nvSpPr>
        <p:spPr>
          <a:xfrm>
            <a:off x="340802" y="6255648"/>
            <a:ext cx="237566" cy="369332"/>
          </a:xfrm>
          <a:prstGeom prst="rect">
            <a:avLst/>
          </a:prstGeom>
          <a:noFill/>
        </p:spPr>
        <p:txBody>
          <a:bodyPr wrap="none" rtlCol="0">
            <a:spAutoFit/>
          </a:bodyPr>
          <a:lstStyle/>
          <a:p>
            <a:r>
              <a:rPr lang="en-US" dirty="0" err="1"/>
              <a:t>i</a:t>
            </a:r>
            <a:endParaRPr lang="en-US" dirty="0"/>
          </a:p>
        </p:txBody>
      </p:sp>
      <p:sp>
        <p:nvSpPr>
          <p:cNvPr id="59" name="TextBox 58">
            <a:extLst>
              <a:ext uri="{FF2B5EF4-FFF2-40B4-BE49-F238E27FC236}">
                <a16:creationId xmlns:a16="http://schemas.microsoft.com/office/drawing/2014/main" id="{B93F08DA-4644-454D-5522-86590BC84A11}"/>
              </a:ext>
            </a:extLst>
          </p:cNvPr>
          <p:cNvSpPr txBox="1"/>
          <p:nvPr/>
        </p:nvSpPr>
        <p:spPr>
          <a:xfrm>
            <a:off x="2613958" y="6259220"/>
            <a:ext cx="239168" cy="369332"/>
          </a:xfrm>
          <a:prstGeom prst="rect">
            <a:avLst/>
          </a:prstGeom>
          <a:noFill/>
        </p:spPr>
        <p:txBody>
          <a:bodyPr wrap="none" rtlCol="0">
            <a:spAutoFit/>
          </a:bodyPr>
          <a:lstStyle/>
          <a:p>
            <a:r>
              <a:rPr lang="en-US" dirty="0"/>
              <a:t>j</a:t>
            </a:r>
          </a:p>
        </p:txBody>
      </p:sp>
      <p:sp>
        <p:nvSpPr>
          <p:cNvPr id="60" name="TextBox 59">
            <a:extLst>
              <a:ext uri="{FF2B5EF4-FFF2-40B4-BE49-F238E27FC236}">
                <a16:creationId xmlns:a16="http://schemas.microsoft.com/office/drawing/2014/main" id="{4A0DF9D7-9836-3F2A-3667-BF342CBD1B92}"/>
              </a:ext>
            </a:extLst>
          </p:cNvPr>
          <p:cNvSpPr txBox="1"/>
          <p:nvPr/>
        </p:nvSpPr>
        <p:spPr>
          <a:xfrm>
            <a:off x="1538620" y="4599456"/>
            <a:ext cx="530915" cy="369332"/>
          </a:xfrm>
          <a:prstGeom prst="rect">
            <a:avLst/>
          </a:prstGeom>
          <a:noFill/>
        </p:spPr>
        <p:txBody>
          <a:bodyPr wrap="none" rtlCol="0">
            <a:spAutoFit/>
          </a:bodyPr>
          <a:lstStyle/>
          <a:p>
            <a:r>
              <a:rPr lang="en-US" dirty="0"/>
              <a:t>***</a:t>
            </a:r>
          </a:p>
        </p:txBody>
      </p:sp>
      <p:sp>
        <p:nvSpPr>
          <p:cNvPr id="61" name="TextBox 60">
            <a:extLst>
              <a:ext uri="{FF2B5EF4-FFF2-40B4-BE49-F238E27FC236}">
                <a16:creationId xmlns:a16="http://schemas.microsoft.com/office/drawing/2014/main" id="{B046C600-E33B-5BD2-B557-869934E3C3EF}"/>
              </a:ext>
            </a:extLst>
          </p:cNvPr>
          <p:cNvSpPr txBox="1"/>
          <p:nvPr/>
        </p:nvSpPr>
        <p:spPr>
          <a:xfrm>
            <a:off x="1454301" y="6802060"/>
            <a:ext cx="349776" cy="307777"/>
          </a:xfrm>
          <a:prstGeom prst="rect">
            <a:avLst/>
          </a:prstGeom>
          <a:noFill/>
        </p:spPr>
        <p:txBody>
          <a:bodyPr wrap="none" rtlCol="0">
            <a:spAutoFit/>
          </a:bodyPr>
          <a:lstStyle/>
          <a:p>
            <a:r>
              <a:rPr lang="en-US" sz="1400" dirty="0"/>
              <a:t>ns</a:t>
            </a:r>
            <a:endParaRPr lang="en-US" dirty="0"/>
          </a:p>
        </p:txBody>
      </p:sp>
      <p:sp>
        <p:nvSpPr>
          <p:cNvPr id="62" name="TextBox 61">
            <a:extLst>
              <a:ext uri="{FF2B5EF4-FFF2-40B4-BE49-F238E27FC236}">
                <a16:creationId xmlns:a16="http://schemas.microsoft.com/office/drawing/2014/main" id="{478575A5-391B-FB4A-83CA-B49CF92F272F}"/>
              </a:ext>
            </a:extLst>
          </p:cNvPr>
          <p:cNvSpPr txBox="1"/>
          <p:nvPr/>
        </p:nvSpPr>
        <p:spPr>
          <a:xfrm>
            <a:off x="3643821" y="6686417"/>
            <a:ext cx="349776" cy="307777"/>
          </a:xfrm>
          <a:prstGeom prst="rect">
            <a:avLst/>
          </a:prstGeom>
          <a:noFill/>
        </p:spPr>
        <p:txBody>
          <a:bodyPr wrap="none" rtlCol="0">
            <a:spAutoFit/>
          </a:bodyPr>
          <a:lstStyle/>
          <a:p>
            <a:r>
              <a:rPr lang="en-US" sz="1400" dirty="0"/>
              <a:t>ns</a:t>
            </a:r>
            <a:endParaRPr lang="en-US" dirty="0"/>
          </a:p>
        </p:txBody>
      </p:sp>
    </p:spTree>
    <p:extLst>
      <p:ext uri="{BB962C8B-B14F-4D97-AF65-F5344CB8AC3E}">
        <p14:creationId xmlns:p14="http://schemas.microsoft.com/office/powerpoint/2010/main" val="11862649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Box 87">
            <a:extLst>
              <a:ext uri="{FF2B5EF4-FFF2-40B4-BE49-F238E27FC236}">
                <a16:creationId xmlns:a16="http://schemas.microsoft.com/office/drawing/2014/main" id="{790669AD-18F8-09A4-DD66-6FFFCAFE6BE7}"/>
              </a:ext>
            </a:extLst>
          </p:cNvPr>
          <p:cNvSpPr txBox="1"/>
          <p:nvPr/>
        </p:nvSpPr>
        <p:spPr>
          <a:xfrm>
            <a:off x="340802" y="-32726"/>
            <a:ext cx="4389119" cy="369332"/>
          </a:xfrm>
          <a:prstGeom prst="rect">
            <a:avLst/>
          </a:prstGeom>
          <a:noFill/>
        </p:spPr>
        <p:txBody>
          <a:bodyPr wrap="square" rtlCol="0">
            <a:spAutoFit/>
          </a:bodyPr>
          <a:lstStyle/>
          <a:p>
            <a:r>
              <a:rPr lang="en-US" b="1" dirty="0"/>
              <a:t>Supplementary</a:t>
            </a:r>
            <a:r>
              <a:rPr lang="en-US" dirty="0"/>
              <a:t> Figure 2: Le Heron fitting </a:t>
            </a:r>
          </a:p>
        </p:txBody>
      </p:sp>
      <p:sp>
        <p:nvSpPr>
          <p:cNvPr id="2" name="TextBox 1">
            <a:extLst>
              <a:ext uri="{FF2B5EF4-FFF2-40B4-BE49-F238E27FC236}">
                <a16:creationId xmlns:a16="http://schemas.microsoft.com/office/drawing/2014/main" id="{8959E745-D52C-D627-E308-72711DE7B5D2}"/>
              </a:ext>
            </a:extLst>
          </p:cNvPr>
          <p:cNvSpPr txBox="1"/>
          <p:nvPr/>
        </p:nvSpPr>
        <p:spPr>
          <a:xfrm>
            <a:off x="340802" y="6332293"/>
            <a:ext cx="3133999" cy="369332"/>
          </a:xfrm>
          <a:prstGeom prst="rect">
            <a:avLst/>
          </a:prstGeom>
          <a:noFill/>
        </p:spPr>
        <p:txBody>
          <a:bodyPr wrap="none" rtlCol="0">
            <a:spAutoFit/>
          </a:bodyPr>
          <a:lstStyle/>
          <a:p>
            <a:r>
              <a:rPr lang="en-US" dirty="0"/>
              <a:t>Model recovery matrix – to do  </a:t>
            </a:r>
          </a:p>
        </p:txBody>
      </p:sp>
      <p:sp>
        <p:nvSpPr>
          <p:cNvPr id="4" name="TextBox 3">
            <a:extLst>
              <a:ext uri="{FF2B5EF4-FFF2-40B4-BE49-F238E27FC236}">
                <a16:creationId xmlns:a16="http://schemas.microsoft.com/office/drawing/2014/main" id="{66462979-B6DA-0E43-C4CB-604BAB876E7F}"/>
              </a:ext>
            </a:extLst>
          </p:cNvPr>
          <p:cNvSpPr txBox="1"/>
          <p:nvPr/>
        </p:nvSpPr>
        <p:spPr>
          <a:xfrm>
            <a:off x="214686" y="1828800"/>
            <a:ext cx="5327677" cy="369332"/>
          </a:xfrm>
          <a:prstGeom prst="rect">
            <a:avLst/>
          </a:prstGeom>
          <a:noFill/>
        </p:spPr>
        <p:txBody>
          <a:bodyPr wrap="none" rtlCol="0">
            <a:spAutoFit/>
          </a:bodyPr>
          <a:lstStyle/>
          <a:p>
            <a:r>
              <a:rPr lang="en-US" dirty="0"/>
              <a:t>Parameter recovery for winning models (each dataset) </a:t>
            </a:r>
          </a:p>
        </p:txBody>
      </p:sp>
      <p:graphicFrame>
        <p:nvGraphicFramePr>
          <p:cNvPr id="5" name="Table 4">
            <a:extLst>
              <a:ext uri="{FF2B5EF4-FFF2-40B4-BE49-F238E27FC236}">
                <a16:creationId xmlns:a16="http://schemas.microsoft.com/office/drawing/2014/main" id="{83CFF4BC-A50A-B012-0E33-A4B68A45EA04}"/>
              </a:ext>
            </a:extLst>
          </p:cNvPr>
          <p:cNvGraphicFramePr>
            <a:graphicFrameLocks noGrp="1"/>
          </p:cNvGraphicFramePr>
          <p:nvPr>
            <p:extLst>
              <p:ext uri="{D42A27DB-BD31-4B8C-83A1-F6EECF244321}">
                <p14:modId xmlns:p14="http://schemas.microsoft.com/office/powerpoint/2010/main" val="3790407011"/>
              </p:ext>
            </p:extLst>
          </p:nvPr>
        </p:nvGraphicFramePr>
        <p:xfrm>
          <a:off x="951719" y="2674326"/>
          <a:ext cx="3632201" cy="2032000"/>
        </p:xfrm>
        <a:graphic>
          <a:graphicData uri="http://schemas.openxmlformats.org/drawingml/2006/table">
            <a:tbl>
              <a:tblPr>
                <a:tableStyleId>{5C22544A-7EE6-4342-B048-85BDC9FD1C3A}</a:tableStyleId>
              </a:tblPr>
              <a:tblGrid>
                <a:gridCol w="1152677">
                  <a:extLst>
                    <a:ext uri="{9D8B030D-6E8A-4147-A177-3AD203B41FA5}">
                      <a16:colId xmlns:a16="http://schemas.microsoft.com/office/drawing/2014/main" val="2619168398"/>
                    </a:ext>
                  </a:extLst>
                </a:gridCol>
                <a:gridCol w="826508">
                  <a:extLst>
                    <a:ext uri="{9D8B030D-6E8A-4147-A177-3AD203B41FA5}">
                      <a16:colId xmlns:a16="http://schemas.microsoft.com/office/drawing/2014/main" val="1400378939"/>
                    </a:ext>
                  </a:extLst>
                </a:gridCol>
                <a:gridCol w="826508">
                  <a:extLst>
                    <a:ext uri="{9D8B030D-6E8A-4147-A177-3AD203B41FA5}">
                      <a16:colId xmlns:a16="http://schemas.microsoft.com/office/drawing/2014/main" val="2661850309"/>
                    </a:ext>
                  </a:extLst>
                </a:gridCol>
                <a:gridCol w="826508">
                  <a:extLst>
                    <a:ext uri="{9D8B030D-6E8A-4147-A177-3AD203B41FA5}">
                      <a16:colId xmlns:a16="http://schemas.microsoft.com/office/drawing/2014/main" val="1026345803"/>
                    </a:ext>
                  </a:extLst>
                </a:gridCol>
              </a:tblGrid>
              <a:tr h="203200">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Beta</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Alpha rho</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GB" sz="1200" u="none" strike="noStrike">
                          <a:effectLst/>
                        </a:rPr>
                        <a:t>Lambda</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376695869"/>
                  </a:ext>
                </a:extLst>
              </a:tr>
              <a:tr h="203200">
                <a:tc>
                  <a:txBody>
                    <a:bodyPr/>
                    <a:lstStyle/>
                    <a:p>
                      <a:pPr algn="l" fontAlgn="b"/>
                      <a:r>
                        <a:rPr lang="en-GB" sz="1200" u="none" strike="noStrike">
                          <a:effectLst/>
                        </a:rPr>
                        <a:t>M1 LeHeron rich</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0.996</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995964230"/>
                  </a:ext>
                </a:extLst>
              </a:tr>
              <a:tr h="203200">
                <a:tc>
                  <a:txBody>
                    <a:bodyPr/>
                    <a:lstStyle/>
                    <a:p>
                      <a:pPr algn="l" fontAlgn="b"/>
                      <a:r>
                        <a:rPr lang="en-GB" sz="1200" u="none" strike="noStrike">
                          <a:effectLst/>
                        </a:rPr>
                        <a:t>M1 LeHeron poor</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0.995</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202698368"/>
                  </a:ext>
                </a:extLst>
              </a:tr>
              <a:tr h="203200">
                <a:tc>
                  <a:txBody>
                    <a:bodyPr/>
                    <a:lstStyle/>
                    <a:p>
                      <a:pPr algn="l" fontAlgn="b"/>
                      <a:r>
                        <a:rPr lang="en-GB" sz="1200" u="none" strike="noStrike">
                          <a:effectLst/>
                        </a:rPr>
                        <a:t>M5 CH rich</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0.926</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0.927</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8093686"/>
                  </a:ext>
                </a:extLst>
              </a:tr>
              <a:tr h="203200">
                <a:tc>
                  <a:txBody>
                    <a:bodyPr/>
                    <a:lstStyle/>
                    <a:p>
                      <a:pPr algn="l" fontAlgn="b"/>
                      <a:r>
                        <a:rPr lang="en-GB" sz="1200" u="none" strike="noStrike">
                          <a:effectLst/>
                        </a:rPr>
                        <a:t>M5 CH poor</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0.707</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0.97</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062195576"/>
                  </a:ext>
                </a:extLst>
              </a:tr>
              <a:tr h="203200">
                <a:tc>
                  <a:txBody>
                    <a:bodyPr/>
                    <a:lstStyle/>
                    <a:p>
                      <a:pPr algn="l" fontAlgn="b"/>
                      <a:r>
                        <a:rPr lang="en-GB" sz="1200" u="none" strike="noStrike">
                          <a:effectLst/>
                        </a:rPr>
                        <a:t>M5 Kane rich</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0.872</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0.964</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801366203"/>
                  </a:ext>
                </a:extLst>
              </a:tr>
              <a:tr h="203200">
                <a:tc>
                  <a:txBody>
                    <a:bodyPr/>
                    <a:lstStyle/>
                    <a:p>
                      <a:pPr algn="l" fontAlgn="b"/>
                      <a:r>
                        <a:rPr lang="en-GB" sz="1200" u="none" strike="noStrike">
                          <a:effectLst/>
                        </a:rPr>
                        <a:t>M5 Kane poor</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0.941</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0.929</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55944797"/>
                  </a:ext>
                </a:extLst>
              </a:tr>
              <a:tr h="203200">
                <a:tc>
                  <a:txBody>
                    <a:bodyPr/>
                    <a:lstStyle/>
                    <a:p>
                      <a:pPr algn="l" fontAlgn="b"/>
                      <a:r>
                        <a:rPr lang="en-GB" sz="1200" u="none" strike="noStrike">
                          <a:effectLst/>
                        </a:rPr>
                        <a:t>M9 LeHeron</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0.961</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396361863"/>
                  </a:ext>
                </a:extLst>
              </a:tr>
              <a:tr h="203200">
                <a:tc>
                  <a:txBody>
                    <a:bodyPr/>
                    <a:lstStyle/>
                    <a:p>
                      <a:pPr algn="l" fontAlgn="b"/>
                      <a:r>
                        <a:rPr lang="en-GB" sz="1200" u="none" strike="noStrike">
                          <a:effectLst/>
                        </a:rPr>
                        <a:t>M9 CH</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a:effectLst/>
                        </a:rPr>
                        <a:t>0.972</a:t>
                      </a:r>
                      <a:endParaRPr lang="en-GB"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802091456"/>
                  </a:ext>
                </a:extLst>
              </a:tr>
              <a:tr h="203200">
                <a:tc>
                  <a:txBody>
                    <a:bodyPr/>
                    <a:lstStyle/>
                    <a:p>
                      <a:pPr algn="l" fontAlgn="b"/>
                      <a:r>
                        <a:rPr lang="en-GB" sz="1200" u="none" strike="noStrike">
                          <a:effectLst/>
                        </a:rPr>
                        <a:t>M9 Kane</a:t>
                      </a:r>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GB" sz="12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GB" sz="1200" u="none" strike="noStrike" dirty="0">
                          <a:effectLst/>
                        </a:rPr>
                        <a:t>0.991</a:t>
                      </a:r>
                      <a:endParaRPr lang="en-GB" sz="12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69306807"/>
                  </a:ext>
                </a:extLst>
              </a:tr>
            </a:tbl>
          </a:graphicData>
        </a:graphic>
      </p:graphicFrame>
      <p:sp>
        <p:nvSpPr>
          <p:cNvPr id="6" name="TextBox 5">
            <a:extLst>
              <a:ext uri="{FF2B5EF4-FFF2-40B4-BE49-F238E27FC236}">
                <a16:creationId xmlns:a16="http://schemas.microsoft.com/office/drawing/2014/main" id="{2EDAB6EE-09A4-809E-CB58-F9D0B4A26B65}"/>
              </a:ext>
            </a:extLst>
          </p:cNvPr>
          <p:cNvSpPr txBox="1"/>
          <p:nvPr/>
        </p:nvSpPr>
        <p:spPr>
          <a:xfrm>
            <a:off x="951719" y="2251563"/>
            <a:ext cx="2418162" cy="369332"/>
          </a:xfrm>
          <a:prstGeom prst="rect">
            <a:avLst/>
          </a:prstGeom>
          <a:noFill/>
        </p:spPr>
        <p:txBody>
          <a:bodyPr wrap="none" rtlCol="0">
            <a:spAutoFit/>
          </a:bodyPr>
          <a:lstStyle/>
          <a:p>
            <a:r>
              <a:rPr lang="en-US" dirty="0"/>
              <a:t>Reporting Pearson’s rho</a:t>
            </a:r>
          </a:p>
        </p:txBody>
      </p:sp>
    </p:spTree>
    <p:extLst>
      <p:ext uri="{BB962C8B-B14F-4D97-AF65-F5344CB8AC3E}">
        <p14:creationId xmlns:p14="http://schemas.microsoft.com/office/powerpoint/2010/main" val="2023782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Graphic 52">
            <a:extLst>
              <a:ext uri="{FF2B5EF4-FFF2-40B4-BE49-F238E27FC236}">
                <a16:creationId xmlns:a16="http://schemas.microsoft.com/office/drawing/2014/main" id="{BB8A616A-962D-1592-8F14-5FE7F070DC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37253" y="6339219"/>
            <a:ext cx="1879600" cy="1879600"/>
          </a:xfrm>
          <a:prstGeom prst="rect">
            <a:avLst/>
          </a:prstGeom>
        </p:spPr>
      </p:pic>
      <p:pic>
        <p:nvPicPr>
          <p:cNvPr id="55" name="Graphic 54">
            <a:extLst>
              <a:ext uri="{FF2B5EF4-FFF2-40B4-BE49-F238E27FC236}">
                <a16:creationId xmlns:a16="http://schemas.microsoft.com/office/drawing/2014/main" id="{073BF4A1-65AC-C6AB-B203-900757B2EB3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971145" y="2443123"/>
            <a:ext cx="1879600" cy="1879600"/>
          </a:xfrm>
          <a:prstGeom prst="rect">
            <a:avLst/>
          </a:prstGeom>
        </p:spPr>
      </p:pic>
      <p:pic>
        <p:nvPicPr>
          <p:cNvPr id="78" name="Graphic 77">
            <a:extLst>
              <a:ext uri="{FF2B5EF4-FFF2-40B4-BE49-F238E27FC236}">
                <a16:creationId xmlns:a16="http://schemas.microsoft.com/office/drawing/2014/main" id="{6229DD97-D3FC-5BD5-CD56-586FA274A91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3072" y="2431976"/>
            <a:ext cx="1879600" cy="1879600"/>
          </a:xfrm>
          <a:prstGeom prst="rect">
            <a:avLst/>
          </a:prstGeom>
        </p:spPr>
      </p:pic>
      <p:pic>
        <p:nvPicPr>
          <p:cNvPr id="84" name="Graphic 83">
            <a:extLst>
              <a:ext uri="{FF2B5EF4-FFF2-40B4-BE49-F238E27FC236}">
                <a16:creationId xmlns:a16="http://schemas.microsoft.com/office/drawing/2014/main" id="{C9ED0C94-6BE8-448A-5544-2C557B94DBC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123097" y="4461468"/>
            <a:ext cx="1879600" cy="1879600"/>
          </a:xfrm>
          <a:prstGeom prst="rect">
            <a:avLst/>
          </a:prstGeom>
        </p:spPr>
      </p:pic>
      <p:pic>
        <p:nvPicPr>
          <p:cNvPr id="86" name="Graphic 85">
            <a:extLst>
              <a:ext uri="{FF2B5EF4-FFF2-40B4-BE49-F238E27FC236}">
                <a16:creationId xmlns:a16="http://schemas.microsoft.com/office/drawing/2014/main" id="{928A0305-B87E-557F-AEDE-88764B946FB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25595" y="4268748"/>
            <a:ext cx="1879600" cy="1879600"/>
          </a:xfrm>
          <a:prstGeom prst="rect">
            <a:avLst/>
          </a:prstGeom>
        </p:spPr>
      </p:pic>
      <p:pic>
        <p:nvPicPr>
          <p:cNvPr id="92" name="Graphic 91">
            <a:extLst>
              <a:ext uri="{FF2B5EF4-FFF2-40B4-BE49-F238E27FC236}">
                <a16:creationId xmlns:a16="http://schemas.microsoft.com/office/drawing/2014/main" id="{651F116C-6A15-82EA-1925-C656E66DB03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2795457" y="6400201"/>
            <a:ext cx="1879600" cy="1879600"/>
          </a:xfrm>
          <a:prstGeom prst="rect">
            <a:avLst/>
          </a:prstGeom>
        </p:spPr>
      </p:pic>
      <p:pic>
        <p:nvPicPr>
          <p:cNvPr id="94" name="Graphic 93">
            <a:extLst>
              <a:ext uri="{FF2B5EF4-FFF2-40B4-BE49-F238E27FC236}">
                <a16:creationId xmlns:a16="http://schemas.microsoft.com/office/drawing/2014/main" id="{41917078-DEC0-A5AE-FA91-5E236389FE4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883526" y="2328474"/>
            <a:ext cx="1879600" cy="1879600"/>
          </a:xfrm>
          <a:prstGeom prst="rect">
            <a:avLst/>
          </a:prstGeom>
        </p:spPr>
      </p:pic>
      <p:sp>
        <p:nvSpPr>
          <p:cNvPr id="88" name="TextBox 87">
            <a:extLst>
              <a:ext uri="{FF2B5EF4-FFF2-40B4-BE49-F238E27FC236}">
                <a16:creationId xmlns:a16="http://schemas.microsoft.com/office/drawing/2014/main" id="{790669AD-18F8-09A4-DD66-6FFFCAFE6BE7}"/>
              </a:ext>
            </a:extLst>
          </p:cNvPr>
          <p:cNvSpPr txBox="1"/>
          <p:nvPr/>
        </p:nvSpPr>
        <p:spPr>
          <a:xfrm>
            <a:off x="340802" y="-32726"/>
            <a:ext cx="4389119" cy="369332"/>
          </a:xfrm>
          <a:prstGeom prst="rect">
            <a:avLst/>
          </a:prstGeom>
          <a:noFill/>
        </p:spPr>
        <p:txBody>
          <a:bodyPr wrap="square" rtlCol="0">
            <a:spAutoFit/>
          </a:bodyPr>
          <a:lstStyle/>
          <a:p>
            <a:r>
              <a:rPr lang="en-US" dirty="0"/>
              <a:t>Figure 3: Contreras-Huerta fitting </a:t>
            </a:r>
          </a:p>
        </p:txBody>
      </p:sp>
      <p:sp>
        <p:nvSpPr>
          <p:cNvPr id="26" name="TextBox 25">
            <a:extLst>
              <a:ext uri="{FF2B5EF4-FFF2-40B4-BE49-F238E27FC236}">
                <a16:creationId xmlns:a16="http://schemas.microsoft.com/office/drawing/2014/main" id="{AC1D8B25-3456-8CFB-8862-3C81B45EF2D8}"/>
              </a:ext>
            </a:extLst>
          </p:cNvPr>
          <p:cNvSpPr txBox="1"/>
          <p:nvPr/>
        </p:nvSpPr>
        <p:spPr>
          <a:xfrm>
            <a:off x="541979" y="297826"/>
            <a:ext cx="295274" cy="369332"/>
          </a:xfrm>
          <a:prstGeom prst="rect">
            <a:avLst/>
          </a:prstGeom>
          <a:noFill/>
        </p:spPr>
        <p:txBody>
          <a:bodyPr wrap="none" rtlCol="0">
            <a:spAutoFit/>
          </a:bodyPr>
          <a:lstStyle/>
          <a:p>
            <a:r>
              <a:rPr lang="en-US" dirty="0"/>
              <a:t>a</a:t>
            </a:r>
          </a:p>
        </p:txBody>
      </p:sp>
      <p:sp>
        <p:nvSpPr>
          <p:cNvPr id="27" name="TextBox 26">
            <a:extLst>
              <a:ext uri="{FF2B5EF4-FFF2-40B4-BE49-F238E27FC236}">
                <a16:creationId xmlns:a16="http://schemas.microsoft.com/office/drawing/2014/main" id="{10EED349-9D2D-6741-E0CA-B0A9FCE296AA}"/>
              </a:ext>
            </a:extLst>
          </p:cNvPr>
          <p:cNvSpPr txBox="1"/>
          <p:nvPr/>
        </p:nvSpPr>
        <p:spPr>
          <a:xfrm>
            <a:off x="2639582" y="297826"/>
            <a:ext cx="306494" cy="369332"/>
          </a:xfrm>
          <a:prstGeom prst="rect">
            <a:avLst/>
          </a:prstGeom>
          <a:noFill/>
        </p:spPr>
        <p:txBody>
          <a:bodyPr wrap="none" rtlCol="0">
            <a:spAutoFit/>
          </a:bodyPr>
          <a:lstStyle/>
          <a:p>
            <a:r>
              <a:rPr lang="en-US" dirty="0"/>
              <a:t>b</a:t>
            </a:r>
          </a:p>
        </p:txBody>
      </p:sp>
      <p:sp>
        <p:nvSpPr>
          <p:cNvPr id="28" name="TextBox 27">
            <a:extLst>
              <a:ext uri="{FF2B5EF4-FFF2-40B4-BE49-F238E27FC236}">
                <a16:creationId xmlns:a16="http://schemas.microsoft.com/office/drawing/2014/main" id="{B67D6920-E582-BEEC-B1D7-4C9036C7A031}"/>
              </a:ext>
            </a:extLst>
          </p:cNvPr>
          <p:cNvSpPr txBox="1"/>
          <p:nvPr/>
        </p:nvSpPr>
        <p:spPr>
          <a:xfrm>
            <a:off x="4641838" y="266815"/>
            <a:ext cx="282450" cy="369332"/>
          </a:xfrm>
          <a:prstGeom prst="rect">
            <a:avLst/>
          </a:prstGeom>
          <a:noFill/>
        </p:spPr>
        <p:txBody>
          <a:bodyPr wrap="none" rtlCol="0">
            <a:spAutoFit/>
          </a:bodyPr>
          <a:lstStyle/>
          <a:p>
            <a:r>
              <a:rPr lang="en-US" dirty="0"/>
              <a:t>c</a:t>
            </a:r>
          </a:p>
        </p:txBody>
      </p:sp>
      <p:sp>
        <p:nvSpPr>
          <p:cNvPr id="29" name="TextBox 28">
            <a:extLst>
              <a:ext uri="{FF2B5EF4-FFF2-40B4-BE49-F238E27FC236}">
                <a16:creationId xmlns:a16="http://schemas.microsoft.com/office/drawing/2014/main" id="{6515A5C0-43AC-F5DA-0C8F-EEA06CEED2E0}"/>
              </a:ext>
            </a:extLst>
          </p:cNvPr>
          <p:cNvSpPr txBox="1"/>
          <p:nvPr/>
        </p:nvSpPr>
        <p:spPr>
          <a:xfrm>
            <a:off x="530759" y="2162101"/>
            <a:ext cx="306494" cy="369332"/>
          </a:xfrm>
          <a:prstGeom prst="rect">
            <a:avLst/>
          </a:prstGeom>
          <a:noFill/>
        </p:spPr>
        <p:txBody>
          <a:bodyPr wrap="none" rtlCol="0">
            <a:spAutoFit/>
          </a:bodyPr>
          <a:lstStyle/>
          <a:p>
            <a:r>
              <a:rPr lang="en-US" dirty="0"/>
              <a:t>d</a:t>
            </a:r>
          </a:p>
        </p:txBody>
      </p:sp>
      <p:sp>
        <p:nvSpPr>
          <p:cNvPr id="30" name="TextBox 29">
            <a:extLst>
              <a:ext uri="{FF2B5EF4-FFF2-40B4-BE49-F238E27FC236}">
                <a16:creationId xmlns:a16="http://schemas.microsoft.com/office/drawing/2014/main" id="{CD6FCF2B-E4D6-3E79-B770-6E51BD56D367}"/>
              </a:ext>
            </a:extLst>
          </p:cNvPr>
          <p:cNvSpPr txBox="1"/>
          <p:nvPr/>
        </p:nvSpPr>
        <p:spPr>
          <a:xfrm>
            <a:off x="2700280" y="2153930"/>
            <a:ext cx="300082" cy="369332"/>
          </a:xfrm>
          <a:prstGeom prst="rect">
            <a:avLst/>
          </a:prstGeom>
          <a:noFill/>
        </p:spPr>
        <p:txBody>
          <a:bodyPr wrap="none" rtlCol="0">
            <a:spAutoFit/>
          </a:bodyPr>
          <a:lstStyle/>
          <a:p>
            <a:r>
              <a:rPr lang="en-US" dirty="0"/>
              <a:t>e</a:t>
            </a:r>
          </a:p>
        </p:txBody>
      </p:sp>
      <p:sp>
        <p:nvSpPr>
          <p:cNvPr id="32" name="TextBox 31">
            <a:extLst>
              <a:ext uri="{FF2B5EF4-FFF2-40B4-BE49-F238E27FC236}">
                <a16:creationId xmlns:a16="http://schemas.microsoft.com/office/drawing/2014/main" id="{4E150E0C-0636-27BA-BFF1-330BD40AC942}"/>
              </a:ext>
            </a:extLst>
          </p:cNvPr>
          <p:cNvSpPr txBox="1"/>
          <p:nvPr/>
        </p:nvSpPr>
        <p:spPr>
          <a:xfrm>
            <a:off x="511084" y="3968891"/>
            <a:ext cx="293670" cy="369332"/>
          </a:xfrm>
          <a:prstGeom prst="rect">
            <a:avLst/>
          </a:prstGeom>
          <a:noFill/>
        </p:spPr>
        <p:txBody>
          <a:bodyPr wrap="none" rtlCol="0">
            <a:spAutoFit/>
          </a:bodyPr>
          <a:lstStyle/>
          <a:p>
            <a:r>
              <a:rPr lang="en-US" dirty="0"/>
              <a:t>g</a:t>
            </a:r>
          </a:p>
        </p:txBody>
      </p:sp>
      <p:sp>
        <p:nvSpPr>
          <p:cNvPr id="35" name="TextBox 34">
            <a:extLst>
              <a:ext uri="{FF2B5EF4-FFF2-40B4-BE49-F238E27FC236}">
                <a16:creationId xmlns:a16="http://schemas.microsoft.com/office/drawing/2014/main" id="{C9483B18-9BAB-3E02-9546-7945910CD7A0}"/>
              </a:ext>
            </a:extLst>
          </p:cNvPr>
          <p:cNvSpPr txBox="1"/>
          <p:nvPr/>
        </p:nvSpPr>
        <p:spPr>
          <a:xfrm>
            <a:off x="79375" y="8433504"/>
            <a:ext cx="6699250" cy="2123658"/>
          </a:xfrm>
          <a:prstGeom prst="rect">
            <a:avLst/>
          </a:prstGeom>
          <a:noFill/>
        </p:spPr>
        <p:txBody>
          <a:bodyPr wrap="square" rtlCol="0">
            <a:spAutoFit/>
          </a:bodyPr>
          <a:lstStyle/>
          <a:p>
            <a:r>
              <a:rPr lang="en-US" sz="1100" b="1" dirty="0"/>
              <a:t>a) </a:t>
            </a:r>
            <a:r>
              <a:rPr lang="en-US" sz="1100" dirty="0"/>
              <a:t>Patch reward rate function for this task, with optimal </a:t>
            </a:r>
            <a:r>
              <a:rPr lang="en-US" sz="1100" dirty="0" err="1"/>
              <a:t>AvgRR</a:t>
            </a:r>
            <a:r>
              <a:rPr lang="en-US" sz="1100" dirty="0"/>
              <a:t> overlaid</a:t>
            </a:r>
          </a:p>
          <a:p>
            <a:r>
              <a:rPr lang="en-US" sz="1100" b="1" dirty="0"/>
              <a:t>b) </a:t>
            </a:r>
            <a:r>
              <a:rPr lang="en-US" sz="1100" dirty="0"/>
              <a:t>Specific model predictions for this task – expected LT – with participant expected betas overlaid</a:t>
            </a:r>
          </a:p>
          <a:p>
            <a:r>
              <a:rPr lang="en-US" sz="1100" b="1" dirty="0"/>
              <a:t>c) </a:t>
            </a:r>
            <a:r>
              <a:rPr lang="en-US" sz="1100" dirty="0"/>
              <a:t>Specific model predictions for this task – expected SD – with participant expected betas overlaid</a:t>
            </a:r>
          </a:p>
          <a:p>
            <a:r>
              <a:rPr lang="en-US" sz="1100" b="1" dirty="0"/>
              <a:t>d) </a:t>
            </a:r>
            <a:r>
              <a:rPr lang="en-US" sz="1100" dirty="0"/>
              <a:t>BIC comparison of all models (</a:t>
            </a:r>
            <a:r>
              <a:rPr lang="en-US" sz="1100" dirty="0" err="1"/>
              <a:t>softmax+avgRR</a:t>
            </a:r>
            <a:r>
              <a:rPr lang="en-US" sz="1100" dirty="0"/>
              <a:t> learning model is best)</a:t>
            </a:r>
          </a:p>
          <a:p>
            <a:r>
              <a:rPr lang="en-US" sz="1100" b="1" dirty="0"/>
              <a:t>e) </a:t>
            </a:r>
            <a:r>
              <a:rPr lang="en-US" sz="1100" dirty="0"/>
              <a:t>Participant leave times vs </a:t>
            </a:r>
            <a:r>
              <a:rPr lang="en-US" sz="1100" b="1" dirty="0"/>
              <a:t>(f) </a:t>
            </a:r>
            <a:r>
              <a:rPr lang="en-US" sz="1100" dirty="0"/>
              <a:t>simulated leave times from best model</a:t>
            </a:r>
          </a:p>
          <a:p>
            <a:r>
              <a:rPr lang="en-US" sz="1100" b="1" dirty="0"/>
              <a:t>g) </a:t>
            </a:r>
            <a:r>
              <a:rPr lang="en-US" sz="1100" dirty="0"/>
              <a:t>Fit beta significantly lower in rich compared to poor environment  [</a:t>
            </a:r>
            <a:r>
              <a:rPr lang="en-US" sz="1100" i="1" dirty="0"/>
              <a:t>t</a:t>
            </a:r>
            <a:r>
              <a:rPr lang="en-US" sz="1100" dirty="0"/>
              <a:t>(28) = -3.12, </a:t>
            </a:r>
            <a:r>
              <a:rPr lang="en-US" sz="1100" i="1" dirty="0"/>
              <a:t>p</a:t>
            </a:r>
            <a:r>
              <a:rPr lang="en-US" sz="1100" dirty="0"/>
              <a:t> = 0.004]</a:t>
            </a:r>
          </a:p>
          <a:p>
            <a:r>
              <a:rPr lang="en-US" sz="1100" b="1" dirty="0"/>
              <a:t>h) </a:t>
            </a:r>
            <a:r>
              <a:rPr lang="en-US" sz="1100" dirty="0"/>
              <a:t>Correlation of participant beta fits with participant mean leaving times  [</a:t>
            </a:r>
            <a:r>
              <a:rPr lang="en-US" sz="1100" i="1" dirty="0"/>
              <a:t>r</a:t>
            </a:r>
            <a:r>
              <a:rPr lang="en-US" sz="1100" dirty="0"/>
              <a:t>(56) = 0.64, </a:t>
            </a:r>
            <a:r>
              <a:rPr lang="en-US" sz="1100" i="1" dirty="0"/>
              <a:t>p</a:t>
            </a:r>
            <a:r>
              <a:rPr lang="en-US" sz="1100" dirty="0"/>
              <a:t> &lt; .001]</a:t>
            </a:r>
          </a:p>
          <a:p>
            <a:r>
              <a:rPr lang="en-US" sz="1100" b="1" dirty="0" err="1"/>
              <a:t>i</a:t>
            </a:r>
            <a:r>
              <a:rPr lang="en-US" sz="1100" b="1" dirty="0"/>
              <a:t>) </a:t>
            </a:r>
            <a:r>
              <a:rPr lang="en-US" sz="1100" dirty="0"/>
              <a:t>SD of </a:t>
            </a:r>
            <a:r>
              <a:rPr lang="en-US" sz="1100" b="1" dirty="0"/>
              <a:t>participants</a:t>
            </a:r>
            <a:r>
              <a:rPr lang="en-US" sz="1100" dirty="0"/>
              <a:t> was not significantly different across patch, environment or interaction [Patch yield: </a:t>
            </a:r>
            <a:r>
              <a:rPr lang="en-US" sz="1100" i="1" dirty="0"/>
              <a:t>F</a:t>
            </a:r>
            <a:r>
              <a:rPr lang="en-US" sz="1100" dirty="0"/>
              <a:t>(1,112) = 0.53, </a:t>
            </a:r>
            <a:r>
              <a:rPr lang="en-US" sz="1100" i="1" dirty="0"/>
              <a:t>p</a:t>
            </a:r>
            <a:r>
              <a:rPr lang="en-US" sz="1100" dirty="0"/>
              <a:t> = 0.47; Environment: </a:t>
            </a:r>
            <a:r>
              <a:rPr lang="en-US" sz="1100" i="1" dirty="0"/>
              <a:t>F</a:t>
            </a:r>
            <a:r>
              <a:rPr lang="en-US" sz="1100" dirty="0"/>
              <a:t>(1,112) = 2.39, </a:t>
            </a:r>
            <a:r>
              <a:rPr lang="en-US" sz="1100" i="1" dirty="0"/>
              <a:t>p</a:t>
            </a:r>
            <a:r>
              <a:rPr lang="en-US" sz="1100" dirty="0"/>
              <a:t> = 0.13; Interaction: </a:t>
            </a:r>
            <a:r>
              <a:rPr lang="en-US" sz="1100" i="1" dirty="0"/>
              <a:t>F</a:t>
            </a:r>
            <a:r>
              <a:rPr lang="en-US" sz="1100" dirty="0"/>
              <a:t>(1,112) = 0.01, </a:t>
            </a:r>
            <a:r>
              <a:rPr lang="en-US" sz="1100" i="1" dirty="0"/>
              <a:t>p</a:t>
            </a:r>
            <a:r>
              <a:rPr lang="en-US" sz="1100" dirty="0"/>
              <a:t> = 0.91], as model predicts</a:t>
            </a:r>
          </a:p>
          <a:p>
            <a:r>
              <a:rPr lang="en-US" sz="1100" b="1" dirty="0"/>
              <a:t>(j) </a:t>
            </a:r>
            <a:r>
              <a:rPr lang="en-US" sz="1100" dirty="0"/>
              <a:t>Consistent with participants, SD of </a:t>
            </a:r>
            <a:r>
              <a:rPr lang="en-US" sz="1100" b="1" dirty="0"/>
              <a:t>simulated </a:t>
            </a:r>
            <a:r>
              <a:rPr lang="en-US" sz="1100" dirty="0"/>
              <a:t>leaving times was not significantly different across patch, environment or interaction [Patch yield: </a:t>
            </a:r>
            <a:r>
              <a:rPr lang="en-US" sz="1100" i="1" dirty="0"/>
              <a:t>F</a:t>
            </a:r>
            <a:r>
              <a:rPr lang="en-US" sz="1100" dirty="0"/>
              <a:t>(1,112) = 0.83, </a:t>
            </a:r>
            <a:r>
              <a:rPr lang="en-US" sz="1100" i="1" dirty="0"/>
              <a:t>p</a:t>
            </a:r>
            <a:r>
              <a:rPr lang="en-US" sz="1100" dirty="0"/>
              <a:t> = 0.37; Environment: </a:t>
            </a:r>
            <a:r>
              <a:rPr lang="en-US" sz="1100" i="1" dirty="0"/>
              <a:t>F</a:t>
            </a:r>
            <a:r>
              <a:rPr lang="en-US" sz="1100" dirty="0"/>
              <a:t>(1,112) = 1.41, </a:t>
            </a:r>
            <a:r>
              <a:rPr lang="en-US" sz="1100" i="1" dirty="0"/>
              <a:t>p</a:t>
            </a:r>
            <a:r>
              <a:rPr lang="en-US" sz="1100" dirty="0"/>
              <a:t> = 0.24; Interaction: </a:t>
            </a:r>
            <a:r>
              <a:rPr lang="en-US" sz="1100" i="1" dirty="0"/>
              <a:t>F</a:t>
            </a:r>
            <a:r>
              <a:rPr lang="en-US" sz="1100" dirty="0"/>
              <a:t>(1,112) = 1.64, </a:t>
            </a:r>
            <a:r>
              <a:rPr lang="en-US" sz="1100" i="1" dirty="0"/>
              <a:t>p</a:t>
            </a:r>
            <a:r>
              <a:rPr lang="en-US" sz="1100" dirty="0"/>
              <a:t> = 0.20] </a:t>
            </a:r>
          </a:p>
        </p:txBody>
      </p:sp>
      <p:pic>
        <p:nvPicPr>
          <p:cNvPr id="39" name="Graphic 38">
            <a:extLst>
              <a:ext uri="{FF2B5EF4-FFF2-40B4-BE49-F238E27FC236}">
                <a16:creationId xmlns:a16="http://schemas.microsoft.com/office/drawing/2014/main" id="{83F0FA93-AC7C-F316-BE70-E6A131AB0B69}"/>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868805" y="407467"/>
            <a:ext cx="1879600" cy="1879600"/>
          </a:xfrm>
          <a:prstGeom prst="rect">
            <a:avLst/>
          </a:prstGeom>
        </p:spPr>
      </p:pic>
      <p:pic>
        <p:nvPicPr>
          <p:cNvPr id="41" name="Graphic 40">
            <a:extLst>
              <a:ext uri="{FF2B5EF4-FFF2-40B4-BE49-F238E27FC236}">
                <a16:creationId xmlns:a16="http://schemas.microsoft.com/office/drawing/2014/main" id="{CD924BF8-B152-EB48-09F2-73CEAC86387E}"/>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978400" y="336606"/>
            <a:ext cx="1879600" cy="1879600"/>
          </a:xfrm>
          <a:prstGeom prst="rect">
            <a:avLst/>
          </a:prstGeom>
        </p:spPr>
      </p:pic>
      <p:pic>
        <p:nvPicPr>
          <p:cNvPr id="47" name="Graphic 46">
            <a:extLst>
              <a:ext uri="{FF2B5EF4-FFF2-40B4-BE49-F238E27FC236}">
                <a16:creationId xmlns:a16="http://schemas.microsoft.com/office/drawing/2014/main" id="{F9AB2BFB-A75D-F8A8-82A8-4127E0B7F50F}"/>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745334" y="363259"/>
            <a:ext cx="1879600" cy="1879600"/>
          </a:xfrm>
          <a:prstGeom prst="rect">
            <a:avLst/>
          </a:prstGeom>
        </p:spPr>
      </p:pic>
      <p:sp>
        <p:nvSpPr>
          <p:cNvPr id="56" name="TextBox 55">
            <a:extLst>
              <a:ext uri="{FF2B5EF4-FFF2-40B4-BE49-F238E27FC236}">
                <a16:creationId xmlns:a16="http://schemas.microsoft.com/office/drawing/2014/main" id="{C7196864-C4BD-B737-F4EA-2D5D179687FB}"/>
              </a:ext>
            </a:extLst>
          </p:cNvPr>
          <p:cNvSpPr txBox="1"/>
          <p:nvPr/>
        </p:nvSpPr>
        <p:spPr>
          <a:xfrm>
            <a:off x="4747499" y="2214371"/>
            <a:ext cx="255198" cy="369332"/>
          </a:xfrm>
          <a:prstGeom prst="rect">
            <a:avLst/>
          </a:prstGeom>
          <a:noFill/>
        </p:spPr>
        <p:txBody>
          <a:bodyPr wrap="none" rtlCol="0">
            <a:spAutoFit/>
          </a:bodyPr>
          <a:lstStyle/>
          <a:p>
            <a:r>
              <a:rPr lang="en-US" dirty="0"/>
              <a:t>f</a:t>
            </a:r>
          </a:p>
        </p:txBody>
      </p:sp>
      <p:sp>
        <p:nvSpPr>
          <p:cNvPr id="57" name="TextBox 56">
            <a:extLst>
              <a:ext uri="{FF2B5EF4-FFF2-40B4-BE49-F238E27FC236}">
                <a16:creationId xmlns:a16="http://schemas.microsoft.com/office/drawing/2014/main" id="{0655A7AC-A36D-A1A4-6641-E4699DB05CD5}"/>
              </a:ext>
            </a:extLst>
          </p:cNvPr>
          <p:cNvSpPr txBox="1"/>
          <p:nvPr/>
        </p:nvSpPr>
        <p:spPr>
          <a:xfrm>
            <a:off x="2615809" y="4209436"/>
            <a:ext cx="306494" cy="369332"/>
          </a:xfrm>
          <a:prstGeom prst="rect">
            <a:avLst/>
          </a:prstGeom>
          <a:noFill/>
        </p:spPr>
        <p:txBody>
          <a:bodyPr wrap="none" rtlCol="0">
            <a:spAutoFit/>
          </a:bodyPr>
          <a:lstStyle/>
          <a:p>
            <a:r>
              <a:rPr lang="en-US" dirty="0"/>
              <a:t>h</a:t>
            </a:r>
          </a:p>
        </p:txBody>
      </p:sp>
      <p:sp>
        <p:nvSpPr>
          <p:cNvPr id="58" name="TextBox 57">
            <a:extLst>
              <a:ext uri="{FF2B5EF4-FFF2-40B4-BE49-F238E27FC236}">
                <a16:creationId xmlns:a16="http://schemas.microsoft.com/office/drawing/2014/main" id="{B77E6725-712E-7B0E-7037-37898DAE3396}"/>
              </a:ext>
            </a:extLst>
          </p:cNvPr>
          <p:cNvSpPr txBox="1"/>
          <p:nvPr/>
        </p:nvSpPr>
        <p:spPr>
          <a:xfrm>
            <a:off x="443125" y="6236528"/>
            <a:ext cx="237566" cy="369332"/>
          </a:xfrm>
          <a:prstGeom prst="rect">
            <a:avLst/>
          </a:prstGeom>
          <a:noFill/>
        </p:spPr>
        <p:txBody>
          <a:bodyPr wrap="none" rtlCol="0">
            <a:spAutoFit/>
          </a:bodyPr>
          <a:lstStyle/>
          <a:p>
            <a:r>
              <a:rPr lang="en-US" dirty="0" err="1"/>
              <a:t>i</a:t>
            </a:r>
            <a:endParaRPr lang="en-US" dirty="0"/>
          </a:p>
        </p:txBody>
      </p:sp>
      <p:sp>
        <p:nvSpPr>
          <p:cNvPr id="59" name="TextBox 58">
            <a:extLst>
              <a:ext uri="{FF2B5EF4-FFF2-40B4-BE49-F238E27FC236}">
                <a16:creationId xmlns:a16="http://schemas.microsoft.com/office/drawing/2014/main" id="{DE1B824C-570B-1450-1B69-94FC25077550}"/>
              </a:ext>
            </a:extLst>
          </p:cNvPr>
          <p:cNvSpPr txBox="1"/>
          <p:nvPr/>
        </p:nvSpPr>
        <p:spPr>
          <a:xfrm>
            <a:off x="2505195" y="6075635"/>
            <a:ext cx="239168" cy="369332"/>
          </a:xfrm>
          <a:prstGeom prst="rect">
            <a:avLst/>
          </a:prstGeom>
          <a:noFill/>
        </p:spPr>
        <p:txBody>
          <a:bodyPr wrap="none" rtlCol="0">
            <a:spAutoFit/>
          </a:bodyPr>
          <a:lstStyle/>
          <a:p>
            <a:r>
              <a:rPr lang="en-US" dirty="0"/>
              <a:t>j</a:t>
            </a:r>
          </a:p>
        </p:txBody>
      </p:sp>
      <p:sp>
        <p:nvSpPr>
          <p:cNvPr id="60" name="TextBox 59">
            <a:extLst>
              <a:ext uri="{FF2B5EF4-FFF2-40B4-BE49-F238E27FC236}">
                <a16:creationId xmlns:a16="http://schemas.microsoft.com/office/drawing/2014/main" id="{816A1363-C7E9-D88C-9884-B6ACC19E4214}"/>
              </a:ext>
            </a:extLst>
          </p:cNvPr>
          <p:cNvSpPr txBox="1"/>
          <p:nvPr/>
        </p:nvSpPr>
        <p:spPr>
          <a:xfrm>
            <a:off x="1419676" y="4599721"/>
            <a:ext cx="415498" cy="369332"/>
          </a:xfrm>
          <a:prstGeom prst="rect">
            <a:avLst/>
          </a:prstGeom>
          <a:noFill/>
        </p:spPr>
        <p:txBody>
          <a:bodyPr wrap="none" rtlCol="0">
            <a:spAutoFit/>
          </a:bodyPr>
          <a:lstStyle/>
          <a:p>
            <a:r>
              <a:rPr lang="en-US" dirty="0"/>
              <a:t>**</a:t>
            </a:r>
          </a:p>
        </p:txBody>
      </p:sp>
      <p:sp>
        <p:nvSpPr>
          <p:cNvPr id="61" name="TextBox 60">
            <a:extLst>
              <a:ext uri="{FF2B5EF4-FFF2-40B4-BE49-F238E27FC236}">
                <a16:creationId xmlns:a16="http://schemas.microsoft.com/office/drawing/2014/main" id="{63D3C839-7F18-FB86-86CD-421588ADCF9C}"/>
              </a:ext>
            </a:extLst>
          </p:cNvPr>
          <p:cNvSpPr txBox="1"/>
          <p:nvPr/>
        </p:nvSpPr>
        <p:spPr>
          <a:xfrm>
            <a:off x="1624861" y="6745344"/>
            <a:ext cx="325730" cy="276999"/>
          </a:xfrm>
          <a:prstGeom prst="rect">
            <a:avLst/>
          </a:prstGeom>
          <a:noFill/>
        </p:spPr>
        <p:txBody>
          <a:bodyPr wrap="none" rtlCol="0">
            <a:spAutoFit/>
          </a:bodyPr>
          <a:lstStyle/>
          <a:p>
            <a:r>
              <a:rPr lang="en-US" sz="1200" dirty="0"/>
              <a:t>ns</a:t>
            </a:r>
            <a:endParaRPr lang="en-US" dirty="0"/>
          </a:p>
        </p:txBody>
      </p:sp>
      <p:sp>
        <p:nvSpPr>
          <p:cNvPr id="62" name="TextBox 61">
            <a:extLst>
              <a:ext uri="{FF2B5EF4-FFF2-40B4-BE49-F238E27FC236}">
                <a16:creationId xmlns:a16="http://schemas.microsoft.com/office/drawing/2014/main" id="{BA86BEB0-3403-2F37-4178-E0EE43F59D69}"/>
              </a:ext>
            </a:extLst>
          </p:cNvPr>
          <p:cNvSpPr txBox="1"/>
          <p:nvPr/>
        </p:nvSpPr>
        <p:spPr>
          <a:xfrm>
            <a:off x="3572392" y="6721933"/>
            <a:ext cx="325730" cy="276999"/>
          </a:xfrm>
          <a:prstGeom prst="rect">
            <a:avLst/>
          </a:prstGeom>
          <a:noFill/>
        </p:spPr>
        <p:txBody>
          <a:bodyPr wrap="none" rtlCol="0">
            <a:spAutoFit/>
          </a:bodyPr>
          <a:lstStyle/>
          <a:p>
            <a:r>
              <a:rPr lang="en-US" sz="1200" dirty="0"/>
              <a:t>ns</a:t>
            </a:r>
          </a:p>
        </p:txBody>
      </p:sp>
    </p:spTree>
    <p:extLst>
      <p:ext uri="{BB962C8B-B14F-4D97-AF65-F5344CB8AC3E}">
        <p14:creationId xmlns:p14="http://schemas.microsoft.com/office/powerpoint/2010/main" val="2096831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83DA39C-89B7-599E-1AE8-E130083E8A69}"/>
              </a:ext>
            </a:extLst>
          </p:cNvPr>
          <p:cNvSpPr txBox="1"/>
          <p:nvPr/>
        </p:nvSpPr>
        <p:spPr>
          <a:xfrm>
            <a:off x="340802" y="-32726"/>
            <a:ext cx="5972534" cy="369332"/>
          </a:xfrm>
          <a:prstGeom prst="rect">
            <a:avLst/>
          </a:prstGeom>
          <a:noFill/>
        </p:spPr>
        <p:txBody>
          <a:bodyPr wrap="square" rtlCol="0">
            <a:spAutoFit/>
          </a:bodyPr>
          <a:lstStyle/>
          <a:p>
            <a:r>
              <a:rPr lang="en-US" b="1" dirty="0"/>
              <a:t>Supplementary </a:t>
            </a:r>
            <a:r>
              <a:rPr lang="en-US" dirty="0"/>
              <a:t>Figure 3: Contreras-Huerta fitting </a:t>
            </a:r>
          </a:p>
        </p:txBody>
      </p:sp>
      <p:sp>
        <p:nvSpPr>
          <p:cNvPr id="9" name="TextBox 8">
            <a:extLst>
              <a:ext uri="{FF2B5EF4-FFF2-40B4-BE49-F238E27FC236}">
                <a16:creationId xmlns:a16="http://schemas.microsoft.com/office/drawing/2014/main" id="{F5491C2C-A297-4659-6FA1-AE157D3B6978}"/>
              </a:ext>
            </a:extLst>
          </p:cNvPr>
          <p:cNvSpPr txBox="1"/>
          <p:nvPr/>
        </p:nvSpPr>
        <p:spPr>
          <a:xfrm>
            <a:off x="636547" y="538480"/>
            <a:ext cx="295274" cy="369332"/>
          </a:xfrm>
          <a:prstGeom prst="rect">
            <a:avLst/>
          </a:prstGeom>
          <a:noFill/>
        </p:spPr>
        <p:txBody>
          <a:bodyPr wrap="none" rtlCol="0">
            <a:spAutoFit/>
          </a:bodyPr>
          <a:lstStyle/>
          <a:p>
            <a:r>
              <a:rPr lang="en-US" dirty="0"/>
              <a:t>a</a:t>
            </a:r>
          </a:p>
        </p:txBody>
      </p:sp>
      <p:sp>
        <p:nvSpPr>
          <p:cNvPr id="10" name="TextBox 9">
            <a:extLst>
              <a:ext uri="{FF2B5EF4-FFF2-40B4-BE49-F238E27FC236}">
                <a16:creationId xmlns:a16="http://schemas.microsoft.com/office/drawing/2014/main" id="{97E130E5-5AAC-F507-C9EA-7A2034612619}"/>
              </a:ext>
            </a:extLst>
          </p:cNvPr>
          <p:cNvSpPr txBox="1"/>
          <p:nvPr/>
        </p:nvSpPr>
        <p:spPr>
          <a:xfrm>
            <a:off x="3035668" y="538480"/>
            <a:ext cx="306494" cy="369332"/>
          </a:xfrm>
          <a:prstGeom prst="rect">
            <a:avLst/>
          </a:prstGeom>
          <a:noFill/>
        </p:spPr>
        <p:txBody>
          <a:bodyPr wrap="none" rtlCol="0">
            <a:spAutoFit/>
          </a:bodyPr>
          <a:lstStyle/>
          <a:p>
            <a:r>
              <a:rPr lang="en-US" dirty="0"/>
              <a:t>b</a:t>
            </a:r>
          </a:p>
        </p:txBody>
      </p:sp>
      <p:pic>
        <p:nvPicPr>
          <p:cNvPr id="16" name="Graphic 15">
            <a:extLst>
              <a:ext uri="{FF2B5EF4-FFF2-40B4-BE49-F238E27FC236}">
                <a16:creationId xmlns:a16="http://schemas.microsoft.com/office/drawing/2014/main" id="{04572299-FFA9-7EC2-9BEC-EF808293CFE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29000" y="723146"/>
            <a:ext cx="1879600" cy="1879600"/>
          </a:xfrm>
          <a:prstGeom prst="rect">
            <a:avLst/>
          </a:prstGeom>
        </p:spPr>
      </p:pic>
      <p:pic>
        <p:nvPicPr>
          <p:cNvPr id="18" name="Graphic 17">
            <a:extLst>
              <a:ext uri="{FF2B5EF4-FFF2-40B4-BE49-F238E27FC236}">
                <a16:creationId xmlns:a16="http://schemas.microsoft.com/office/drawing/2014/main" id="{1602B7E8-849A-E5C4-8457-AAACCCD29989}"/>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1821" y="650020"/>
            <a:ext cx="1879600" cy="1879600"/>
          </a:xfrm>
          <a:prstGeom prst="rect">
            <a:avLst/>
          </a:prstGeom>
        </p:spPr>
      </p:pic>
      <p:sp>
        <p:nvSpPr>
          <p:cNvPr id="20" name="TextBox 19">
            <a:extLst>
              <a:ext uri="{FF2B5EF4-FFF2-40B4-BE49-F238E27FC236}">
                <a16:creationId xmlns:a16="http://schemas.microsoft.com/office/drawing/2014/main" id="{400C9DF0-50ED-9FB3-F810-6426E1522753}"/>
              </a:ext>
            </a:extLst>
          </p:cNvPr>
          <p:cNvSpPr txBox="1"/>
          <p:nvPr/>
        </p:nvSpPr>
        <p:spPr>
          <a:xfrm>
            <a:off x="230846" y="7845417"/>
            <a:ext cx="5972534" cy="1277273"/>
          </a:xfrm>
          <a:prstGeom prst="rect">
            <a:avLst/>
          </a:prstGeom>
          <a:noFill/>
        </p:spPr>
        <p:txBody>
          <a:bodyPr wrap="square">
            <a:spAutoFit/>
          </a:bodyPr>
          <a:lstStyle/>
          <a:p>
            <a:r>
              <a:rPr lang="en-US" sz="1100" b="1" dirty="0"/>
              <a:t>a) </a:t>
            </a:r>
            <a:r>
              <a:rPr lang="en-US" sz="1100" dirty="0"/>
              <a:t>Learning rate fits for average reward rate is not significantly different between environments (</a:t>
            </a:r>
            <a:r>
              <a:rPr lang="en-US" sz="1100" i="1" dirty="0"/>
              <a:t>Z</a:t>
            </a:r>
            <a:r>
              <a:rPr lang="en-US" sz="1100" dirty="0"/>
              <a:t> = -0.4, </a:t>
            </a:r>
            <a:r>
              <a:rPr lang="en-US" sz="1100" i="1" dirty="0"/>
              <a:t>p</a:t>
            </a:r>
            <a:r>
              <a:rPr lang="en-US" sz="1100" dirty="0"/>
              <a:t> = 0.69). </a:t>
            </a:r>
          </a:p>
          <a:p>
            <a:r>
              <a:rPr lang="en-US" sz="1100" b="1" dirty="0"/>
              <a:t>b) </a:t>
            </a:r>
            <a:r>
              <a:rPr lang="en-US" sz="1100" dirty="0"/>
              <a:t>Participant leaving times decrease as their fit learning rate increases [</a:t>
            </a:r>
            <a:r>
              <a:rPr lang="en-US" sz="1100" i="1" dirty="0"/>
              <a:t>r</a:t>
            </a:r>
            <a:r>
              <a:rPr lang="en-US" sz="1100" dirty="0"/>
              <a:t>(56) = -.73, </a:t>
            </a:r>
            <a:r>
              <a:rPr lang="en-US" sz="1100" i="1" dirty="0"/>
              <a:t>p</a:t>
            </a:r>
            <a:r>
              <a:rPr lang="en-US" sz="1100" dirty="0"/>
              <a:t> &lt; .001, Spearman’s rho]. [[But this was driven by a few participants who had very short leaving times. Beta alone was unable to capture their early leaving </a:t>
            </a:r>
            <a:r>
              <a:rPr lang="en-US" sz="1100" dirty="0" err="1"/>
              <a:t>behaviour</a:t>
            </a:r>
            <a:r>
              <a:rPr lang="en-US" sz="1100" dirty="0"/>
              <a:t>, so they have a non-zero alpha value, which leads to a smaller </a:t>
            </a:r>
            <a:r>
              <a:rPr lang="en-US" sz="1100" dirty="0" err="1"/>
              <a:t>PatchRR</a:t>
            </a:r>
            <a:r>
              <a:rPr lang="en-US" sz="1100" dirty="0"/>
              <a:t> – </a:t>
            </a:r>
            <a:r>
              <a:rPr lang="en-US" sz="1100" dirty="0" err="1"/>
              <a:t>avgRR</a:t>
            </a:r>
            <a:r>
              <a:rPr lang="en-US" sz="1100" dirty="0"/>
              <a:t> difference entering the </a:t>
            </a:r>
            <a:r>
              <a:rPr lang="en-US" sz="1100" dirty="0" err="1"/>
              <a:t>softmax</a:t>
            </a:r>
            <a:r>
              <a:rPr lang="en-US" sz="1100" dirty="0"/>
              <a:t> equation, which leads to earlier leaving. ]]</a:t>
            </a:r>
          </a:p>
        </p:txBody>
      </p:sp>
    </p:spTree>
    <p:extLst>
      <p:ext uri="{BB962C8B-B14F-4D97-AF65-F5344CB8AC3E}">
        <p14:creationId xmlns:p14="http://schemas.microsoft.com/office/powerpoint/2010/main" val="3059958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D44113A5-EBFF-716A-B8C6-D2C0DF0704F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55677" y="345619"/>
            <a:ext cx="1879600" cy="1879600"/>
          </a:xfrm>
          <a:prstGeom prst="rect">
            <a:avLst/>
          </a:prstGeom>
        </p:spPr>
      </p:pic>
      <p:pic>
        <p:nvPicPr>
          <p:cNvPr id="81" name="Graphic 80">
            <a:extLst>
              <a:ext uri="{FF2B5EF4-FFF2-40B4-BE49-F238E27FC236}">
                <a16:creationId xmlns:a16="http://schemas.microsoft.com/office/drawing/2014/main" id="{92FA70E5-84AF-9042-E09B-EE6FCFBACAA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6069" y="2334871"/>
            <a:ext cx="1879600" cy="1879600"/>
          </a:xfrm>
          <a:prstGeom prst="rect">
            <a:avLst/>
          </a:prstGeom>
        </p:spPr>
      </p:pic>
      <p:pic>
        <p:nvPicPr>
          <p:cNvPr id="89" name="Graphic 88">
            <a:extLst>
              <a:ext uri="{FF2B5EF4-FFF2-40B4-BE49-F238E27FC236}">
                <a16:creationId xmlns:a16="http://schemas.microsoft.com/office/drawing/2014/main" id="{FA0924AC-D788-BFE2-39B3-8273D36294F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000362" y="4305521"/>
            <a:ext cx="1879600" cy="1879600"/>
          </a:xfrm>
          <a:prstGeom prst="rect">
            <a:avLst/>
          </a:prstGeom>
        </p:spPr>
      </p:pic>
      <p:pic>
        <p:nvPicPr>
          <p:cNvPr id="91" name="Graphic 90">
            <a:extLst>
              <a:ext uri="{FF2B5EF4-FFF2-40B4-BE49-F238E27FC236}">
                <a16:creationId xmlns:a16="http://schemas.microsoft.com/office/drawing/2014/main" id="{239A0F11-33AE-93E4-E4D7-32FECFFA4DF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31120" y="4320695"/>
            <a:ext cx="1879600" cy="1879600"/>
          </a:xfrm>
          <a:prstGeom prst="rect">
            <a:avLst/>
          </a:prstGeom>
        </p:spPr>
      </p:pic>
      <p:pic>
        <p:nvPicPr>
          <p:cNvPr id="95" name="Graphic 94">
            <a:extLst>
              <a:ext uri="{FF2B5EF4-FFF2-40B4-BE49-F238E27FC236}">
                <a16:creationId xmlns:a16="http://schemas.microsoft.com/office/drawing/2014/main" id="{6C97A261-FBBC-534D-AE02-E5F3FFA7F598}"/>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694427" y="6243432"/>
            <a:ext cx="1879600" cy="1879600"/>
          </a:xfrm>
          <a:prstGeom prst="rect">
            <a:avLst/>
          </a:prstGeom>
        </p:spPr>
      </p:pic>
      <p:pic>
        <p:nvPicPr>
          <p:cNvPr id="97" name="Graphic 96">
            <a:extLst>
              <a:ext uri="{FF2B5EF4-FFF2-40B4-BE49-F238E27FC236}">
                <a16:creationId xmlns:a16="http://schemas.microsoft.com/office/drawing/2014/main" id="{5116ADD7-A575-FB32-4B7A-0D321EE9E59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783063" y="2248899"/>
            <a:ext cx="1879600" cy="1879600"/>
          </a:xfrm>
          <a:prstGeom prst="rect">
            <a:avLst/>
          </a:prstGeom>
        </p:spPr>
      </p:pic>
      <p:pic>
        <p:nvPicPr>
          <p:cNvPr id="71" name="Graphic 70">
            <a:extLst>
              <a:ext uri="{FF2B5EF4-FFF2-40B4-BE49-F238E27FC236}">
                <a16:creationId xmlns:a16="http://schemas.microsoft.com/office/drawing/2014/main" id="{7279808C-2986-AD22-AA8E-A9DF8D4EB79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43945" y="6140306"/>
            <a:ext cx="1879600" cy="1879600"/>
          </a:xfrm>
          <a:prstGeom prst="rect">
            <a:avLst/>
          </a:prstGeom>
        </p:spPr>
      </p:pic>
      <p:pic>
        <p:nvPicPr>
          <p:cNvPr id="42" name="Graphic 41">
            <a:extLst>
              <a:ext uri="{FF2B5EF4-FFF2-40B4-BE49-F238E27FC236}">
                <a16:creationId xmlns:a16="http://schemas.microsoft.com/office/drawing/2014/main" id="{A9F18589-8B3F-BF1D-037F-D251CD5B6966}"/>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946076" y="364027"/>
            <a:ext cx="1879600" cy="1879600"/>
          </a:xfrm>
          <a:prstGeom prst="rect">
            <a:avLst/>
          </a:prstGeom>
        </p:spPr>
      </p:pic>
      <p:pic>
        <p:nvPicPr>
          <p:cNvPr id="44" name="Graphic 43">
            <a:extLst>
              <a:ext uri="{FF2B5EF4-FFF2-40B4-BE49-F238E27FC236}">
                <a16:creationId xmlns:a16="http://schemas.microsoft.com/office/drawing/2014/main" id="{A8F90A03-E230-F93A-16A6-482F9429267A}"/>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809103" y="312366"/>
            <a:ext cx="1879600" cy="1879600"/>
          </a:xfrm>
          <a:prstGeom prst="rect">
            <a:avLst/>
          </a:prstGeom>
        </p:spPr>
      </p:pic>
      <p:pic>
        <p:nvPicPr>
          <p:cNvPr id="58" name="Graphic 57">
            <a:extLst>
              <a:ext uri="{FF2B5EF4-FFF2-40B4-BE49-F238E27FC236}">
                <a16:creationId xmlns:a16="http://schemas.microsoft.com/office/drawing/2014/main" id="{BF5C920D-3F23-46CD-CA6F-B20A00FA379B}"/>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946076" y="2301938"/>
            <a:ext cx="1879600" cy="1879600"/>
          </a:xfrm>
          <a:prstGeom prst="rect">
            <a:avLst/>
          </a:prstGeom>
        </p:spPr>
      </p:pic>
      <p:sp>
        <p:nvSpPr>
          <p:cNvPr id="87" name="TextBox 86">
            <a:extLst>
              <a:ext uri="{FF2B5EF4-FFF2-40B4-BE49-F238E27FC236}">
                <a16:creationId xmlns:a16="http://schemas.microsoft.com/office/drawing/2014/main" id="{48AB627D-D99B-75D4-B278-722995E71B6C}"/>
              </a:ext>
            </a:extLst>
          </p:cNvPr>
          <p:cNvSpPr txBox="1"/>
          <p:nvPr/>
        </p:nvSpPr>
        <p:spPr>
          <a:xfrm>
            <a:off x="79375" y="8116128"/>
            <a:ext cx="6699250" cy="2292935"/>
          </a:xfrm>
          <a:prstGeom prst="rect">
            <a:avLst/>
          </a:prstGeom>
          <a:noFill/>
        </p:spPr>
        <p:txBody>
          <a:bodyPr wrap="square" rtlCol="0">
            <a:spAutoFit/>
          </a:bodyPr>
          <a:lstStyle/>
          <a:p>
            <a:r>
              <a:rPr lang="en-US" sz="1100" b="1" dirty="0"/>
              <a:t>a) </a:t>
            </a:r>
            <a:r>
              <a:rPr lang="en-US" sz="1100" dirty="0"/>
              <a:t>Patch reward rate function for this task, with optimal </a:t>
            </a:r>
            <a:r>
              <a:rPr lang="en-US" sz="1100" dirty="0" err="1"/>
              <a:t>AvgRR</a:t>
            </a:r>
            <a:r>
              <a:rPr lang="en-US" sz="1100" dirty="0"/>
              <a:t> overlaid</a:t>
            </a:r>
          </a:p>
          <a:p>
            <a:r>
              <a:rPr lang="en-US" sz="1100" b="1" dirty="0"/>
              <a:t>b) </a:t>
            </a:r>
            <a:r>
              <a:rPr lang="en-US" sz="1100" dirty="0"/>
              <a:t>Specific model predictions for this task – expected LT – with participant expected betas overlaid</a:t>
            </a:r>
          </a:p>
          <a:p>
            <a:r>
              <a:rPr lang="en-US" sz="1100" b="1" dirty="0"/>
              <a:t>c) </a:t>
            </a:r>
            <a:r>
              <a:rPr lang="en-US" sz="1100" dirty="0"/>
              <a:t>Specific model predictions for this task – expected SD – with participant expected betas overlaid</a:t>
            </a:r>
          </a:p>
          <a:p>
            <a:r>
              <a:rPr lang="en-US" sz="1100" b="1" dirty="0"/>
              <a:t>d) </a:t>
            </a:r>
            <a:r>
              <a:rPr lang="en-US" sz="1100" dirty="0"/>
              <a:t>BIC comparison of all models (</a:t>
            </a:r>
            <a:r>
              <a:rPr lang="en-US" sz="1100" dirty="0" err="1"/>
              <a:t>softmax+avgRR</a:t>
            </a:r>
            <a:r>
              <a:rPr lang="en-US" sz="1100" dirty="0"/>
              <a:t> learning model is best)</a:t>
            </a:r>
          </a:p>
          <a:p>
            <a:r>
              <a:rPr lang="en-US" sz="1100" b="1" dirty="0"/>
              <a:t>e) </a:t>
            </a:r>
            <a:r>
              <a:rPr lang="en-US" sz="1100" dirty="0"/>
              <a:t>Participant leave times vs </a:t>
            </a:r>
            <a:r>
              <a:rPr lang="en-US" sz="1100" b="1" dirty="0"/>
              <a:t>(f) </a:t>
            </a:r>
            <a:r>
              <a:rPr lang="en-US" sz="1100" dirty="0"/>
              <a:t>simulated leave times from best model</a:t>
            </a:r>
          </a:p>
          <a:p>
            <a:r>
              <a:rPr lang="en-US" sz="1100" b="1" dirty="0"/>
              <a:t>g) </a:t>
            </a:r>
            <a:r>
              <a:rPr lang="en-US" sz="1100" dirty="0"/>
              <a:t>Fit beta significantly lower in rich compared to poor environment  [</a:t>
            </a:r>
            <a:r>
              <a:rPr lang="en-US" sz="1100" i="1" dirty="0"/>
              <a:t>t</a:t>
            </a:r>
            <a:r>
              <a:rPr lang="en-US" sz="1100" dirty="0"/>
              <a:t>(7) = -7.88, </a:t>
            </a:r>
            <a:r>
              <a:rPr lang="en-US" sz="1100" i="1" dirty="0"/>
              <a:t>p</a:t>
            </a:r>
            <a:r>
              <a:rPr lang="en-US" sz="1100" dirty="0"/>
              <a:t> &lt; .001]</a:t>
            </a:r>
          </a:p>
          <a:p>
            <a:r>
              <a:rPr lang="en-US" sz="1100" b="1" dirty="0"/>
              <a:t>h) </a:t>
            </a:r>
            <a:r>
              <a:rPr lang="en-US" sz="1100" dirty="0"/>
              <a:t>Correlation of participant beta fits with participant mean leaving times  [</a:t>
            </a:r>
            <a:r>
              <a:rPr lang="en-US" sz="1100" i="1" dirty="0"/>
              <a:t>r</a:t>
            </a:r>
            <a:r>
              <a:rPr lang="en-US" sz="1100" dirty="0"/>
              <a:t>(14) = 0.94, </a:t>
            </a:r>
            <a:r>
              <a:rPr lang="en-US" sz="1100" i="1" dirty="0"/>
              <a:t>p</a:t>
            </a:r>
            <a:r>
              <a:rPr lang="en-US" sz="1100" dirty="0"/>
              <a:t> &lt; .001].</a:t>
            </a:r>
          </a:p>
          <a:p>
            <a:r>
              <a:rPr lang="en-US" sz="1100" b="1" dirty="0" err="1"/>
              <a:t>i</a:t>
            </a:r>
            <a:r>
              <a:rPr lang="en-US" sz="1100" b="1" dirty="0"/>
              <a:t>) </a:t>
            </a:r>
            <a:r>
              <a:rPr lang="en-US" sz="1100" dirty="0"/>
              <a:t>SD of </a:t>
            </a:r>
            <a:r>
              <a:rPr lang="en-US" sz="1100" b="1" dirty="0"/>
              <a:t>participants</a:t>
            </a:r>
            <a:r>
              <a:rPr lang="en-US" sz="1100" dirty="0"/>
              <a:t> was significantly different for patch [Patch yield: </a:t>
            </a:r>
            <a:r>
              <a:rPr lang="en-US" sz="1100" i="1" dirty="0"/>
              <a:t>F</a:t>
            </a:r>
            <a:r>
              <a:rPr lang="en-US" sz="1100" dirty="0"/>
              <a:t>(2,42) = 10.76, </a:t>
            </a:r>
            <a:r>
              <a:rPr lang="en-US" sz="1100" i="1" dirty="0"/>
              <a:t>p</a:t>
            </a:r>
            <a:r>
              <a:rPr lang="en-US" sz="1100" dirty="0"/>
              <a:t> &lt; .001] and environment [Environment: </a:t>
            </a:r>
            <a:r>
              <a:rPr lang="en-US" sz="1100" i="1" dirty="0"/>
              <a:t>F</a:t>
            </a:r>
            <a:r>
              <a:rPr lang="en-US" sz="1100" dirty="0"/>
              <a:t>(1,42) = 29.41, </a:t>
            </a:r>
            <a:r>
              <a:rPr lang="en-US" sz="1100" i="1" dirty="0"/>
              <a:t>p</a:t>
            </a:r>
            <a:r>
              <a:rPr lang="en-US" sz="1100" dirty="0"/>
              <a:t> &lt; .001] but not for patch x environment interaction [Interaction: </a:t>
            </a:r>
            <a:r>
              <a:rPr lang="en-US" sz="1100" i="1" dirty="0"/>
              <a:t>F</a:t>
            </a:r>
            <a:r>
              <a:rPr lang="en-US" sz="1100" dirty="0"/>
              <a:t>(2,42) = 0.66, </a:t>
            </a:r>
            <a:r>
              <a:rPr lang="en-US" sz="1100" i="1" dirty="0"/>
              <a:t>p</a:t>
            </a:r>
            <a:r>
              <a:rPr lang="en-US" sz="1100" dirty="0"/>
              <a:t> = 0.52] </a:t>
            </a:r>
            <a:r>
              <a:rPr lang="en-US" sz="1100" b="1" dirty="0"/>
              <a:t>(j) </a:t>
            </a:r>
            <a:r>
              <a:rPr lang="en-US" sz="1100" dirty="0"/>
              <a:t>Consistent with participants, SD of </a:t>
            </a:r>
            <a:r>
              <a:rPr lang="en-US" sz="1100" b="1" dirty="0"/>
              <a:t>simulated </a:t>
            </a:r>
            <a:r>
              <a:rPr lang="en-US" sz="1100" dirty="0"/>
              <a:t>leaving times was significantly different across patch [Patch yield: </a:t>
            </a:r>
            <a:r>
              <a:rPr lang="en-US" sz="1100" i="1" dirty="0"/>
              <a:t>F</a:t>
            </a:r>
            <a:r>
              <a:rPr lang="en-US" sz="1100" dirty="0"/>
              <a:t>(2,42) = 14.4, </a:t>
            </a:r>
            <a:r>
              <a:rPr lang="en-US" sz="1100" i="1" dirty="0"/>
              <a:t>p</a:t>
            </a:r>
            <a:r>
              <a:rPr lang="en-US" sz="1100" dirty="0"/>
              <a:t> &lt; .001], and environment [Environment: </a:t>
            </a:r>
            <a:r>
              <a:rPr lang="en-US" sz="1100" i="1" dirty="0"/>
              <a:t>F</a:t>
            </a:r>
            <a:r>
              <a:rPr lang="en-US" sz="1100" dirty="0"/>
              <a:t>(1,42) = 31.76, </a:t>
            </a:r>
            <a:r>
              <a:rPr lang="en-US" sz="1100" i="1" dirty="0"/>
              <a:t>p</a:t>
            </a:r>
            <a:r>
              <a:rPr lang="en-US" sz="1100" dirty="0"/>
              <a:t> &lt; .001] , but predicted significant patch x environment interaction [Interaction: </a:t>
            </a:r>
            <a:r>
              <a:rPr lang="en-US" sz="1100" i="1" dirty="0"/>
              <a:t>F</a:t>
            </a:r>
            <a:r>
              <a:rPr lang="en-US" sz="1100" dirty="0"/>
              <a:t>(2,42) = 7.96, </a:t>
            </a:r>
            <a:r>
              <a:rPr lang="en-US" sz="1100" i="1" dirty="0"/>
              <a:t>p</a:t>
            </a:r>
            <a:r>
              <a:rPr lang="en-US" sz="1100" dirty="0"/>
              <a:t> = .001], which was not observed in participant data</a:t>
            </a:r>
          </a:p>
        </p:txBody>
      </p:sp>
      <p:sp>
        <p:nvSpPr>
          <p:cNvPr id="88" name="TextBox 87">
            <a:extLst>
              <a:ext uri="{FF2B5EF4-FFF2-40B4-BE49-F238E27FC236}">
                <a16:creationId xmlns:a16="http://schemas.microsoft.com/office/drawing/2014/main" id="{790669AD-18F8-09A4-DD66-6FFFCAFE6BE7}"/>
              </a:ext>
            </a:extLst>
          </p:cNvPr>
          <p:cNvSpPr txBox="1"/>
          <p:nvPr/>
        </p:nvSpPr>
        <p:spPr>
          <a:xfrm>
            <a:off x="340802" y="-32726"/>
            <a:ext cx="4389119" cy="369332"/>
          </a:xfrm>
          <a:prstGeom prst="rect">
            <a:avLst/>
          </a:prstGeom>
          <a:noFill/>
        </p:spPr>
        <p:txBody>
          <a:bodyPr wrap="square" rtlCol="0">
            <a:spAutoFit/>
          </a:bodyPr>
          <a:lstStyle/>
          <a:p>
            <a:r>
              <a:rPr lang="en-US" dirty="0"/>
              <a:t>Figure 4: Kane fitting </a:t>
            </a:r>
          </a:p>
        </p:txBody>
      </p:sp>
      <p:sp>
        <p:nvSpPr>
          <p:cNvPr id="26" name="TextBox 25">
            <a:extLst>
              <a:ext uri="{FF2B5EF4-FFF2-40B4-BE49-F238E27FC236}">
                <a16:creationId xmlns:a16="http://schemas.microsoft.com/office/drawing/2014/main" id="{AC1D8B25-3456-8CFB-8862-3C81B45EF2D8}"/>
              </a:ext>
            </a:extLst>
          </p:cNvPr>
          <p:cNvSpPr txBox="1"/>
          <p:nvPr/>
        </p:nvSpPr>
        <p:spPr>
          <a:xfrm>
            <a:off x="541979" y="297826"/>
            <a:ext cx="295274" cy="369332"/>
          </a:xfrm>
          <a:prstGeom prst="rect">
            <a:avLst/>
          </a:prstGeom>
          <a:noFill/>
        </p:spPr>
        <p:txBody>
          <a:bodyPr wrap="none" rtlCol="0">
            <a:spAutoFit/>
          </a:bodyPr>
          <a:lstStyle/>
          <a:p>
            <a:r>
              <a:rPr lang="en-US" dirty="0"/>
              <a:t>a</a:t>
            </a:r>
          </a:p>
        </p:txBody>
      </p:sp>
      <p:sp>
        <p:nvSpPr>
          <p:cNvPr id="27" name="TextBox 26">
            <a:extLst>
              <a:ext uri="{FF2B5EF4-FFF2-40B4-BE49-F238E27FC236}">
                <a16:creationId xmlns:a16="http://schemas.microsoft.com/office/drawing/2014/main" id="{10EED349-9D2D-6741-E0CA-B0A9FCE296AA}"/>
              </a:ext>
            </a:extLst>
          </p:cNvPr>
          <p:cNvSpPr txBox="1"/>
          <p:nvPr/>
        </p:nvSpPr>
        <p:spPr>
          <a:xfrm>
            <a:off x="2639582" y="297826"/>
            <a:ext cx="306494" cy="369332"/>
          </a:xfrm>
          <a:prstGeom prst="rect">
            <a:avLst/>
          </a:prstGeom>
          <a:noFill/>
        </p:spPr>
        <p:txBody>
          <a:bodyPr wrap="none" rtlCol="0">
            <a:spAutoFit/>
          </a:bodyPr>
          <a:lstStyle/>
          <a:p>
            <a:r>
              <a:rPr lang="en-US" dirty="0"/>
              <a:t>b</a:t>
            </a:r>
          </a:p>
        </p:txBody>
      </p:sp>
      <p:sp>
        <p:nvSpPr>
          <p:cNvPr id="28" name="TextBox 27">
            <a:extLst>
              <a:ext uri="{FF2B5EF4-FFF2-40B4-BE49-F238E27FC236}">
                <a16:creationId xmlns:a16="http://schemas.microsoft.com/office/drawing/2014/main" id="{B67D6920-E582-BEEC-B1D7-4C9036C7A031}"/>
              </a:ext>
            </a:extLst>
          </p:cNvPr>
          <p:cNvSpPr txBox="1"/>
          <p:nvPr/>
        </p:nvSpPr>
        <p:spPr>
          <a:xfrm>
            <a:off x="4641838" y="266815"/>
            <a:ext cx="282450" cy="369332"/>
          </a:xfrm>
          <a:prstGeom prst="rect">
            <a:avLst/>
          </a:prstGeom>
          <a:noFill/>
        </p:spPr>
        <p:txBody>
          <a:bodyPr wrap="none" rtlCol="0">
            <a:spAutoFit/>
          </a:bodyPr>
          <a:lstStyle/>
          <a:p>
            <a:r>
              <a:rPr lang="en-US" dirty="0"/>
              <a:t>c</a:t>
            </a:r>
          </a:p>
        </p:txBody>
      </p:sp>
      <p:sp>
        <p:nvSpPr>
          <p:cNvPr id="29" name="TextBox 28">
            <a:extLst>
              <a:ext uri="{FF2B5EF4-FFF2-40B4-BE49-F238E27FC236}">
                <a16:creationId xmlns:a16="http://schemas.microsoft.com/office/drawing/2014/main" id="{6515A5C0-43AC-F5DA-0C8F-EEA06CEED2E0}"/>
              </a:ext>
            </a:extLst>
          </p:cNvPr>
          <p:cNvSpPr txBox="1"/>
          <p:nvPr/>
        </p:nvSpPr>
        <p:spPr>
          <a:xfrm>
            <a:off x="530759" y="2162101"/>
            <a:ext cx="306494" cy="369332"/>
          </a:xfrm>
          <a:prstGeom prst="rect">
            <a:avLst/>
          </a:prstGeom>
          <a:noFill/>
        </p:spPr>
        <p:txBody>
          <a:bodyPr wrap="none" rtlCol="0">
            <a:spAutoFit/>
          </a:bodyPr>
          <a:lstStyle/>
          <a:p>
            <a:r>
              <a:rPr lang="en-US" dirty="0"/>
              <a:t>d</a:t>
            </a:r>
          </a:p>
        </p:txBody>
      </p:sp>
      <p:sp>
        <p:nvSpPr>
          <p:cNvPr id="30" name="TextBox 29">
            <a:extLst>
              <a:ext uri="{FF2B5EF4-FFF2-40B4-BE49-F238E27FC236}">
                <a16:creationId xmlns:a16="http://schemas.microsoft.com/office/drawing/2014/main" id="{CD6FCF2B-E4D6-3E79-B770-6E51BD56D367}"/>
              </a:ext>
            </a:extLst>
          </p:cNvPr>
          <p:cNvSpPr txBox="1"/>
          <p:nvPr/>
        </p:nvSpPr>
        <p:spPr>
          <a:xfrm>
            <a:off x="2700280" y="2153930"/>
            <a:ext cx="300082" cy="369332"/>
          </a:xfrm>
          <a:prstGeom prst="rect">
            <a:avLst/>
          </a:prstGeom>
          <a:noFill/>
        </p:spPr>
        <p:txBody>
          <a:bodyPr wrap="none" rtlCol="0">
            <a:spAutoFit/>
          </a:bodyPr>
          <a:lstStyle/>
          <a:p>
            <a:r>
              <a:rPr lang="en-US" dirty="0"/>
              <a:t>e</a:t>
            </a:r>
          </a:p>
        </p:txBody>
      </p:sp>
      <p:sp>
        <p:nvSpPr>
          <p:cNvPr id="31" name="TextBox 30">
            <a:extLst>
              <a:ext uri="{FF2B5EF4-FFF2-40B4-BE49-F238E27FC236}">
                <a16:creationId xmlns:a16="http://schemas.microsoft.com/office/drawing/2014/main" id="{8E666C51-6D9F-5126-FCD9-BA61B36A4AD2}"/>
              </a:ext>
            </a:extLst>
          </p:cNvPr>
          <p:cNvSpPr txBox="1"/>
          <p:nvPr/>
        </p:nvSpPr>
        <p:spPr>
          <a:xfrm>
            <a:off x="4620501" y="2274411"/>
            <a:ext cx="255198" cy="369332"/>
          </a:xfrm>
          <a:prstGeom prst="rect">
            <a:avLst/>
          </a:prstGeom>
          <a:noFill/>
        </p:spPr>
        <p:txBody>
          <a:bodyPr wrap="none" rtlCol="0">
            <a:spAutoFit/>
          </a:bodyPr>
          <a:lstStyle/>
          <a:p>
            <a:r>
              <a:rPr lang="en-US" dirty="0"/>
              <a:t>f</a:t>
            </a:r>
          </a:p>
        </p:txBody>
      </p:sp>
      <p:sp>
        <p:nvSpPr>
          <p:cNvPr id="32" name="TextBox 31">
            <a:extLst>
              <a:ext uri="{FF2B5EF4-FFF2-40B4-BE49-F238E27FC236}">
                <a16:creationId xmlns:a16="http://schemas.microsoft.com/office/drawing/2014/main" id="{4E150E0C-0636-27BA-BFF1-330BD40AC942}"/>
              </a:ext>
            </a:extLst>
          </p:cNvPr>
          <p:cNvSpPr txBox="1"/>
          <p:nvPr/>
        </p:nvSpPr>
        <p:spPr>
          <a:xfrm>
            <a:off x="543583" y="4079557"/>
            <a:ext cx="293670" cy="369332"/>
          </a:xfrm>
          <a:prstGeom prst="rect">
            <a:avLst/>
          </a:prstGeom>
          <a:noFill/>
        </p:spPr>
        <p:txBody>
          <a:bodyPr wrap="none" rtlCol="0">
            <a:spAutoFit/>
          </a:bodyPr>
          <a:lstStyle/>
          <a:p>
            <a:r>
              <a:rPr lang="en-US" dirty="0"/>
              <a:t>g</a:t>
            </a:r>
          </a:p>
        </p:txBody>
      </p:sp>
      <p:sp>
        <p:nvSpPr>
          <p:cNvPr id="60" name="TextBox 59">
            <a:extLst>
              <a:ext uri="{FF2B5EF4-FFF2-40B4-BE49-F238E27FC236}">
                <a16:creationId xmlns:a16="http://schemas.microsoft.com/office/drawing/2014/main" id="{ECFD63B8-302E-2BC6-8BE6-28427CD2FABB}"/>
              </a:ext>
            </a:extLst>
          </p:cNvPr>
          <p:cNvSpPr txBox="1"/>
          <p:nvPr/>
        </p:nvSpPr>
        <p:spPr>
          <a:xfrm>
            <a:off x="2896053" y="4128499"/>
            <a:ext cx="306494" cy="369332"/>
          </a:xfrm>
          <a:prstGeom prst="rect">
            <a:avLst/>
          </a:prstGeom>
          <a:noFill/>
        </p:spPr>
        <p:txBody>
          <a:bodyPr wrap="none" rtlCol="0">
            <a:spAutoFit/>
          </a:bodyPr>
          <a:lstStyle/>
          <a:p>
            <a:r>
              <a:rPr lang="en-US" dirty="0"/>
              <a:t>h</a:t>
            </a:r>
          </a:p>
        </p:txBody>
      </p:sp>
      <p:sp>
        <p:nvSpPr>
          <p:cNvPr id="61" name="TextBox 60">
            <a:extLst>
              <a:ext uri="{FF2B5EF4-FFF2-40B4-BE49-F238E27FC236}">
                <a16:creationId xmlns:a16="http://schemas.microsoft.com/office/drawing/2014/main" id="{4684A61C-57A7-6265-05AB-8D20A274BA42}"/>
              </a:ext>
            </a:extLst>
          </p:cNvPr>
          <p:cNvSpPr txBox="1"/>
          <p:nvPr/>
        </p:nvSpPr>
        <p:spPr>
          <a:xfrm>
            <a:off x="643763" y="6129404"/>
            <a:ext cx="237566" cy="369332"/>
          </a:xfrm>
          <a:prstGeom prst="rect">
            <a:avLst/>
          </a:prstGeom>
          <a:noFill/>
        </p:spPr>
        <p:txBody>
          <a:bodyPr wrap="none" rtlCol="0">
            <a:spAutoFit/>
          </a:bodyPr>
          <a:lstStyle/>
          <a:p>
            <a:r>
              <a:rPr lang="en-US" dirty="0" err="1"/>
              <a:t>i</a:t>
            </a:r>
            <a:endParaRPr lang="en-US" dirty="0"/>
          </a:p>
        </p:txBody>
      </p:sp>
      <p:sp>
        <p:nvSpPr>
          <p:cNvPr id="62" name="TextBox 61">
            <a:extLst>
              <a:ext uri="{FF2B5EF4-FFF2-40B4-BE49-F238E27FC236}">
                <a16:creationId xmlns:a16="http://schemas.microsoft.com/office/drawing/2014/main" id="{55421733-A64B-CBB3-FB09-8F31C37351DE}"/>
              </a:ext>
            </a:extLst>
          </p:cNvPr>
          <p:cNvSpPr txBox="1"/>
          <p:nvPr/>
        </p:nvSpPr>
        <p:spPr>
          <a:xfrm>
            <a:off x="2474021" y="6182086"/>
            <a:ext cx="239168" cy="369332"/>
          </a:xfrm>
          <a:prstGeom prst="rect">
            <a:avLst/>
          </a:prstGeom>
          <a:noFill/>
        </p:spPr>
        <p:txBody>
          <a:bodyPr wrap="none" rtlCol="0">
            <a:spAutoFit/>
          </a:bodyPr>
          <a:lstStyle/>
          <a:p>
            <a:r>
              <a:rPr lang="en-US" dirty="0"/>
              <a:t>j</a:t>
            </a:r>
          </a:p>
        </p:txBody>
      </p:sp>
      <p:sp>
        <p:nvSpPr>
          <p:cNvPr id="63" name="TextBox 62">
            <a:extLst>
              <a:ext uri="{FF2B5EF4-FFF2-40B4-BE49-F238E27FC236}">
                <a16:creationId xmlns:a16="http://schemas.microsoft.com/office/drawing/2014/main" id="{A96AFC87-F092-9A4E-B21C-BEEA780E1241}"/>
              </a:ext>
            </a:extLst>
          </p:cNvPr>
          <p:cNvSpPr txBox="1"/>
          <p:nvPr/>
        </p:nvSpPr>
        <p:spPr>
          <a:xfrm>
            <a:off x="1413817" y="4784715"/>
            <a:ext cx="530915" cy="369332"/>
          </a:xfrm>
          <a:prstGeom prst="rect">
            <a:avLst/>
          </a:prstGeom>
          <a:noFill/>
        </p:spPr>
        <p:txBody>
          <a:bodyPr wrap="none" rtlCol="0">
            <a:spAutoFit/>
          </a:bodyPr>
          <a:lstStyle/>
          <a:p>
            <a:r>
              <a:rPr lang="en-US" dirty="0"/>
              <a:t>***</a:t>
            </a:r>
          </a:p>
        </p:txBody>
      </p:sp>
      <p:sp>
        <p:nvSpPr>
          <p:cNvPr id="64" name="TextBox 63">
            <a:extLst>
              <a:ext uri="{FF2B5EF4-FFF2-40B4-BE49-F238E27FC236}">
                <a16:creationId xmlns:a16="http://schemas.microsoft.com/office/drawing/2014/main" id="{33030694-0C0F-7DDB-9F45-2C50F00C1995}"/>
              </a:ext>
            </a:extLst>
          </p:cNvPr>
          <p:cNvSpPr txBox="1"/>
          <p:nvPr/>
        </p:nvSpPr>
        <p:spPr>
          <a:xfrm>
            <a:off x="1510620" y="6566076"/>
            <a:ext cx="530915" cy="369332"/>
          </a:xfrm>
          <a:prstGeom prst="rect">
            <a:avLst/>
          </a:prstGeom>
          <a:noFill/>
        </p:spPr>
        <p:txBody>
          <a:bodyPr wrap="none" rtlCol="0">
            <a:spAutoFit/>
          </a:bodyPr>
          <a:lstStyle/>
          <a:p>
            <a:r>
              <a:rPr lang="en-US" dirty="0"/>
              <a:t>***</a:t>
            </a:r>
          </a:p>
        </p:txBody>
      </p:sp>
      <p:sp>
        <p:nvSpPr>
          <p:cNvPr id="65" name="TextBox 64">
            <a:extLst>
              <a:ext uri="{FF2B5EF4-FFF2-40B4-BE49-F238E27FC236}">
                <a16:creationId xmlns:a16="http://schemas.microsoft.com/office/drawing/2014/main" id="{5CA50DF1-8A64-2986-5330-654C81E2AF0B}"/>
              </a:ext>
            </a:extLst>
          </p:cNvPr>
          <p:cNvSpPr txBox="1"/>
          <p:nvPr/>
        </p:nvSpPr>
        <p:spPr>
          <a:xfrm>
            <a:off x="3550977" y="6391882"/>
            <a:ext cx="530915"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19719490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83DA39C-89B7-599E-1AE8-E130083E8A69}"/>
              </a:ext>
            </a:extLst>
          </p:cNvPr>
          <p:cNvSpPr txBox="1"/>
          <p:nvPr/>
        </p:nvSpPr>
        <p:spPr>
          <a:xfrm>
            <a:off x="340802" y="-32726"/>
            <a:ext cx="5972534" cy="369332"/>
          </a:xfrm>
          <a:prstGeom prst="rect">
            <a:avLst/>
          </a:prstGeom>
          <a:noFill/>
        </p:spPr>
        <p:txBody>
          <a:bodyPr wrap="square" rtlCol="0">
            <a:spAutoFit/>
          </a:bodyPr>
          <a:lstStyle/>
          <a:p>
            <a:r>
              <a:rPr lang="en-US" b="1" dirty="0"/>
              <a:t>Supplementary </a:t>
            </a:r>
            <a:r>
              <a:rPr lang="en-US" dirty="0"/>
              <a:t>Figure 4: Kane fitting </a:t>
            </a:r>
          </a:p>
        </p:txBody>
      </p:sp>
      <p:sp>
        <p:nvSpPr>
          <p:cNvPr id="9" name="TextBox 8">
            <a:extLst>
              <a:ext uri="{FF2B5EF4-FFF2-40B4-BE49-F238E27FC236}">
                <a16:creationId xmlns:a16="http://schemas.microsoft.com/office/drawing/2014/main" id="{F5491C2C-A297-4659-6FA1-AE157D3B6978}"/>
              </a:ext>
            </a:extLst>
          </p:cNvPr>
          <p:cNvSpPr txBox="1"/>
          <p:nvPr/>
        </p:nvSpPr>
        <p:spPr>
          <a:xfrm>
            <a:off x="636547" y="538480"/>
            <a:ext cx="295274" cy="369332"/>
          </a:xfrm>
          <a:prstGeom prst="rect">
            <a:avLst/>
          </a:prstGeom>
          <a:noFill/>
        </p:spPr>
        <p:txBody>
          <a:bodyPr wrap="none" rtlCol="0">
            <a:spAutoFit/>
          </a:bodyPr>
          <a:lstStyle/>
          <a:p>
            <a:r>
              <a:rPr lang="en-US" dirty="0"/>
              <a:t>a</a:t>
            </a:r>
          </a:p>
        </p:txBody>
      </p:sp>
      <p:sp>
        <p:nvSpPr>
          <p:cNvPr id="10" name="TextBox 9">
            <a:extLst>
              <a:ext uri="{FF2B5EF4-FFF2-40B4-BE49-F238E27FC236}">
                <a16:creationId xmlns:a16="http://schemas.microsoft.com/office/drawing/2014/main" id="{97E130E5-5AAC-F507-C9EA-7A2034612619}"/>
              </a:ext>
            </a:extLst>
          </p:cNvPr>
          <p:cNvSpPr txBox="1"/>
          <p:nvPr/>
        </p:nvSpPr>
        <p:spPr>
          <a:xfrm>
            <a:off x="3035668" y="538480"/>
            <a:ext cx="306494" cy="369332"/>
          </a:xfrm>
          <a:prstGeom prst="rect">
            <a:avLst/>
          </a:prstGeom>
          <a:noFill/>
        </p:spPr>
        <p:txBody>
          <a:bodyPr wrap="none" rtlCol="0">
            <a:spAutoFit/>
          </a:bodyPr>
          <a:lstStyle/>
          <a:p>
            <a:r>
              <a:rPr lang="en-US" dirty="0"/>
              <a:t>b</a:t>
            </a:r>
          </a:p>
        </p:txBody>
      </p:sp>
      <p:sp>
        <p:nvSpPr>
          <p:cNvPr id="20" name="TextBox 19">
            <a:extLst>
              <a:ext uri="{FF2B5EF4-FFF2-40B4-BE49-F238E27FC236}">
                <a16:creationId xmlns:a16="http://schemas.microsoft.com/office/drawing/2014/main" id="{400C9DF0-50ED-9FB3-F810-6426E1522753}"/>
              </a:ext>
            </a:extLst>
          </p:cNvPr>
          <p:cNvSpPr txBox="1"/>
          <p:nvPr/>
        </p:nvSpPr>
        <p:spPr>
          <a:xfrm>
            <a:off x="258278" y="7845417"/>
            <a:ext cx="5972534" cy="769441"/>
          </a:xfrm>
          <a:prstGeom prst="rect">
            <a:avLst/>
          </a:prstGeom>
          <a:noFill/>
        </p:spPr>
        <p:txBody>
          <a:bodyPr wrap="square">
            <a:spAutoFit/>
          </a:bodyPr>
          <a:lstStyle/>
          <a:p>
            <a:r>
              <a:rPr lang="en-US" sz="1100" b="1" dirty="0"/>
              <a:t>a) </a:t>
            </a:r>
            <a:r>
              <a:rPr lang="en-US" sz="1100" dirty="0"/>
              <a:t>Fit alpha rho is not significantly different between environments [</a:t>
            </a:r>
            <a:r>
              <a:rPr lang="en-US" sz="1100" i="1" dirty="0"/>
              <a:t>t</a:t>
            </a:r>
            <a:r>
              <a:rPr lang="en-US" sz="1100" dirty="0"/>
              <a:t>(11.4) = -1.59, </a:t>
            </a:r>
            <a:r>
              <a:rPr lang="en-US" sz="1100" i="1" dirty="0"/>
              <a:t>p</a:t>
            </a:r>
            <a:r>
              <a:rPr lang="en-US" sz="1100" dirty="0"/>
              <a:t> = 0.14]. [Welch t-test due to unequal variance].</a:t>
            </a:r>
          </a:p>
          <a:p>
            <a:r>
              <a:rPr lang="en-US" sz="1100" b="1" dirty="0"/>
              <a:t>b) </a:t>
            </a:r>
            <a:r>
              <a:rPr lang="en-US" sz="1100" dirty="0"/>
              <a:t>Participant leaving times are not significantly correlated with their fit alpha rho [</a:t>
            </a:r>
            <a:r>
              <a:rPr lang="en-US" sz="1100" i="1" dirty="0"/>
              <a:t>r</a:t>
            </a:r>
            <a:r>
              <a:rPr lang="en-US" sz="1100" dirty="0"/>
              <a:t>(14) = .03, </a:t>
            </a:r>
            <a:r>
              <a:rPr lang="en-US" sz="1100" i="1" dirty="0"/>
              <a:t>p</a:t>
            </a:r>
            <a:r>
              <a:rPr lang="en-US" sz="1100" dirty="0"/>
              <a:t> = 0.93] [Spearman’s rho] </a:t>
            </a:r>
          </a:p>
        </p:txBody>
      </p:sp>
      <p:pic>
        <p:nvPicPr>
          <p:cNvPr id="21" name="Graphic 20">
            <a:extLst>
              <a:ext uri="{FF2B5EF4-FFF2-40B4-BE49-F238E27FC236}">
                <a16:creationId xmlns:a16="http://schemas.microsoft.com/office/drawing/2014/main" id="{4F506FCD-8418-6376-405C-DFE5F02EFA6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429000" y="820991"/>
            <a:ext cx="1879600" cy="1879600"/>
          </a:xfrm>
          <a:prstGeom prst="rect">
            <a:avLst/>
          </a:prstGeom>
        </p:spPr>
      </p:pic>
      <p:pic>
        <p:nvPicPr>
          <p:cNvPr id="33" name="Graphic 32">
            <a:extLst>
              <a:ext uri="{FF2B5EF4-FFF2-40B4-BE49-F238E27FC236}">
                <a16:creationId xmlns:a16="http://schemas.microsoft.com/office/drawing/2014/main" id="{FA72A7C8-9E7A-6F50-5686-D91C74A22CE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1821" y="820991"/>
            <a:ext cx="1879600" cy="1879600"/>
          </a:xfrm>
          <a:prstGeom prst="rect">
            <a:avLst/>
          </a:prstGeom>
        </p:spPr>
      </p:pic>
    </p:spTree>
    <p:extLst>
      <p:ext uri="{BB962C8B-B14F-4D97-AF65-F5344CB8AC3E}">
        <p14:creationId xmlns:p14="http://schemas.microsoft.com/office/powerpoint/2010/main" val="8747402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03A5DF69-89C5-7535-955F-0E35315EC8D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6412" y="2995515"/>
            <a:ext cx="1879600" cy="1879600"/>
          </a:xfrm>
          <a:prstGeom prst="rect">
            <a:avLst/>
          </a:prstGeom>
        </p:spPr>
      </p:pic>
      <p:pic>
        <p:nvPicPr>
          <p:cNvPr id="20" name="Graphic 19">
            <a:extLst>
              <a:ext uri="{FF2B5EF4-FFF2-40B4-BE49-F238E27FC236}">
                <a16:creationId xmlns:a16="http://schemas.microsoft.com/office/drawing/2014/main" id="{F11B0254-6A54-3E5E-4355-6403F612713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37786" y="3071522"/>
            <a:ext cx="1879600" cy="1879600"/>
          </a:xfrm>
          <a:prstGeom prst="rect">
            <a:avLst/>
          </a:prstGeom>
        </p:spPr>
      </p:pic>
      <p:pic>
        <p:nvPicPr>
          <p:cNvPr id="22" name="Graphic 21">
            <a:extLst>
              <a:ext uri="{FF2B5EF4-FFF2-40B4-BE49-F238E27FC236}">
                <a16:creationId xmlns:a16="http://schemas.microsoft.com/office/drawing/2014/main" id="{E88141C3-3F33-97CF-EF42-D13BB9BBF76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797099" y="3058684"/>
            <a:ext cx="1879600" cy="1879600"/>
          </a:xfrm>
          <a:prstGeom prst="rect">
            <a:avLst/>
          </a:prstGeom>
        </p:spPr>
      </p:pic>
      <p:pic>
        <p:nvPicPr>
          <p:cNvPr id="24" name="Graphic 23">
            <a:extLst>
              <a:ext uri="{FF2B5EF4-FFF2-40B4-BE49-F238E27FC236}">
                <a16:creationId xmlns:a16="http://schemas.microsoft.com/office/drawing/2014/main" id="{1FE16C80-34CF-F4F6-C4C6-27351CB9EEB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966538" y="5198957"/>
            <a:ext cx="1879600" cy="1879600"/>
          </a:xfrm>
          <a:prstGeom prst="rect">
            <a:avLst/>
          </a:prstGeom>
        </p:spPr>
      </p:pic>
      <p:pic>
        <p:nvPicPr>
          <p:cNvPr id="28" name="Graphic 27">
            <a:extLst>
              <a:ext uri="{FF2B5EF4-FFF2-40B4-BE49-F238E27FC236}">
                <a16:creationId xmlns:a16="http://schemas.microsoft.com/office/drawing/2014/main" id="{49CABC94-EF4F-01A3-91CA-8B9FC3651E93}"/>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25971" y="5168440"/>
            <a:ext cx="1879600" cy="1879600"/>
          </a:xfrm>
          <a:prstGeom prst="rect">
            <a:avLst/>
          </a:prstGeom>
        </p:spPr>
      </p:pic>
      <p:sp>
        <p:nvSpPr>
          <p:cNvPr id="88" name="TextBox 87">
            <a:extLst>
              <a:ext uri="{FF2B5EF4-FFF2-40B4-BE49-F238E27FC236}">
                <a16:creationId xmlns:a16="http://schemas.microsoft.com/office/drawing/2014/main" id="{790669AD-18F8-09A4-DD66-6FFFCAFE6BE7}"/>
              </a:ext>
            </a:extLst>
          </p:cNvPr>
          <p:cNvSpPr txBox="1"/>
          <p:nvPr/>
        </p:nvSpPr>
        <p:spPr>
          <a:xfrm>
            <a:off x="1163776" y="67240"/>
            <a:ext cx="3859967" cy="369332"/>
          </a:xfrm>
          <a:prstGeom prst="rect">
            <a:avLst/>
          </a:prstGeom>
          <a:noFill/>
        </p:spPr>
        <p:txBody>
          <a:bodyPr wrap="none" rtlCol="0">
            <a:spAutoFit/>
          </a:bodyPr>
          <a:lstStyle/>
          <a:p>
            <a:r>
              <a:rPr lang="en-US" dirty="0"/>
              <a:t>Figure 5: Mechanism – </a:t>
            </a:r>
            <a:r>
              <a:rPr lang="en-US" dirty="0" err="1"/>
              <a:t>avgRR</a:t>
            </a:r>
            <a:r>
              <a:rPr lang="en-US" dirty="0"/>
              <a:t> functions</a:t>
            </a:r>
          </a:p>
        </p:txBody>
      </p:sp>
      <p:sp>
        <p:nvSpPr>
          <p:cNvPr id="89" name="TextBox 88">
            <a:extLst>
              <a:ext uri="{FF2B5EF4-FFF2-40B4-BE49-F238E27FC236}">
                <a16:creationId xmlns:a16="http://schemas.microsoft.com/office/drawing/2014/main" id="{278A2FB0-6D26-57DE-296F-005756EACA1F}"/>
              </a:ext>
            </a:extLst>
          </p:cNvPr>
          <p:cNvSpPr txBox="1"/>
          <p:nvPr/>
        </p:nvSpPr>
        <p:spPr>
          <a:xfrm>
            <a:off x="675659" y="657738"/>
            <a:ext cx="295274" cy="369332"/>
          </a:xfrm>
          <a:prstGeom prst="rect">
            <a:avLst/>
          </a:prstGeom>
          <a:noFill/>
        </p:spPr>
        <p:txBody>
          <a:bodyPr wrap="none" rtlCol="0">
            <a:spAutoFit/>
          </a:bodyPr>
          <a:lstStyle/>
          <a:p>
            <a:r>
              <a:rPr lang="en-US" dirty="0"/>
              <a:t>a</a:t>
            </a:r>
          </a:p>
        </p:txBody>
      </p:sp>
      <p:pic>
        <p:nvPicPr>
          <p:cNvPr id="10" name="Graphic 9">
            <a:extLst>
              <a:ext uri="{FF2B5EF4-FFF2-40B4-BE49-F238E27FC236}">
                <a16:creationId xmlns:a16="http://schemas.microsoft.com/office/drawing/2014/main" id="{D2E090BF-39D6-431C-ECF9-6E2E98BFCE09}"/>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70933" y="1027070"/>
            <a:ext cx="3771900" cy="1879600"/>
          </a:xfrm>
          <a:prstGeom prst="rect">
            <a:avLst/>
          </a:prstGeom>
        </p:spPr>
      </p:pic>
      <p:sp>
        <p:nvSpPr>
          <p:cNvPr id="13" name="TextBox 12">
            <a:extLst>
              <a:ext uri="{FF2B5EF4-FFF2-40B4-BE49-F238E27FC236}">
                <a16:creationId xmlns:a16="http://schemas.microsoft.com/office/drawing/2014/main" id="{826A9F7B-AB98-DCF2-2570-E57BE7F74AB8}"/>
              </a:ext>
            </a:extLst>
          </p:cNvPr>
          <p:cNvSpPr txBox="1"/>
          <p:nvPr/>
        </p:nvSpPr>
        <p:spPr>
          <a:xfrm>
            <a:off x="658089" y="2722004"/>
            <a:ext cx="306494" cy="369332"/>
          </a:xfrm>
          <a:prstGeom prst="rect">
            <a:avLst/>
          </a:prstGeom>
          <a:noFill/>
        </p:spPr>
        <p:txBody>
          <a:bodyPr wrap="none" rtlCol="0">
            <a:spAutoFit/>
          </a:bodyPr>
          <a:lstStyle/>
          <a:p>
            <a:r>
              <a:rPr lang="en-US" dirty="0"/>
              <a:t>b</a:t>
            </a:r>
          </a:p>
        </p:txBody>
      </p:sp>
      <p:sp>
        <p:nvSpPr>
          <p:cNvPr id="14" name="TextBox 13">
            <a:extLst>
              <a:ext uri="{FF2B5EF4-FFF2-40B4-BE49-F238E27FC236}">
                <a16:creationId xmlns:a16="http://schemas.microsoft.com/office/drawing/2014/main" id="{7047C485-C94C-31B3-74F7-BC2C40FDA1A8}"/>
              </a:ext>
            </a:extLst>
          </p:cNvPr>
          <p:cNvSpPr txBox="1"/>
          <p:nvPr/>
        </p:nvSpPr>
        <p:spPr>
          <a:xfrm>
            <a:off x="2702958" y="2830663"/>
            <a:ext cx="282450" cy="369332"/>
          </a:xfrm>
          <a:prstGeom prst="rect">
            <a:avLst/>
          </a:prstGeom>
          <a:noFill/>
        </p:spPr>
        <p:txBody>
          <a:bodyPr wrap="none" rtlCol="0">
            <a:spAutoFit/>
          </a:bodyPr>
          <a:lstStyle/>
          <a:p>
            <a:r>
              <a:rPr lang="en-US" dirty="0"/>
              <a:t>c</a:t>
            </a:r>
          </a:p>
        </p:txBody>
      </p:sp>
      <p:sp>
        <p:nvSpPr>
          <p:cNvPr id="15" name="TextBox 14">
            <a:extLst>
              <a:ext uri="{FF2B5EF4-FFF2-40B4-BE49-F238E27FC236}">
                <a16:creationId xmlns:a16="http://schemas.microsoft.com/office/drawing/2014/main" id="{C9319D23-4F73-98CF-4269-D408D364937D}"/>
              </a:ext>
            </a:extLst>
          </p:cNvPr>
          <p:cNvSpPr txBox="1"/>
          <p:nvPr/>
        </p:nvSpPr>
        <p:spPr>
          <a:xfrm>
            <a:off x="79375" y="8116128"/>
            <a:ext cx="6699250" cy="1785104"/>
          </a:xfrm>
          <a:prstGeom prst="rect">
            <a:avLst/>
          </a:prstGeom>
          <a:noFill/>
        </p:spPr>
        <p:txBody>
          <a:bodyPr wrap="square" rtlCol="0">
            <a:spAutoFit/>
          </a:bodyPr>
          <a:lstStyle/>
          <a:p>
            <a:pPr marL="228600" indent="-228600">
              <a:buAutoNum type="alphaLcParenR"/>
            </a:pPr>
            <a:r>
              <a:rPr lang="en-US" sz="1100" dirty="0"/>
              <a:t>BIC comparison of how beta arises from </a:t>
            </a:r>
            <a:r>
              <a:rPr lang="en-US" sz="1100" dirty="0" err="1"/>
              <a:t>averageRR</a:t>
            </a:r>
            <a:r>
              <a:rPr lang="en-US" sz="1100" dirty="0"/>
              <a:t> – simplest scalar model with one parameter wins, when using their real experienced average reward rate in each block. </a:t>
            </a:r>
          </a:p>
          <a:p>
            <a:pPr marL="228600" indent="-228600">
              <a:buAutoNum type="alphaLcParenR"/>
            </a:pPr>
            <a:r>
              <a:rPr lang="en-US" sz="1100" dirty="0"/>
              <a:t>Participant leave times vs </a:t>
            </a:r>
            <a:r>
              <a:rPr lang="en-US" sz="1100" b="1" dirty="0"/>
              <a:t>(c) </a:t>
            </a:r>
            <a:r>
              <a:rPr lang="en-US" sz="1100" dirty="0"/>
              <a:t>model simulated leaving times </a:t>
            </a:r>
          </a:p>
          <a:p>
            <a:r>
              <a:rPr lang="en-US" sz="1100" b="1" dirty="0"/>
              <a:t>d) </a:t>
            </a:r>
            <a:r>
              <a:rPr lang="en-US" sz="1100" dirty="0"/>
              <a:t>Correlation of participant lambda fits with participant mean leaving times  [</a:t>
            </a:r>
            <a:r>
              <a:rPr lang="en-US" sz="1100" i="1" dirty="0"/>
              <a:t>r</a:t>
            </a:r>
            <a:r>
              <a:rPr lang="en-US" sz="1100" dirty="0"/>
              <a:t>(37) = 0.99, </a:t>
            </a:r>
            <a:r>
              <a:rPr lang="en-US" sz="1100" i="1" dirty="0"/>
              <a:t>p</a:t>
            </a:r>
            <a:r>
              <a:rPr lang="en-US" sz="1100" dirty="0"/>
              <a:t> &lt; .001].</a:t>
            </a:r>
          </a:p>
          <a:p>
            <a:r>
              <a:rPr lang="en-US" sz="1100" b="1" dirty="0"/>
              <a:t>e) </a:t>
            </a:r>
            <a:r>
              <a:rPr lang="en-US" sz="1100" dirty="0"/>
              <a:t>SD of </a:t>
            </a:r>
            <a:r>
              <a:rPr lang="en-US" sz="1100" b="1" dirty="0"/>
              <a:t>participants</a:t>
            </a:r>
            <a:r>
              <a:rPr lang="en-US" sz="1100" dirty="0"/>
              <a:t> was not significantly different across patch, environment or interaction (statistics reported in Fig 2) </a:t>
            </a:r>
          </a:p>
          <a:p>
            <a:r>
              <a:rPr lang="en-US" sz="1100" b="1" dirty="0"/>
              <a:t>f) </a:t>
            </a:r>
            <a:r>
              <a:rPr lang="en-US" sz="1100" dirty="0"/>
              <a:t>Consistent with participants, SD of </a:t>
            </a:r>
            <a:r>
              <a:rPr lang="en-US" sz="1100" b="1" dirty="0"/>
              <a:t>simulated </a:t>
            </a:r>
            <a:r>
              <a:rPr lang="en-US" sz="1100" dirty="0"/>
              <a:t>leaving times was not significantly different across patch, environment or interaction [Patch yield: </a:t>
            </a:r>
            <a:r>
              <a:rPr lang="en-US" sz="1100" i="1" dirty="0"/>
              <a:t>F</a:t>
            </a:r>
            <a:r>
              <a:rPr lang="en-US" sz="1100" dirty="0"/>
              <a:t>(2,228) = 1.24, </a:t>
            </a:r>
            <a:r>
              <a:rPr lang="en-US" sz="1100" i="1" dirty="0"/>
              <a:t>p</a:t>
            </a:r>
            <a:r>
              <a:rPr lang="en-US" sz="1100" dirty="0"/>
              <a:t> = 0.29; Environment: </a:t>
            </a:r>
            <a:r>
              <a:rPr lang="en-US" sz="1100" i="1" dirty="0"/>
              <a:t>F</a:t>
            </a:r>
            <a:r>
              <a:rPr lang="en-US" sz="1100" dirty="0"/>
              <a:t>(1,228) = 0.29, </a:t>
            </a:r>
            <a:r>
              <a:rPr lang="en-US" sz="1100" i="1" dirty="0"/>
              <a:t>p</a:t>
            </a:r>
            <a:r>
              <a:rPr lang="en-US" sz="1100" dirty="0"/>
              <a:t> = 0.59; Interaction: </a:t>
            </a:r>
            <a:r>
              <a:rPr lang="en-US" sz="1100" i="1" dirty="0"/>
              <a:t>F</a:t>
            </a:r>
            <a:r>
              <a:rPr lang="en-US" sz="1100" dirty="0"/>
              <a:t>(2,228) = 0.60, </a:t>
            </a:r>
            <a:r>
              <a:rPr lang="en-US" sz="1100" i="1" dirty="0"/>
              <a:t>p</a:t>
            </a:r>
            <a:r>
              <a:rPr lang="en-US" sz="1100" dirty="0"/>
              <a:t> = 0.55]. </a:t>
            </a:r>
          </a:p>
          <a:p>
            <a:endParaRPr lang="en-US" sz="1100" dirty="0"/>
          </a:p>
        </p:txBody>
      </p:sp>
      <p:sp>
        <p:nvSpPr>
          <p:cNvPr id="18" name="TextBox 17">
            <a:extLst>
              <a:ext uri="{FF2B5EF4-FFF2-40B4-BE49-F238E27FC236}">
                <a16:creationId xmlns:a16="http://schemas.microsoft.com/office/drawing/2014/main" id="{66AAAE6B-C5A2-2C3F-EC4A-70EC847B705D}"/>
              </a:ext>
            </a:extLst>
          </p:cNvPr>
          <p:cNvSpPr txBox="1"/>
          <p:nvPr/>
        </p:nvSpPr>
        <p:spPr>
          <a:xfrm>
            <a:off x="4608636" y="2798011"/>
            <a:ext cx="306494" cy="369332"/>
          </a:xfrm>
          <a:prstGeom prst="rect">
            <a:avLst/>
          </a:prstGeom>
          <a:noFill/>
        </p:spPr>
        <p:txBody>
          <a:bodyPr wrap="none" rtlCol="0">
            <a:spAutoFit/>
          </a:bodyPr>
          <a:lstStyle/>
          <a:p>
            <a:r>
              <a:rPr lang="en-US" dirty="0"/>
              <a:t>d</a:t>
            </a:r>
          </a:p>
        </p:txBody>
      </p:sp>
      <p:sp>
        <p:nvSpPr>
          <p:cNvPr id="29" name="TextBox 28">
            <a:extLst>
              <a:ext uri="{FF2B5EF4-FFF2-40B4-BE49-F238E27FC236}">
                <a16:creationId xmlns:a16="http://schemas.microsoft.com/office/drawing/2014/main" id="{84F42AB4-4F31-0D9C-69C7-04A9D16CF2C1}"/>
              </a:ext>
            </a:extLst>
          </p:cNvPr>
          <p:cNvSpPr txBox="1"/>
          <p:nvPr/>
        </p:nvSpPr>
        <p:spPr>
          <a:xfrm>
            <a:off x="614963" y="4926395"/>
            <a:ext cx="300082" cy="369332"/>
          </a:xfrm>
          <a:prstGeom prst="rect">
            <a:avLst/>
          </a:prstGeom>
          <a:noFill/>
        </p:spPr>
        <p:txBody>
          <a:bodyPr wrap="none" rtlCol="0">
            <a:spAutoFit/>
          </a:bodyPr>
          <a:lstStyle/>
          <a:p>
            <a:r>
              <a:rPr lang="en-US" dirty="0"/>
              <a:t>e</a:t>
            </a:r>
          </a:p>
        </p:txBody>
      </p:sp>
      <p:sp>
        <p:nvSpPr>
          <p:cNvPr id="30" name="TextBox 29">
            <a:extLst>
              <a:ext uri="{FF2B5EF4-FFF2-40B4-BE49-F238E27FC236}">
                <a16:creationId xmlns:a16="http://schemas.microsoft.com/office/drawing/2014/main" id="{FDB2A53E-2048-8B65-2469-4D23B7A4FA73}"/>
              </a:ext>
            </a:extLst>
          </p:cNvPr>
          <p:cNvSpPr txBox="1"/>
          <p:nvPr/>
        </p:nvSpPr>
        <p:spPr>
          <a:xfrm>
            <a:off x="2736012" y="5001453"/>
            <a:ext cx="255198" cy="369332"/>
          </a:xfrm>
          <a:prstGeom prst="rect">
            <a:avLst/>
          </a:prstGeom>
          <a:noFill/>
        </p:spPr>
        <p:txBody>
          <a:bodyPr wrap="none" rtlCol="0">
            <a:spAutoFit/>
          </a:bodyPr>
          <a:lstStyle/>
          <a:p>
            <a:r>
              <a:rPr lang="en-US" dirty="0"/>
              <a:t>f</a:t>
            </a:r>
          </a:p>
        </p:txBody>
      </p:sp>
      <p:sp>
        <p:nvSpPr>
          <p:cNvPr id="31" name="TextBox 30">
            <a:extLst>
              <a:ext uri="{FF2B5EF4-FFF2-40B4-BE49-F238E27FC236}">
                <a16:creationId xmlns:a16="http://schemas.microsoft.com/office/drawing/2014/main" id="{705723F3-505B-081D-F808-A1B66CAB34AF}"/>
              </a:ext>
            </a:extLst>
          </p:cNvPr>
          <p:cNvSpPr txBox="1"/>
          <p:nvPr/>
        </p:nvSpPr>
        <p:spPr>
          <a:xfrm>
            <a:off x="1667640" y="5573871"/>
            <a:ext cx="396262" cy="369332"/>
          </a:xfrm>
          <a:prstGeom prst="rect">
            <a:avLst/>
          </a:prstGeom>
          <a:noFill/>
        </p:spPr>
        <p:txBody>
          <a:bodyPr wrap="none" rtlCol="0">
            <a:spAutoFit/>
          </a:bodyPr>
          <a:lstStyle/>
          <a:p>
            <a:r>
              <a:rPr lang="en-US" dirty="0"/>
              <a:t>ns</a:t>
            </a:r>
          </a:p>
        </p:txBody>
      </p:sp>
      <p:sp>
        <p:nvSpPr>
          <p:cNvPr id="32" name="TextBox 31">
            <a:extLst>
              <a:ext uri="{FF2B5EF4-FFF2-40B4-BE49-F238E27FC236}">
                <a16:creationId xmlns:a16="http://schemas.microsoft.com/office/drawing/2014/main" id="{946ED835-11B4-3423-2C23-997613064778}"/>
              </a:ext>
            </a:extLst>
          </p:cNvPr>
          <p:cNvSpPr txBox="1"/>
          <p:nvPr/>
        </p:nvSpPr>
        <p:spPr>
          <a:xfrm>
            <a:off x="3736899" y="5357739"/>
            <a:ext cx="396262" cy="369332"/>
          </a:xfrm>
          <a:prstGeom prst="rect">
            <a:avLst/>
          </a:prstGeom>
          <a:noFill/>
        </p:spPr>
        <p:txBody>
          <a:bodyPr wrap="none" rtlCol="0">
            <a:spAutoFit/>
          </a:bodyPr>
          <a:lstStyle/>
          <a:p>
            <a:r>
              <a:rPr lang="en-US" dirty="0"/>
              <a:t>ns</a:t>
            </a:r>
          </a:p>
        </p:txBody>
      </p:sp>
    </p:spTree>
    <p:extLst>
      <p:ext uri="{BB962C8B-B14F-4D97-AF65-F5344CB8AC3E}">
        <p14:creationId xmlns:p14="http://schemas.microsoft.com/office/powerpoint/2010/main" val="40408994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 name="TextBox 87">
            <a:extLst>
              <a:ext uri="{FF2B5EF4-FFF2-40B4-BE49-F238E27FC236}">
                <a16:creationId xmlns:a16="http://schemas.microsoft.com/office/drawing/2014/main" id="{790669AD-18F8-09A4-DD66-6FFFCAFE6BE7}"/>
              </a:ext>
            </a:extLst>
          </p:cNvPr>
          <p:cNvSpPr txBox="1"/>
          <p:nvPr/>
        </p:nvSpPr>
        <p:spPr>
          <a:xfrm>
            <a:off x="448159" y="103740"/>
            <a:ext cx="5342168" cy="369332"/>
          </a:xfrm>
          <a:prstGeom prst="rect">
            <a:avLst/>
          </a:prstGeom>
          <a:noFill/>
        </p:spPr>
        <p:txBody>
          <a:bodyPr wrap="none" rtlCol="0">
            <a:spAutoFit/>
          </a:bodyPr>
          <a:lstStyle/>
          <a:p>
            <a:r>
              <a:rPr lang="en-US" b="1" dirty="0"/>
              <a:t>Supplementary </a:t>
            </a:r>
            <a:r>
              <a:rPr lang="en-US" dirty="0"/>
              <a:t>Figure 5: Mechanism – </a:t>
            </a:r>
            <a:r>
              <a:rPr lang="en-US" dirty="0" err="1"/>
              <a:t>avgRR</a:t>
            </a:r>
            <a:r>
              <a:rPr lang="en-US" dirty="0"/>
              <a:t> functions</a:t>
            </a:r>
          </a:p>
        </p:txBody>
      </p:sp>
      <p:sp>
        <p:nvSpPr>
          <p:cNvPr id="89" name="TextBox 88">
            <a:extLst>
              <a:ext uri="{FF2B5EF4-FFF2-40B4-BE49-F238E27FC236}">
                <a16:creationId xmlns:a16="http://schemas.microsoft.com/office/drawing/2014/main" id="{278A2FB0-6D26-57DE-296F-005756EACA1F}"/>
              </a:ext>
            </a:extLst>
          </p:cNvPr>
          <p:cNvSpPr txBox="1"/>
          <p:nvPr/>
        </p:nvSpPr>
        <p:spPr>
          <a:xfrm>
            <a:off x="675659" y="657738"/>
            <a:ext cx="295274" cy="369332"/>
          </a:xfrm>
          <a:prstGeom prst="rect">
            <a:avLst/>
          </a:prstGeom>
          <a:noFill/>
        </p:spPr>
        <p:txBody>
          <a:bodyPr wrap="none" rtlCol="0">
            <a:spAutoFit/>
          </a:bodyPr>
          <a:lstStyle/>
          <a:p>
            <a:r>
              <a:rPr lang="en-US" dirty="0"/>
              <a:t>a</a:t>
            </a:r>
          </a:p>
        </p:txBody>
      </p:sp>
      <p:sp>
        <p:nvSpPr>
          <p:cNvPr id="15" name="TextBox 14">
            <a:extLst>
              <a:ext uri="{FF2B5EF4-FFF2-40B4-BE49-F238E27FC236}">
                <a16:creationId xmlns:a16="http://schemas.microsoft.com/office/drawing/2014/main" id="{C9319D23-4F73-98CF-4269-D408D364937D}"/>
              </a:ext>
            </a:extLst>
          </p:cNvPr>
          <p:cNvSpPr txBox="1"/>
          <p:nvPr/>
        </p:nvSpPr>
        <p:spPr>
          <a:xfrm>
            <a:off x="79375" y="8820835"/>
            <a:ext cx="6699250" cy="1277273"/>
          </a:xfrm>
          <a:prstGeom prst="rect">
            <a:avLst/>
          </a:prstGeom>
          <a:noFill/>
        </p:spPr>
        <p:txBody>
          <a:bodyPr wrap="square" rtlCol="0">
            <a:spAutoFit/>
          </a:bodyPr>
          <a:lstStyle/>
          <a:p>
            <a:pPr marL="228600" indent="-228600">
              <a:buAutoNum type="alphaLcParenR"/>
            </a:pPr>
            <a:r>
              <a:rPr lang="en-US" sz="1100" dirty="0"/>
              <a:t>BIC comparison of all </a:t>
            </a:r>
            <a:r>
              <a:rPr lang="en-US" sz="1100" dirty="0" err="1"/>
              <a:t>avgRR</a:t>
            </a:r>
            <a:r>
              <a:rPr lang="en-US" sz="1100" dirty="0"/>
              <a:t> functions for Contreras-Huerta dataset – same simple model wins.</a:t>
            </a:r>
          </a:p>
          <a:p>
            <a:pPr marL="228600" indent="-228600">
              <a:buFontTx/>
              <a:buAutoNum type="alphaLcParenR"/>
            </a:pPr>
            <a:r>
              <a:rPr lang="en-US" sz="1100" dirty="0"/>
              <a:t>BIC comparison of all </a:t>
            </a:r>
            <a:r>
              <a:rPr lang="en-US" sz="1100" dirty="0" err="1"/>
              <a:t>avgRR</a:t>
            </a:r>
            <a:r>
              <a:rPr lang="en-US" sz="1100" dirty="0"/>
              <a:t> functions for Kane dataset – same simple model wins. </a:t>
            </a:r>
          </a:p>
          <a:p>
            <a:pPr marL="228600" indent="-228600">
              <a:buAutoNum type="alphaLcParenR"/>
            </a:pPr>
            <a:r>
              <a:rPr lang="en-US" sz="1100" dirty="0"/>
              <a:t>For winning function, both simulated leaving times and (d) standard deviations looks like participant data for Contreras-Huerta dataset</a:t>
            </a:r>
          </a:p>
          <a:p>
            <a:r>
              <a:rPr lang="en-US" sz="1100" dirty="0"/>
              <a:t>e) For winning function, simulated leaving times look like participant data for Kane dataset but f) standard deviation doesn’t replicate (as we saw with the </a:t>
            </a:r>
            <a:r>
              <a:rPr lang="en-US" sz="1100" dirty="0" err="1"/>
              <a:t>softmax</a:t>
            </a:r>
            <a:r>
              <a:rPr lang="en-US" sz="1100" dirty="0"/>
              <a:t> model in Fig 4 anyway) </a:t>
            </a:r>
          </a:p>
          <a:p>
            <a:pPr marL="228600" indent="-228600">
              <a:buAutoNum type="alphaLcParenR"/>
            </a:pPr>
            <a:endParaRPr lang="en-US" sz="1100" dirty="0"/>
          </a:p>
        </p:txBody>
      </p:sp>
      <p:pic>
        <p:nvPicPr>
          <p:cNvPr id="3" name="Graphic 2">
            <a:extLst>
              <a:ext uri="{FF2B5EF4-FFF2-40B4-BE49-F238E27FC236}">
                <a16:creationId xmlns:a16="http://schemas.microsoft.com/office/drawing/2014/main" id="{ACF357FC-317F-2578-F206-FDAB203712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70933" y="1027070"/>
            <a:ext cx="3771900" cy="1879600"/>
          </a:xfrm>
          <a:prstGeom prst="rect">
            <a:avLst/>
          </a:prstGeom>
        </p:spPr>
      </p:pic>
      <p:sp>
        <p:nvSpPr>
          <p:cNvPr id="4" name="TextBox 3">
            <a:extLst>
              <a:ext uri="{FF2B5EF4-FFF2-40B4-BE49-F238E27FC236}">
                <a16:creationId xmlns:a16="http://schemas.microsoft.com/office/drawing/2014/main" id="{271B56A4-6A3D-3F82-DDEB-FAE4484DA50B}"/>
              </a:ext>
            </a:extLst>
          </p:cNvPr>
          <p:cNvSpPr txBox="1"/>
          <p:nvPr/>
        </p:nvSpPr>
        <p:spPr>
          <a:xfrm>
            <a:off x="522412" y="2981740"/>
            <a:ext cx="306494" cy="369332"/>
          </a:xfrm>
          <a:prstGeom prst="rect">
            <a:avLst/>
          </a:prstGeom>
          <a:noFill/>
        </p:spPr>
        <p:txBody>
          <a:bodyPr wrap="none" rtlCol="0">
            <a:spAutoFit/>
          </a:bodyPr>
          <a:lstStyle/>
          <a:p>
            <a:r>
              <a:rPr lang="en-US" dirty="0"/>
              <a:t>b</a:t>
            </a:r>
          </a:p>
        </p:txBody>
      </p:sp>
      <p:pic>
        <p:nvPicPr>
          <p:cNvPr id="6" name="Graphic 5">
            <a:extLst>
              <a:ext uri="{FF2B5EF4-FFF2-40B4-BE49-F238E27FC236}">
                <a16:creationId xmlns:a16="http://schemas.microsoft.com/office/drawing/2014/main" id="{FDC332B5-486C-54F8-8F1D-4CCCEE4B1DA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5972" y="3276002"/>
            <a:ext cx="3771900" cy="1879600"/>
          </a:xfrm>
          <a:prstGeom prst="rect">
            <a:avLst/>
          </a:prstGeom>
        </p:spPr>
      </p:pic>
      <p:pic>
        <p:nvPicPr>
          <p:cNvPr id="27" name="Graphic 26">
            <a:extLst>
              <a:ext uri="{FF2B5EF4-FFF2-40B4-BE49-F238E27FC236}">
                <a16:creationId xmlns:a16="http://schemas.microsoft.com/office/drawing/2014/main" id="{86EB060F-89B8-245E-A4AE-786CAC19520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157180" y="6941235"/>
            <a:ext cx="1879600" cy="1879600"/>
          </a:xfrm>
          <a:prstGeom prst="rect">
            <a:avLst/>
          </a:prstGeom>
        </p:spPr>
      </p:pic>
      <p:pic>
        <p:nvPicPr>
          <p:cNvPr id="34" name="Graphic 33">
            <a:extLst>
              <a:ext uri="{FF2B5EF4-FFF2-40B4-BE49-F238E27FC236}">
                <a16:creationId xmlns:a16="http://schemas.microsoft.com/office/drawing/2014/main" id="{600BCD02-C71E-B02A-B5A7-2F16B25C4763}"/>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77283" y="6941235"/>
            <a:ext cx="1879600" cy="1879600"/>
          </a:xfrm>
          <a:prstGeom prst="rect">
            <a:avLst/>
          </a:prstGeom>
        </p:spPr>
      </p:pic>
      <p:pic>
        <p:nvPicPr>
          <p:cNvPr id="36" name="Graphic 35">
            <a:extLst>
              <a:ext uri="{FF2B5EF4-FFF2-40B4-BE49-F238E27FC236}">
                <a16:creationId xmlns:a16="http://schemas.microsoft.com/office/drawing/2014/main" id="{F17BAC60-F2EB-DDFB-93A1-3CD64006058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50830" y="5058817"/>
            <a:ext cx="1879600" cy="1879600"/>
          </a:xfrm>
          <a:prstGeom prst="rect">
            <a:avLst/>
          </a:prstGeom>
        </p:spPr>
      </p:pic>
      <p:pic>
        <p:nvPicPr>
          <p:cNvPr id="38" name="Graphic 37">
            <a:extLst>
              <a:ext uri="{FF2B5EF4-FFF2-40B4-BE49-F238E27FC236}">
                <a16:creationId xmlns:a16="http://schemas.microsoft.com/office/drawing/2014/main" id="{06498D07-0965-0350-B0ED-D01B7451F725}"/>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70933" y="5026968"/>
            <a:ext cx="1879600" cy="1879600"/>
          </a:xfrm>
          <a:prstGeom prst="rect">
            <a:avLst/>
          </a:prstGeom>
        </p:spPr>
      </p:pic>
      <p:sp>
        <p:nvSpPr>
          <p:cNvPr id="39" name="TextBox 38">
            <a:extLst>
              <a:ext uri="{FF2B5EF4-FFF2-40B4-BE49-F238E27FC236}">
                <a16:creationId xmlns:a16="http://schemas.microsoft.com/office/drawing/2014/main" id="{FE67F76E-14F5-F5B3-6E6A-2F8130591958}"/>
              </a:ext>
            </a:extLst>
          </p:cNvPr>
          <p:cNvSpPr txBox="1"/>
          <p:nvPr/>
        </p:nvSpPr>
        <p:spPr>
          <a:xfrm>
            <a:off x="529411" y="5155602"/>
            <a:ext cx="282450" cy="369332"/>
          </a:xfrm>
          <a:prstGeom prst="rect">
            <a:avLst/>
          </a:prstGeom>
          <a:noFill/>
        </p:spPr>
        <p:txBody>
          <a:bodyPr wrap="none" rtlCol="0">
            <a:spAutoFit/>
          </a:bodyPr>
          <a:lstStyle/>
          <a:p>
            <a:r>
              <a:rPr lang="en-US" dirty="0"/>
              <a:t>c</a:t>
            </a:r>
          </a:p>
        </p:txBody>
      </p:sp>
      <p:sp>
        <p:nvSpPr>
          <p:cNvPr id="40" name="TextBox 39">
            <a:extLst>
              <a:ext uri="{FF2B5EF4-FFF2-40B4-BE49-F238E27FC236}">
                <a16:creationId xmlns:a16="http://schemas.microsoft.com/office/drawing/2014/main" id="{62DB1383-5E71-38DD-CEDB-8F6A2BF18F4C}"/>
              </a:ext>
            </a:extLst>
          </p:cNvPr>
          <p:cNvSpPr txBox="1"/>
          <p:nvPr/>
        </p:nvSpPr>
        <p:spPr>
          <a:xfrm>
            <a:off x="2812022" y="5206881"/>
            <a:ext cx="306494" cy="369332"/>
          </a:xfrm>
          <a:prstGeom prst="rect">
            <a:avLst/>
          </a:prstGeom>
          <a:noFill/>
        </p:spPr>
        <p:txBody>
          <a:bodyPr wrap="none" rtlCol="0">
            <a:spAutoFit/>
          </a:bodyPr>
          <a:lstStyle/>
          <a:p>
            <a:r>
              <a:rPr lang="en-US" dirty="0"/>
              <a:t>d</a:t>
            </a:r>
          </a:p>
        </p:txBody>
      </p:sp>
      <p:sp>
        <p:nvSpPr>
          <p:cNvPr id="41" name="TextBox 40">
            <a:extLst>
              <a:ext uri="{FF2B5EF4-FFF2-40B4-BE49-F238E27FC236}">
                <a16:creationId xmlns:a16="http://schemas.microsoft.com/office/drawing/2014/main" id="{4CD7BEAC-3D27-69B6-2F7B-3EB2403DBF73}"/>
              </a:ext>
            </a:extLst>
          </p:cNvPr>
          <p:cNvSpPr txBox="1"/>
          <p:nvPr/>
        </p:nvSpPr>
        <p:spPr>
          <a:xfrm>
            <a:off x="638831" y="6959985"/>
            <a:ext cx="300082" cy="369332"/>
          </a:xfrm>
          <a:prstGeom prst="rect">
            <a:avLst/>
          </a:prstGeom>
          <a:noFill/>
        </p:spPr>
        <p:txBody>
          <a:bodyPr wrap="none" rtlCol="0">
            <a:spAutoFit/>
          </a:bodyPr>
          <a:lstStyle/>
          <a:p>
            <a:r>
              <a:rPr lang="en-US" dirty="0"/>
              <a:t>e</a:t>
            </a:r>
          </a:p>
        </p:txBody>
      </p:sp>
      <p:sp>
        <p:nvSpPr>
          <p:cNvPr id="42" name="TextBox 41">
            <a:extLst>
              <a:ext uri="{FF2B5EF4-FFF2-40B4-BE49-F238E27FC236}">
                <a16:creationId xmlns:a16="http://schemas.microsoft.com/office/drawing/2014/main" id="{E5DF10BB-CA89-EED3-B617-9B9900365DA6}"/>
              </a:ext>
            </a:extLst>
          </p:cNvPr>
          <p:cNvSpPr txBox="1"/>
          <p:nvPr/>
        </p:nvSpPr>
        <p:spPr>
          <a:xfrm>
            <a:off x="2847708" y="6883065"/>
            <a:ext cx="255198" cy="369332"/>
          </a:xfrm>
          <a:prstGeom prst="rect">
            <a:avLst/>
          </a:prstGeom>
          <a:noFill/>
        </p:spPr>
        <p:txBody>
          <a:bodyPr wrap="none" rtlCol="0">
            <a:spAutoFit/>
          </a:bodyPr>
          <a:lstStyle/>
          <a:p>
            <a:r>
              <a:rPr lang="en-US"/>
              <a:t>f</a:t>
            </a:r>
          </a:p>
        </p:txBody>
      </p:sp>
    </p:spTree>
    <p:extLst>
      <p:ext uri="{BB962C8B-B14F-4D97-AF65-F5344CB8AC3E}">
        <p14:creationId xmlns:p14="http://schemas.microsoft.com/office/powerpoint/2010/main" val="240081917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17728</TotalTime>
  <Words>1748</Words>
  <Application>Microsoft Macintosh PowerPoint</Application>
  <PresentationFormat>A4 Paper (210x297 mm)</PresentationFormat>
  <Paragraphs>207</Paragraphs>
  <Slides>12</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Figures for stochastic MVT paper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for stochastic MVT paper</dc:title>
  <dc:creator>Emma Scholey (PhD Psychology Lab FT)</dc:creator>
  <cp:lastModifiedBy>Emma Scholey (PhD Psychology Lab FT)</cp:lastModifiedBy>
  <cp:revision>119</cp:revision>
  <dcterms:created xsi:type="dcterms:W3CDTF">2023-07-17T08:29:56Z</dcterms:created>
  <dcterms:modified xsi:type="dcterms:W3CDTF">2023-08-31T08:53:23Z</dcterms:modified>
</cp:coreProperties>
</file>