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comments/comment3.xml" ContentType="application/vnd.openxmlformats-officedocument.presentationml.comments+xml"/>
  <Override PartName="/ppt/notesSlides/notesSlide3.xml" ContentType="application/vnd.openxmlformats-officedocument.presentationml.notesSlide+xml"/>
  <Override PartName="/ppt/comments/comment4.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comments/comment7.xml" ContentType="application/vnd.openxmlformats-officedocument.presentationml.comments+xml"/>
  <Override PartName="/ppt/notesSlides/notesSlide8.xml" ContentType="application/vnd.openxmlformats-officedocument.presentationml.notesSlide+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4"/>
  </p:notesMasterIdLst>
  <p:sldIdLst>
    <p:sldId id="256" r:id="rId2"/>
    <p:sldId id="281" r:id="rId3"/>
    <p:sldId id="292" r:id="rId4"/>
    <p:sldId id="288" r:id="rId5"/>
    <p:sldId id="282" r:id="rId6"/>
    <p:sldId id="293" r:id="rId7"/>
    <p:sldId id="286" r:id="rId8"/>
    <p:sldId id="290" r:id="rId9"/>
    <p:sldId id="287" r:id="rId10"/>
    <p:sldId id="291" r:id="rId11"/>
    <p:sldId id="285" r:id="rId12"/>
    <p:sldId id="289" r:id="rId1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9084A4-9AB7-154A-B85F-872B15CFB7AD}">
          <p14:sldIdLst>
            <p14:sldId id="256"/>
            <p14:sldId id="281"/>
            <p14:sldId id="292"/>
            <p14:sldId id="288"/>
            <p14:sldId id="282"/>
            <p14:sldId id="293"/>
            <p14:sldId id="286"/>
            <p14:sldId id="290"/>
            <p14:sldId id="287"/>
            <p14:sldId id="291"/>
            <p14:sldId id="285"/>
            <p14:sldId id="28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Humphries (staff)" initials="MH(" lastIdx="10" clrIdx="0">
    <p:extLst>
      <p:ext uri="{19B8F6BF-5375-455C-9EA6-DF929625EA0E}">
        <p15:presenceInfo xmlns:p15="http://schemas.microsoft.com/office/powerpoint/2012/main" userId="S::mark.humphries@nottingham.ac.uk::ab10e92a-91dd-4d72-9eaf-3a3018324676" providerId="AD"/>
      </p:ext>
    </p:extLst>
  </p:cmAuthor>
  <p:cmAuthor id="2" name="Emma Scholey (PhD Psychology Lab FT)" initials="ES(PLF" lastIdx="64" clrIdx="1">
    <p:extLst>
      <p:ext uri="{19B8F6BF-5375-455C-9EA6-DF929625EA0E}">
        <p15:presenceInfo xmlns:p15="http://schemas.microsoft.com/office/powerpoint/2012/main" userId="S::exs165@student.bham.ac.uk::b8267b62-ea09-491f-89e3-b1308758bc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490"/>
    <p:restoredTop sz="94700"/>
  </p:normalViewPr>
  <p:slideViewPr>
    <p:cSldViewPr snapToGrid="0">
      <p:cViewPr>
        <p:scale>
          <a:sx n="160" d="100"/>
          <a:sy n="160" d="100"/>
        </p:scale>
        <p:origin x="288" y="-5184"/>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8-07T18:07:50.664" idx="2">
    <p:pos x="10" y="10"/>
    <p:text>Have just taken this from your grant for now - will redraft this </p:text>
    <p:extLst>
      <p:ext uri="{C676402C-5697-4E1C-873F-D02D1690AC5C}">
        <p15:threadingInfo xmlns:p15="http://schemas.microsoft.com/office/powerpoint/2012/main" timeZoneBias="-60"/>
      </p:ext>
    </p:extLst>
  </p:cm>
  <p:cm authorId="2" dt="2023-08-07T18:08:32.026" idx="3">
    <p:pos x="146" y="146"/>
    <p:text>Decide on legends - put labels on lines?</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08-07T18:09:20.175" idx="62">
    <p:pos x="282" y="282"/>
    <p:text>Supplementary: 
Timestep/continuous time analysis? </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3-08-09T11:52:21.924" idx="42">
    <p:pos x="3476" y="1678"/>
    <p:text>This 2.8s travel time is annoying as we can't model it with timstep of 1s. For fitting, I just assumed that travel time for this env is 3s. Okay, or need to rethink? </p:text>
    <p:extLst>
      <p:ext uri="{C676402C-5697-4E1C-873F-D02D1690AC5C}">
        <p15:threadingInfo xmlns:p15="http://schemas.microsoft.com/office/powerpoint/2012/main" timeZoneBias="-60"/>
      </p:ext>
    </p:extLst>
  </p:cm>
  <p:cm authorId="2" dt="2023-08-09T11:53:48.537" idx="43">
    <p:pos x="3476" y="1814"/>
    <p:text>Could look at study 1 of their data instead which has 6s travel time and instead varies env by patch frequency (like Le Heron)</p:text>
    <p:extLst>
      <p:ext uri="{C676402C-5697-4E1C-873F-D02D1690AC5C}">
        <p15:threadingInfo xmlns:p15="http://schemas.microsoft.com/office/powerpoint/2012/main" timeZoneBias="-60">
          <p15:parentCm authorId="2" idx="42"/>
        </p15:threadingInfo>
      </p:ext>
    </p:extLst>
  </p:cm>
  <p:cm authorId="2" dt="2023-08-09T11:54:04.988" idx="44">
    <p:pos x="45" y="1768"/>
    <p:text>Study had 6 blocks (3 rich, 3 poor). For fitting, I just assumed they were fit together (no refresh in between blocks)</p:text>
    <p:extLst>
      <p:ext uri="{C676402C-5697-4E1C-873F-D02D1690AC5C}">
        <p15:threadingInfo xmlns:p15="http://schemas.microsoft.com/office/powerpoint/2012/main" timeZoneBias="-60"/>
      </p:ext>
    </p:extLst>
  </p:cm>
  <p:cm authorId="2" dt="2023-08-09T11:58:40.616" idx="46">
    <p:pos x="50" y="2109"/>
    <p:text>Each rat had 5 days of testing, results averaged over all 5 test days. For fitting, I just assumed they were fit together (no 'refresh' in between blocks)</p:text>
    <p:extLst>
      <p:ext uri="{C676402C-5697-4E1C-873F-D02D1690AC5C}">
        <p15:threadingInfo xmlns:p15="http://schemas.microsoft.com/office/powerpoint/2012/main" timeZoneBias="-60"/>
      </p:ext>
    </p:extLst>
  </p:cm>
  <p:cm authorId="2" dt="2023-08-09T11:59:59.827" idx="47">
    <p:pos x="50" y="2229"/>
    <p:text>In this paper, they use continuous time semi-markov models, but then split the task into states based on events, and assume time in each state is constant... is it valid for us to model each 1s 'tilmestep' as a state? </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3-08-08T16:23:41.958" idx="23">
    <p:pos x="2968" y="219"/>
    <p:text>These are very similar to Fig 1 plots, since I'm using the Le Heron RR function in fig 1. But I still think I should repeat the model predictions for this specific task here, since each task will have different predictions</p:text>
    <p:extLst>
      <p:ext uri="{C676402C-5697-4E1C-873F-D02D1690AC5C}">
        <p15:threadingInfo xmlns:p15="http://schemas.microsoft.com/office/powerpoint/2012/main" timeZoneBias="-60"/>
      </p:ext>
    </p:extLst>
  </p:cm>
  <p:cm authorId="2" dt="2023-08-08T16:24:44.694" idx="24">
    <p:pos x="1262" y="606"/>
    <p:text>Panel a has MVT beta's overlaid, whereas panel b and c have expected group participant beta's from leaving times overlaid. This could cause confusion, but want to show clear SD prediction at the plateau in fig c. Ideas?</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3-08-08T16:24:44.694" idx="29">
    <p:pos x="3536" y="331"/>
    <p:text>Panel a has MVT beta's overlaid, whereas panel b and c have expected group participant beta's from leaving times overlaid. This could confusion, but want to show clear SD prediction at the plateau in fig c. Ideas?</p:text>
    <p:extLst>
      <p:ext uri="{C676402C-5697-4E1C-873F-D02D1690AC5C}">
        <p15:threadingInfo xmlns:p15="http://schemas.microsoft.com/office/powerpoint/2012/main" timeZoneBias="-60"/>
      </p:ext>
    </p:extLst>
  </p:cm>
  <p:cm authorId="2" dt="2023-08-09T11:57:01.676" idx="45">
    <p:pos x="1308" y="1764"/>
    <p:text>Need to look into why learning rho model works better</p:text>
    <p:extLst>
      <p:ext uri="{C676402C-5697-4E1C-873F-D02D1690AC5C}">
        <p15:threadingInfo xmlns:p15="http://schemas.microsoft.com/office/powerpoint/2012/main" timeZoneBias="-6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3-08-08T16:24:44.694" idx="34">
    <p:pos x="1292" y="516"/>
    <p:text>Panel a has MVT beta's overlaid, whereas panel b and c have expected group participant beta's from leaving times overlaid. This could confusion, but want to show clear SD prediction at the plateau in fig c. Ideas?</p:text>
    <p:extLst>
      <p:ext uri="{C676402C-5697-4E1C-873F-D02D1690AC5C}">
        <p15:threadingInfo xmlns:p15="http://schemas.microsoft.com/office/powerpoint/2012/main" timeZoneBias="-60"/>
      </p:ext>
    </p:extLst>
  </p:cm>
  <p:cm authorId="2" dt="2023-08-08T16:33:04.911" idx="36">
    <p:pos x="1110" y="484"/>
    <p:text>Need to overlay MVT avgRR on here</p:text>
    <p:extLst>
      <p:ext uri="{C676402C-5697-4E1C-873F-D02D1690AC5C}">
        <p15:threadingInfo xmlns:p15="http://schemas.microsoft.com/office/powerpoint/2012/main" timeZoneBias="-60"/>
      </p:ext>
    </p:extLst>
  </p:cm>
  <p:cm authorId="2" dt="2023-08-09T11:43:28.201" idx="40">
    <p:pos x="1212" y="1728"/>
    <p:text>Gap/reviewer comment: In Kane's paper, they are fitting hyperbolic discount models (whole aim of paper). Do we need to look at these too (at least justify why we're not including them)</p:text>
    <p:extLst>
      <p:ext uri="{C676402C-5697-4E1C-873F-D02D1690AC5C}">
        <p15:threadingInfo xmlns:p15="http://schemas.microsoft.com/office/powerpoint/2012/main" timeZoneBias="-60"/>
      </p:ext>
    </p:extLst>
  </p:cm>
  <p:cm authorId="2" dt="2023-08-09T11:44:47.301" idx="41">
    <p:pos x="2605" y="4328"/>
    <p:text>Gap: why does model SD show interaction when participants don't? </p:text>
    <p:extLst>
      <p:ext uri="{C676402C-5697-4E1C-873F-D02D1690AC5C}">
        <p15:threadingInfo xmlns:p15="http://schemas.microsoft.com/office/powerpoint/2012/main" timeZoneBias="-60"/>
      </p:ext>
    </p:extLst>
  </p:cm>
  <p:cm authorId="2" dt="2023-08-15T15:07:24.587" idx="59">
    <p:pos x="2605" y="4464"/>
    <p:text>Related to above comment about trying other models e.g. hyperbolic discount model</p:text>
    <p:extLst>
      <p:ext uri="{C676402C-5697-4E1C-873F-D02D1690AC5C}">
        <p15:threadingInfo xmlns:p15="http://schemas.microsoft.com/office/powerpoint/2012/main" timeZoneBias="-60">
          <p15:parentCm authorId="2" idx="41"/>
        </p15:threadingInfo>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3-08-11T15:15:19.786" idx="52">
    <p:pos x="10" y="10"/>
    <p:text>Tested 2 parameter 'hyperbolic' models but BIC was much larger - ignore</p:text>
    <p:extLst>
      <p:ext uri="{C676402C-5697-4E1C-873F-D02D1690AC5C}">
        <p15:threadingInfo xmlns:p15="http://schemas.microsoft.com/office/powerpoint/2012/main" timeZoneBias="-6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3-08-15T13:50:34.438" idx="55">
    <p:pos x="10" y="10"/>
    <p:text>Tested equivalent of M1 with all the models. Expected RW model to win (as M5 won before, with RW update of rho at each timestep, which would be equivalent to a scalar RW model?)</p:text>
    <p:extLst>
      <p:ext uri="{C676402C-5697-4E1C-873F-D02D1690AC5C}">
        <p15:threadingInfo xmlns:p15="http://schemas.microsoft.com/office/powerpoint/2012/main" timeZoneBias="-6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39B59-0D06-1146-9E1B-F17099F2073F}" type="datetimeFigureOut">
              <a:rPr lang="en-US" smtClean="0"/>
              <a:t>8/7/23</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774CA-907B-0140-B4E5-1419F6050810}" type="slidenum">
              <a:rPr lang="en-US" smtClean="0"/>
              <a:t>‹#›</a:t>
            </a:fld>
            <a:endParaRPr lang="en-US"/>
          </a:p>
        </p:txBody>
      </p:sp>
    </p:spTree>
    <p:extLst>
      <p:ext uri="{BB962C8B-B14F-4D97-AF65-F5344CB8AC3E}">
        <p14:creationId xmlns:p14="http://schemas.microsoft.com/office/powerpoint/2010/main" val="398045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2</a:t>
            </a:fld>
            <a:endParaRPr lang="en-US"/>
          </a:p>
        </p:txBody>
      </p:sp>
    </p:spTree>
    <p:extLst>
      <p:ext uri="{BB962C8B-B14F-4D97-AF65-F5344CB8AC3E}">
        <p14:creationId xmlns:p14="http://schemas.microsoft.com/office/powerpoint/2010/main" val="217821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3</a:t>
            </a:fld>
            <a:endParaRPr lang="en-US"/>
          </a:p>
        </p:txBody>
      </p:sp>
    </p:spTree>
    <p:extLst>
      <p:ext uri="{BB962C8B-B14F-4D97-AF65-F5344CB8AC3E}">
        <p14:creationId xmlns:p14="http://schemas.microsoft.com/office/powerpoint/2010/main" val="1900900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5</a:t>
            </a:fld>
            <a:endParaRPr lang="en-US"/>
          </a:p>
        </p:txBody>
      </p:sp>
    </p:spTree>
    <p:extLst>
      <p:ext uri="{BB962C8B-B14F-4D97-AF65-F5344CB8AC3E}">
        <p14:creationId xmlns:p14="http://schemas.microsoft.com/office/powerpoint/2010/main" val="249444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6</a:t>
            </a:fld>
            <a:endParaRPr lang="en-US"/>
          </a:p>
        </p:txBody>
      </p:sp>
    </p:spTree>
    <p:extLst>
      <p:ext uri="{BB962C8B-B14F-4D97-AF65-F5344CB8AC3E}">
        <p14:creationId xmlns:p14="http://schemas.microsoft.com/office/powerpoint/2010/main" val="421642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7</a:t>
            </a:fld>
            <a:endParaRPr lang="en-US"/>
          </a:p>
        </p:txBody>
      </p:sp>
    </p:spTree>
    <p:extLst>
      <p:ext uri="{BB962C8B-B14F-4D97-AF65-F5344CB8AC3E}">
        <p14:creationId xmlns:p14="http://schemas.microsoft.com/office/powerpoint/2010/main" val="1719798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9</a:t>
            </a:fld>
            <a:endParaRPr lang="en-US"/>
          </a:p>
        </p:txBody>
      </p:sp>
    </p:spTree>
    <p:extLst>
      <p:ext uri="{BB962C8B-B14F-4D97-AF65-F5344CB8AC3E}">
        <p14:creationId xmlns:p14="http://schemas.microsoft.com/office/powerpoint/2010/main" val="4121280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11</a:t>
            </a:fld>
            <a:endParaRPr lang="en-US"/>
          </a:p>
        </p:txBody>
      </p:sp>
    </p:spTree>
    <p:extLst>
      <p:ext uri="{BB962C8B-B14F-4D97-AF65-F5344CB8AC3E}">
        <p14:creationId xmlns:p14="http://schemas.microsoft.com/office/powerpoint/2010/main" val="221328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12</a:t>
            </a:fld>
            <a:endParaRPr lang="en-US"/>
          </a:p>
        </p:txBody>
      </p:sp>
    </p:spTree>
    <p:extLst>
      <p:ext uri="{BB962C8B-B14F-4D97-AF65-F5344CB8AC3E}">
        <p14:creationId xmlns:p14="http://schemas.microsoft.com/office/powerpoint/2010/main" val="3640100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84409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4313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955E0-3E6F-4141-9EF3-F24898B05313}" type="datetimeFigureOut">
              <a:rPr lang="en-US" smtClean="0"/>
              <a:t>8/7/23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6348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50955E0-3E6F-4141-9EF3-F24898B05313}" type="datetimeFigureOut">
              <a:rPr lang="en-US" smtClean="0"/>
              <a:t>8/7/23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969017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GB"/>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0955E0-3E6F-4141-9EF3-F24898B05313}" type="datetimeFigureOut">
              <a:rPr lang="en-US" smtClean="0"/>
              <a:t>8/7/23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80079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50955E0-3E6F-4141-9EF3-F24898B05313}" type="datetimeFigureOut">
              <a:rPr lang="en-US" smtClean="0"/>
              <a:t>8/7/23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55451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0955E0-3E6F-4141-9EF3-F24898B05313}" type="datetimeFigureOut">
              <a:rPr lang="en-US" smtClean="0"/>
              <a:t>8/7/23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5302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8/7/23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744622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8/7/23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723310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18666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8/7/23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5115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50955E0-3E6F-4141-9EF3-F24898B05313}" type="datetimeFigureOut">
              <a:rPr lang="en-US" smtClean="0"/>
              <a:t>8/7/23</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246AF69-DE5C-2B49-B80A-58A2E50A5FDF}" type="slidenum">
              <a:rPr lang="en-US" smtClean="0"/>
              <a:t>‹#›</a:t>
            </a:fld>
            <a:endParaRPr lang="en-US"/>
          </a:p>
        </p:txBody>
      </p:sp>
    </p:spTree>
    <p:extLst>
      <p:ext uri="{BB962C8B-B14F-4D97-AF65-F5344CB8AC3E}">
        <p14:creationId xmlns:p14="http://schemas.microsoft.com/office/powerpoint/2010/main" val="56446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comments" Target="../comments/comment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png"/><Relationship Id="rId15" Type="http://schemas.openxmlformats.org/officeDocument/2006/relationships/image" Target="../media/image13.svg"/><Relationship Id="rId10" Type="http://schemas.openxmlformats.org/officeDocument/2006/relationships/image" Target="../media/image8.png"/><Relationship Id="rId19" Type="http://schemas.openxmlformats.org/officeDocument/2006/relationships/image" Target="../media/image17.sv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comments" Target="../comments/comment2.xml"/><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38.png"/><Relationship Id="rId18" Type="http://schemas.openxmlformats.org/officeDocument/2006/relationships/image" Target="../media/image43.svg"/><Relationship Id="rId3" Type="http://schemas.openxmlformats.org/officeDocument/2006/relationships/image" Target="../media/image30.png"/><Relationship Id="rId21" Type="http://schemas.openxmlformats.org/officeDocument/2006/relationships/image" Target="../media/image46.png"/><Relationship Id="rId7" Type="http://schemas.openxmlformats.org/officeDocument/2006/relationships/image" Target="../media/image14.png"/><Relationship Id="rId12" Type="http://schemas.openxmlformats.org/officeDocument/2006/relationships/image" Target="../media/image37.svg"/><Relationship Id="rId17" Type="http://schemas.openxmlformats.org/officeDocument/2006/relationships/image" Target="../media/image42.png"/><Relationship Id="rId2" Type="http://schemas.openxmlformats.org/officeDocument/2006/relationships/notesSlide" Target="../notesSlides/notesSlide3.xml"/><Relationship Id="rId16" Type="http://schemas.openxmlformats.org/officeDocument/2006/relationships/image" Target="../media/image41.svg"/><Relationship Id="rId20" Type="http://schemas.openxmlformats.org/officeDocument/2006/relationships/image" Target="../media/image45.svg"/><Relationship Id="rId1" Type="http://schemas.openxmlformats.org/officeDocument/2006/relationships/slideLayout" Target="../slideLayouts/slideLayout2.xml"/><Relationship Id="rId6" Type="http://schemas.openxmlformats.org/officeDocument/2006/relationships/image" Target="../media/image33.svg"/><Relationship Id="rId11" Type="http://schemas.openxmlformats.org/officeDocument/2006/relationships/image" Target="../media/image36.png"/><Relationship Id="rId5" Type="http://schemas.openxmlformats.org/officeDocument/2006/relationships/image" Target="../media/image32.png"/><Relationship Id="rId15" Type="http://schemas.openxmlformats.org/officeDocument/2006/relationships/image" Target="../media/image40.png"/><Relationship Id="rId23" Type="http://schemas.openxmlformats.org/officeDocument/2006/relationships/comments" Target="../comments/comment4.xml"/><Relationship Id="rId10" Type="http://schemas.openxmlformats.org/officeDocument/2006/relationships/image" Target="../media/image35.svg"/><Relationship Id="rId19" Type="http://schemas.openxmlformats.org/officeDocument/2006/relationships/image" Target="../media/image44.png"/><Relationship Id="rId4" Type="http://schemas.openxmlformats.org/officeDocument/2006/relationships/image" Target="../media/image31.svg"/><Relationship Id="rId9" Type="http://schemas.openxmlformats.org/officeDocument/2006/relationships/image" Target="../media/image34.png"/><Relationship Id="rId14" Type="http://schemas.openxmlformats.org/officeDocument/2006/relationships/image" Target="../media/image39.svg"/><Relationship Id="rId22" Type="http://schemas.openxmlformats.org/officeDocument/2006/relationships/image" Target="../media/image4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18" Type="http://schemas.openxmlformats.org/officeDocument/2006/relationships/image" Target="../media/image63.svg"/><Relationship Id="rId3" Type="http://schemas.openxmlformats.org/officeDocument/2006/relationships/image" Target="../media/image48.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svg"/><Relationship Id="rId17" Type="http://schemas.openxmlformats.org/officeDocument/2006/relationships/image" Target="../media/image62.png"/><Relationship Id="rId2" Type="http://schemas.openxmlformats.org/officeDocument/2006/relationships/notesSlide" Target="../notesSlides/notesSlide5.xml"/><Relationship Id="rId16" Type="http://schemas.openxmlformats.org/officeDocument/2006/relationships/image" Target="../media/image61.svg"/><Relationship Id="rId20" Type="http://schemas.openxmlformats.org/officeDocument/2006/relationships/image" Target="../media/image65.svg"/><Relationship Id="rId1" Type="http://schemas.openxmlformats.org/officeDocument/2006/relationships/slideLayout" Target="../slideLayouts/slideLayout2.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23" Type="http://schemas.openxmlformats.org/officeDocument/2006/relationships/comments" Target="../comments/comment5.xml"/><Relationship Id="rId10" Type="http://schemas.openxmlformats.org/officeDocument/2006/relationships/image" Target="../media/image55.svg"/><Relationship Id="rId19" Type="http://schemas.openxmlformats.org/officeDocument/2006/relationships/image" Target="../media/image64.pn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svg"/><Relationship Id="rId22" Type="http://schemas.openxmlformats.org/officeDocument/2006/relationships/image" Target="../media/image67.svg"/></Relationships>
</file>

<file path=ppt/slides/_rels/slide8.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svg"/><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8" Type="http://schemas.openxmlformats.org/officeDocument/2006/relationships/image" Target="../media/image77.svg"/><Relationship Id="rId13" Type="http://schemas.openxmlformats.org/officeDocument/2006/relationships/image" Target="../media/image82.png"/><Relationship Id="rId18" Type="http://schemas.openxmlformats.org/officeDocument/2006/relationships/image" Target="../media/image87.svg"/><Relationship Id="rId3" Type="http://schemas.openxmlformats.org/officeDocument/2006/relationships/image" Target="../media/image72.png"/><Relationship Id="rId21" Type="http://schemas.openxmlformats.org/officeDocument/2006/relationships/image" Target="../media/image90.png"/><Relationship Id="rId7" Type="http://schemas.openxmlformats.org/officeDocument/2006/relationships/image" Target="../media/image76.png"/><Relationship Id="rId12" Type="http://schemas.openxmlformats.org/officeDocument/2006/relationships/image" Target="../media/image81.svg"/><Relationship Id="rId17" Type="http://schemas.openxmlformats.org/officeDocument/2006/relationships/image" Target="../media/image86.png"/><Relationship Id="rId2" Type="http://schemas.openxmlformats.org/officeDocument/2006/relationships/notesSlide" Target="../notesSlides/notesSlide6.xml"/><Relationship Id="rId16" Type="http://schemas.openxmlformats.org/officeDocument/2006/relationships/image" Target="../media/image85.svg"/><Relationship Id="rId20" Type="http://schemas.openxmlformats.org/officeDocument/2006/relationships/image" Target="../media/image89.svg"/><Relationship Id="rId1" Type="http://schemas.openxmlformats.org/officeDocument/2006/relationships/slideLayout" Target="../slideLayouts/slideLayout2.xml"/><Relationship Id="rId6" Type="http://schemas.openxmlformats.org/officeDocument/2006/relationships/image" Target="../media/image75.svg"/><Relationship Id="rId11" Type="http://schemas.openxmlformats.org/officeDocument/2006/relationships/image" Target="../media/image80.png"/><Relationship Id="rId5" Type="http://schemas.openxmlformats.org/officeDocument/2006/relationships/image" Target="../media/image74.png"/><Relationship Id="rId15" Type="http://schemas.openxmlformats.org/officeDocument/2006/relationships/image" Target="../media/image84.png"/><Relationship Id="rId23" Type="http://schemas.openxmlformats.org/officeDocument/2006/relationships/comments" Target="../comments/comment6.xml"/><Relationship Id="rId10" Type="http://schemas.openxmlformats.org/officeDocument/2006/relationships/image" Target="../media/image79.svg"/><Relationship Id="rId19" Type="http://schemas.openxmlformats.org/officeDocument/2006/relationships/image" Target="../media/image88.png"/><Relationship Id="rId4" Type="http://schemas.openxmlformats.org/officeDocument/2006/relationships/image" Target="../media/image73.svg"/><Relationship Id="rId9" Type="http://schemas.openxmlformats.org/officeDocument/2006/relationships/image" Target="../media/image78.png"/><Relationship Id="rId14" Type="http://schemas.openxmlformats.org/officeDocument/2006/relationships/image" Target="../media/image83.svg"/><Relationship Id="rId22" Type="http://schemas.openxmlformats.org/officeDocument/2006/relationships/image" Target="../media/image91.svg"/></Relationships>
</file>

<file path=ppt/slides/_rels/slide10.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2.xml"/><Relationship Id="rId5" Type="http://schemas.openxmlformats.org/officeDocument/2006/relationships/image" Target="../media/image95.svg"/><Relationship Id="rId4" Type="http://schemas.openxmlformats.org/officeDocument/2006/relationships/image" Target="../media/image94.png"/></Relationships>
</file>

<file path=ppt/slides/_rels/slide11.xml.rels><?xml version="1.0" encoding="UTF-8" standalone="yes"?>
<Relationships xmlns="http://schemas.openxmlformats.org/package/2006/relationships"><Relationship Id="rId8" Type="http://schemas.openxmlformats.org/officeDocument/2006/relationships/image" Target="../media/image99.svg"/><Relationship Id="rId13" Type="http://schemas.openxmlformats.org/officeDocument/2006/relationships/image" Target="../media/image102.png"/><Relationship Id="rId3" Type="http://schemas.openxmlformats.org/officeDocument/2006/relationships/image" Target="../media/image34.png"/><Relationship Id="rId7" Type="http://schemas.openxmlformats.org/officeDocument/2006/relationships/image" Target="../media/image98.png"/><Relationship Id="rId12" Type="http://schemas.openxmlformats.org/officeDocument/2006/relationships/image" Target="../media/image3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7.svg"/><Relationship Id="rId11" Type="http://schemas.openxmlformats.org/officeDocument/2006/relationships/image" Target="../media/image30.png"/><Relationship Id="rId5" Type="http://schemas.openxmlformats.org/officeDocument/2006/relationships/image" Target="../media/image96.png"/><Relationship Id="rId15" Type="http://schemas.openxmlformats.org/officeDocument/2006/relationships/comments" Target="../comments/comment7.xml"/><Relationship Id="rId10" Type="http://schemas.openxmlformats.org/officeDocument/2006/relationships/image" Target="../media/image101.svg"/><Relationship Id="rId4" Type="http://schemas.openxmlformats.org/officeDocument/2006/relationships/image" Target="../media/image35.svg"/><Relationship Id="rId9" Type="http://schemas.openxmlformats.org/officeDocument/2006/relationships/image" Target="../media/image100.png"/><Relationship Id="rId14" Type="http://schemas.openxmlformats.org/officeDocument/2006/relationships/image" Target="../media/image103.svg"/></Relationships>
</file>

<file path=ppt/slides/_rels/slide12.xml.rels><?xml version="1.0" encoding="UTF-8" standalone="yes"?>
<Relationships xmlns="http://schemas.openxmlformats.org/package/2006/relationships"><Relationship Id="rId8" Type="http://schemas.openxmlformats.org/officeDocument/2006/relationships/image" Target="../media/image109.sv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7.sv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comments" Target="../comments/comment8.xml"/><Relationship Id="rId10" Type="http://schemas.openxmlformats.org/officeDocument/2006/relationships/image" Target="../media/image111.svg"/><Relationship Id="rId4" Type="http://schemas.openxmlformats.org/officeDocument/2006/relationships/image" Target="../media/image105.svg"/><Relationship Id="rId9" Type="http://schemas.openxmlformats.org/officeDocument/2006/relationships/image" Target="../media/image110.png"/><Relationship Id="rId14" Type="http://schemas.openxmlformats.org/officeDocument/2006/relationships/image" Target="../media/image1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DF7C-1481-45A9-F513-3CFA2850A471}"/>
              </a:ext>
            </a:extLst>
          </p:cNvPr>
          <p:cNvSpPr>
            <a:spLocks noGrp="1"/>
          </p:cNvSpPr>
          <p:nvPr>
            <p:ph type="ctrTitle"/>
          </p:nvPr>
        </p:nvSpPr>
        <p:spPr/>
        <p:txBody>
          <a:bodyPr/>
          <a:lstStyle/>
          <a:p>
            <a:r>
              <a:rPr lang="en-US" dirty="0"/>
              <a:t>Figures for stochastic MVT paper</a:t>
            </a:r>
          </a:p>
        </p:txBody>
      </p:sp>
      <p:sp>
        <p:nvSpPr>
          <p:cNvPr id="3" name="Subtitle 2">
            <a:extLst>
              <a:ext uri="{FF2B5EF4-FFF2-40B4-BE49-F238E27FC236}">
                <a16:creationId xmlns:a16="http://schemas.microsoft.com/office/drawing/2014/main" id="{5F4C099F-8315-331B-FDA4-9C0BA82228D1}"/>
              </a:ext>
            </a:extLst>
          </p:cNvPr>
          <p:cNvSpPr>
            <a:spLocks noGrp="1"/>
          </p:cNvSpPr>
          <p:nvPr>
            <p:ph type="subTitle" idx="1"/>
          </p:nvPr>
        </p:nvSpPr>
        <p:spPr/>
        <p:txBody>
          <a:bodyPr/>
          <a:lstStyle/>
          <a:p>
            <a:r>
              <a:rPr lang="en-US" dirty="0"/>
              <a:t>7 August 2023</a:t>
            </a:r>
          </a:p>
        </p:txBody>
      </p:sp>
    </p:spTree>
    <p:extLst>
      <p:ext uri="{BB962C8B-B14F-4D97-AF65-F5344CB8AC3E}">
        <p14:creationId xmlns:p14="http://schemas.microsoft.com/office/powerpoint/2010/main" val="1215028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 name="Graphic 134">
            <a:extLst>
              <a:ext uri="{FF2B5EF4-FFF2-40B4-BE49-F238E27FC236}">
                <a16:creationId xmlns:a16="http://schemas.microsoft.com/office/drawing/2014/main" id="{1842D055-8290-27EC-DE0F-8AA8B1F6AC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05885" y="4103510"/>
            <a:ext cx="1879600" cy="1879600"/>
          </a:xfrm>
          <a:prstGeom prst="rect">
            <a:avLst/>
          </a:prstGeom>
        </p:spPr>
      </p:pic>
      <p:pic>
        <p:nvPicPr>
          <p:cNvPr id="50" name="Picture 49" descr="A diagram of a person with a stick figure and a leaf&#10;&#10;Description automatically generated">
            <a:extLst>
              <a:ext uri="{FF2B5EF4-FFF2-40B4-BE49-F238E27FC236}">
                <a16:creationId xmlns:a16="http://schemas.microsoft.com/office/drawing/2014/main" id="{48366F5C-B144-B69E-2EF7-584137E94E81}"/>
              </a:ext>
            </a:extLst>
          </p:cNvPr>
          <p:cNvPicPr>
            <a:picLocks noChangeAspect="1"/>
          </p:cNvPicPr>
          <p:nvPr/>
        </p:nvPicPr>
        <p:blipFill>
          <a:blip r:embed="rId5"/>
          <a:stretch>
            <a:fillRect/>
          </a:stretch>
        </p:blipFill>
        <p:spPr>
          <a:xfrm>
            <a:off x="177349" y="234950"/>
            <a:ext cx="2095951" cy="1612900"/>
          </a:xfrm>
          <a:prstGeom prst="rect">
            <a:avLst/>
          </a:prstGeom>
        </p:spPr>
      </p:pic>
      <p:pic>
        <p:nvPicPr>
          <p:cNvPr id="127" name="Graphic 126">
            <a:extLst>
              <a:ext uri="{FF2B5EF4-FFF2-40B4-BE49-F238E27FC236}">
                <a16:creationId xmlns:a16="http://schemas.microsoft.com/office/drawing/2014/main" id="{CA3A9B38-36C9-A64F-0F94-F6C54C955F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402" y="6059452"/>
            <a:ext cx="1879600" cy="1879600"/>
          </a:xfrm>
          <a:prstGeom prst="rect">
            <a:avLst/>
          </a:prstGeom>
        </p:spPr>
      </p:pic>
      <p:pic>
        <p:nvPicPr>
          <p:cNvPr id="129" name="Graphic 128">
            <a:extLst>
              <a:ext uri="{FF2B5EF4-FFF2-40B4-BE49-F238E27FC236}">
                <a16:creationId xmlns:a16="http://schemas.microsoft.com/office/drawing/2014/main" id="{0A254E89-A245-F3E1-6CCE-E9D4DC9727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209" y="3975983"/>
            <a:ext cx="1879600" cy="1879600"/>
          </a:xfrm>
          <a:prstGeom prst="rect">
            <a:avLst/>
          </a:prstGeom>
        </p:spPr>
      </p:pic>
      <p:pic>
        <p:nvPicPr>
          <p:cNvPr id="131" name="Graphic 130">
            <a:extLst>
              <a:ext uri="{FF2B5EF4-FFF2-40B4-BE49-F238E27FC236}">
                <a16:creationId xmlns:a16="http://schemas.microsoft.com/office/drawing/2014/main" id="{3803D20C-2E26-4108-0F6E-C36C281FBF6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7449" y="2076367"/>
            <a:ext cx="1879600" cy="1879600"/>
          </a:xfrm>
          <a:prstGeom prst="rect">
            <a:avLst/>
          </a:prstGeom>
        </p:spPr>
      </p:pic>
      <p:pic>
        <p:nvPicPr>
          <p:cNvPr id="133" name="Graphic 132">
            <a:extLst>
              <a:ext uri="{FF2B5EF4-FFF2-40B4-BE49-F238E27FC236}">
                <a16:creationId xmlns:a16="http://schemas.microsoft.com/office/drawing/2014/main" id="{2B46E181-CAE3-45A2-0AC8-638748087F6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639134" y="6054965"/>
            <a:ext cx="1879600" cy="1879600"/>
          </a:xfrm>
          <a:prstGeom prst="rect">
            <a:avLst/>
          </a:prstGeom>
        </p:spPr>
      </p:pic>
      <p:pic>
        <p:nvPicPr>
          <p:cNvPr id="137" name="Graphic 136">
            <a:extLst>
              <a:ext uri="{FF2B5EF4-FFF2-40B4-BE49-F238E27FC236}">
                <a16:creationId xmlns:a16="http://schemas.microsoft.com/office/drawing/2014/main" id="{8CF99917-171B-BCFB-6EC5-CAB3C7E7060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705885" y="2152055"/>
            <a:ext cx="1879600" cy="1879600"/>
          </a:xfrm>
          <a:prstGeom prst="rect">
            <a:avLst/>
          </a:prstGeom>
        </p:spPr>
      </p:pic>
      <p:pic>
        <p:nvPicPr>
          <p:cNvPr id="141" name="Graphic 140">
            <a:extLst>
              <a:ext uri="{FF2B5EF4-FFF2-40B4-BE49-F238E27FC236}">
                <a16:creationId xmlns:a16="http://schemas.microsoft.com/office/drawing/2014/main" id="{6B7BFAD0-7436-C07D-2B5F-8A9B914C6A3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726118" y="86895"/>
            <a:ext cx="1879600" cy="1879600"/>
          </a:xfrm>
          <a:prstGeom prst="rect">
            <a:avLst/>
          </a:prstGeom>
        </p:spPr>
      </p:pic>
      <p:pic>
        <p:nvPicPr>
          <p:cNvPr id="143" name="Graphic 142">
            <a:extLst>
              <a:ext uri="{FF2B5EF4-FFF2-40B4-BE49-F238E27FC236}">
                <a16:creationId xmlns:a16="http://schemas.microsoft.com/office/drawing/2014/main" id="{A97F488A-3D98-C277-8549-4DED228CB2C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842636" y="3888422"/>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412750" y="8142922"/>
            <a:ext cx="6134100" cy="1615827"/>
          </a:xfrm>
          <a:prstGeom prst="rect">
            <a:avLst/>
          </a:prstGeom>
          <a:noFill/>
        </p:spPr>
        <p:txBody>
          <a:bodyPr wrap="square" rtlCol="0">
            <a:spAutoFit/>
          </a:bodyPr>
          <a:lstStyle/>
          <a:p>
            <a:r>
              <a:rPr lang="en-US" sz="1100" b="1" dirty="0"/>
              <a:t>a) </a:t>
            </a:r>
            <a:r>
              <a:rPr lang="en-US" sz="1100" dirty="0"/>
              <a:t>Schematic of patch foraging decision</a:t>
            </a:r>
          </a:p>
          <a:p>
            <a:r>
              <a:rPr lang="en-US" sz="1100" b="1" dirty="0"/>
              <a:t>b) </a:t>
            </a:r>
            <a:r>
              <a:rPr lang="en-US" sz="1100" dirty="0"/>
              <a:t>Deterministic MVT rule – patch reward rate vs average RR in environment </a:t>
            </a:r>
          </a:p>
          <a:p>
            <a:r>
              <a:rPr lang="en-US" sz="1100" b="1" dirty="0"/>
              <a:t>c) </a:t>
            </a:r>
            <a:r>
              <a:rPr lang="en-US" sz="1100" dirty="0"/>
              <a:t>Expected leaving times for </a:t>
            </a:r>
            <a:r>
              <a:rPr lang="en-US" sz="1100" dirty="0" err="1"/>
              <a:t>softmax</a:t>
            </a:r>
            <a:r>
              <a:rPr lang="en-US" sz="1100" dirty="0"/>
              <a:t> model for range of inverse temperature</a:t>
            </a:r>
          </a:p>
          <a:p>
            <a:r>
              <a:rPr lang="en-US" sz="1100" b="1" dirty="0"/>
              <a:t>d) </a:t>
            </a:r>
            <a:r>
              <a:rPr lang="en-US" sz="1100" dirty="0" err="1"/>
              <a:t>Softmax</a:t>
            </a:r>
            <a:r>
              <a:rPr lang="en-US" sz="1100" dirty="0"/>
              <a:t> model can reproduce MVT (patch and environment effect) </a:t>
            </a:r>
          </a:p>
          <a:p>
            <a:r>
              <a:rPr lang="en-US" sz="1100" b="1" dirty="0"/>
              <a:t>e) </a:t>
            </a:r>
            <a:r>
              <a:rPr lang="en-US" sz="1100" dirty="0"/>
              <a:t>Overharvesting – increase in leaving times due to increase in inverse temperature (= more exploit)</a:t>
            </a:r>
          </a:p>
          <a:p>
            <a:r>
              <a:rPr lang="en-US" sz="1100" b="1" dirty="0"/>
              <a:t>f) </a:t>
            </a:r>
            <a:r>
              <a:rPr lang="en-US" sz="1100" dirty="0" err="1"/>
              <a:t>Softmax</a:t>
            </a:r>
            <a:r>
              <a:rPr lang="en-US" sz="1100" dirty="0"/>
              <a:t> model could theoretically show overharvesting </a:t>
            </a:r>
            <a:r>
              <a:rPr lang="en-US" sz="1100" dirty="0" err="1"/>
              <a:t>behaviour</a:t>
            </a:r>
            <a:r>
              <a:rPr lang="en-US" sz="1100" dirty="0"/>
              <a:t> </a:t>
            </a:r>
          </a:p>
          <a:p>
            <a:r>
              <a:rPr lang="en-US" sz="1100" b="1" dirty="0"/>
              <a:t>g) </a:t>
            </a:r>
            <a:r>
              <a:rPr lang="en-US" sz="1100" dirty="0"/>
              <a:t>Expected SD of leaving times for </a:t>
            </a:r>
            <a:r>
              <a:rPr lang="en-US" sz="1100" dirty="0" err="1"/>
              <a:t>softmax</a:t>
            </a:r>
            <a:r>
              <a:rPr lang="en-US" sz="1100" dirty="0"/>
              <a:t> model, for range of inverse temperature </a:t>
            </a:r>
          </a:p>
          <a:p>
            <a:r>
              <a:rPr lang="en-US" sz="1100" b="1" dirty="0"/>
              <a:t>h) </a:t>
            </a:r>
            <a:r>
              <a:rPr lang="en-US" sz="1100" dirty="0"/>
              <a:t>E-greedy expected leaving times </a:t>
            </a:r>
          </a:p>
          <a:p>
            <a:r>
              <a:rPr lang="en-US" sz="1100" b="1" dirty="0" err="1"/>
              <a:t>i</a:t>
            </a:r>
            <a:r>
              <a:rPr lang="en-US" sz="1100" b="1" dirty="0"/>
              <a:t>) </a:t>
            </a:r>
            <a:r>
              <a:rPr lang="en-US" sz="1100" dirty="0"/>
              <a:t>E-greedy model cannot replicate patch effect – needs reward aware action policy </a:t>
            </a:r>
          </a:p>
        </p:txBody>
      </p:sp>
      <p:sp>
        <p:nvSpPr>
          <p:cNvPr id="88" name="TextBox 87">
            <a:extLst>
              <a:ext uri="{FF2B5EF4-FFF2-40B4-BE49-F238E27FC236}">
                <a16:creationId xmlns:a16="http://schemas.microsoft.com/office/drawing/2014/main" id="{790669AD-18F8-09A4-DD66-6FFFCAFE6BE7}"/>
              </a:ext>
            </a:extLst>
          </p:cNvPr>
          <p:cNvSpPr txBox="1"/>
          <p:nvPr/>
        </p:nvSpPr>
        <p:spPr>
          <a:xfrm>
            <a:off x="4605718" y="512802"/>
            <a:ext cx="2002664" cy="646331"/>
          </a:xfrm>
          <a:prstGeom prst="rect">
            <a:avLst/>
          </a:prstGeom>
          <a:noFill/>
        </p:spPr>
        <p:txBody>
          <a:bodyPr wrap="none" rtlCol="0">
            <a:spAutoFit/>
          </a:bodyPr>
          <a:lstStyle/>
          <a:p>
            <a:r>
              <a:rPr lang="en-US" dirty="0"/>
              <a:t>Figure 1:</a:t>
            </a:r>
          </a:p>
          <a:p>
            <a:r>
              <a:rPr lang="en-US" dirty="0"/>
              <a:t>Model predictions  </a:t>
            </a:r>
          </a:p>
        </p:txBody>
      </p:sp>
      <p:sp>
        <p:nvSpPr>
          <p:cNvPr id="89" name="TextBox 88">
            <a:extLst>
              <a:ext uri="{FF2B5EF4-FFF2-40B4-BE49-F238E27FC236}">
                <a16:creationId xmlns:a16="http://schemas.microsoft.com/office/drawing/2014/main" id="{278A2FB0-6D26-57DE-296F-005756EACA1F}"/>
              </a:ext>
            </a:extLst>
          </p:cNvPr>
          <p:cNvSpPr txBox="1"/>
          <p:nvPr/>
        </p:nvSpPr>
        <p:spPr>
          <a:xfrm>
            <a:off x="534434" y="0"/>
            <a:ext cx="295274" cy="369332"/>
          </a:xfrm>
          <a:prstGeom prst="rect">
            <a:avLst/>
          </a:prstGeom>
          <a:noFill/>
        </p:spPr>
        <p:txBody>
          <a:bodyPr wrap="none" rtlCol="0">
            <a:spAutoFit/>
          </a:bodyPr>
          <a:lstStyle/>
          <a:p>
            <a:r>
              <a:rPr lang="en-US" dirty="0"/>
              <a:t>a</a:t>
            </a:r>
          </a:p>
        </p:txBody>
      </p:sp>
      <p:sp>
        <p:nvSpPr>
          <p:cNvPr id="90" name="TextBox 89">
            <a:extLst>
              <a:ext uri="{FF2B5EF4-FFF2-40B4-BE49-F238E27FC236}">
                <a16:creationId xmlns:a16="http://schemas.microsoft.com/office/drawing/2014/main" id="{7111B364-FB16-AC81-E91A-AF1028AC2158}"/>
              </a:ext>
            </a:extLst>
          </p:cNvPr>
          <p:cNvSpPr txBox="1"/>
          <p:nvPr/>
        </p:nvSpPr>
        <p:spPr>
          <a:xfrm>
            <a:off x="2408978" y="127000"/>
            <a:ext cx="306494" cy="369332"/>
          </a:xfrm>
          <a:prstGeom prst="rect">
            <a:avLst/>
          </a:prstGeom>
          <a:noFill/>
        </p:spPr>
        <p:txBody>
          <a:bodyPr wrap="none" rtlCol="0">
            <a:spAutoFit/>
          </a:bodyPr>
          <a:lstStyle/>
          <a:p>
            <a:r>
              <a:rPr lang="en-US" dirty="0"/>
              <a:t>b</a:t>
            </a:r>
          </a:p>
        </p:txBody>
      </p:sp>
      <p:sp>
        <p:nvSpPr>
          <p:cNvPr id="91" name="TextBox 90">
            <a:extLst>
              <a:ext uri="{FF2B5EF4-FFF2-40B4-BE49-F238E27FC236}">
                <a16:creationId xmlns:a16="http://schemas.microsoft.com/office/drawing/2014/main" id="{AE72EDE6-B868-3A25-E10D-70509BC15B5F}"/>
              </a:ext>
            </a:extLst>
          </p:cNvPr>
          <p:cNvSpPr txBox="1"/>
          <p:nvPr/>
        </p:nvSpPr>
        <p:spPr>
          <a:xfrm>
            <a:off x="393209" y="1700173"/>
            <a:ext cx="282450" cy="369332"/>
          </a:xfrm>
          <a:prstGeom prst="rect">
            <a:avLst/>
          </a:prstGeom>
          <a:noFill/>
        </p:spPr>
        <p:txBody>
          <a:bodyPr wrap="none" rtlCol="0">
            <a:spAutoFit/>
          </a:bodyPr>
          <a:lstStyle/>
          <a:p>
            <a:r>
              <a:rPr lang="en-US" dirty="0"/>
              <a:t>c</a:t>
            </a:r>
          </a:p>
        </p:txBody>
      </p:sp>
      <p:sp>
        <p:nvSpPr>
          <p:cNvPr id="92" name="TextBox 91">
            <a:extLst>
              <a:ext uri="{FF2B5EF4-FFF2-40B4-BE49-F238E27FC236}">
                <a16:creationId xmlns:a16="http://schemas.microsoft.com/office/drawing/2014/main" id="{97708272-52DD-F55A-AE29-417EF8D202CB}"/>
              </a:ext>
            </a:extLst>
          </p:cNvPr>
          <p:cNvSpPr txBox="1"/>
          <p:nvPr/>
        </p:nvSpPr>
        <p:spPr>
          <a:xfrm>
            <a:off x="2451947" y="1884839"/>
            <a:ext cx="306494" cy="369332"/>
          </a:xfrm>
          <a:prstGeom prst="rect">
            <a:avLst/>
          </a:prstGeom>
          <a:noFill/>
        </p:spPr>
        <p:txBody>
          <a:bodyPr wrap="none" rtlCol="0">
            <a:spAutoFit/>
          </a:bodyPr>
          <a:lstStyle/>
          <a:p>
            <a:r>
              <a:rPr lang="en-US" dirty="0"/>
              <a:t>d</a:t>
            </a:r>
          </a:p>
        </p:txBody>
      </p:sp>
      <p:sp>
        <p:nvSpPr>
          <p:cNvPr id="93" name="TextBox 92">
            <a:extLst>
              <a:ext uri="{FF2B5EF4-FFF2-40B4-BE49-F238E27FC236}">
                <a16:creationId xmlns:a16="http://schemas.microsoft.com/office/drawing/2014/main" id="{CEC9FA63-C7FB-24C1-2A8E-8CE70FEC83AD}"/>
              </a:ext>
            </a:extLst>
          </p:cNvPr>
          <p:cNvSpPr txBox="1"/>
          <p:nvPr/>
        </p:nvSpPr>
        <p:spPr>
          <a:xfrm>
            <a:off x="350391" y="3662323"/>
            <a:ext cx="300082" cy="369332"/>
          </a:xfrm>
          <a:prstGeom prst="rect">
            <a:avLst/>
          </a:prstGeom>
          <a:noFill/>
        </p:spPr>
        <p:txBody>
          <a:bodyPr wrap="none" rtlCol="0">
            <a:spAutoFit/>
          </a:bodyPr>
          <a:lstStyle/>
          <a:p>
            <a:r>
              <a:rPr lang="en-US" dirty="0"/>
              <a:t>e</a:t>
            </a:r>
          </a:p>
        </p:txBody>
      </p:sp>
      <p:sp>
        <p:nvSpPr>
          <p:cNvPr id="94" name="TextBox 93">
            <a:extLst>
              <a:ext uri="{FF2B5EF4-FFF2-40B4-BE49-F238E27FC236}">
                <a16:creationId xmlns:a16="http://schemas.microsoft.com/office/drawing/2014/main" id="{CC86550A-51AF-905C-0484-AAF37476590E}"/>
              </a:ext>
            </a:extLst>
          </p:cNvPr>
          <p:cNvSpPr txBox="1"/>
          <p:nvPr/>
        </p:nvSpPr>
        <p:spPr>
          <a:xfrm>
            <a:off x="2660051" y="3815834"/>
            <a:ext cx="255198" cy="369332"/>
          </a:xfrm>
          <a:prstGeom prst="rect">
            <a:avLst/>
          </a:prstGeom>
          <a:noFill/>
        </p:spPr>
        <p:txBody>
          <a:bodyPr wrap="none" rtlCol="0">
            <a:spAutoFit/>
          </a:bodyPr>
          <a:lstStyle/>
          <a:p>
            <a:r>
              <a:rPr lang="en-US" dirty="0"/>
              <a:t>f</a:t>
            </a:r>
          </a:p>
        </p:txBody>
      </p:sp>
      <p:sp>
        <p:nvSpPr>
          <p:cNvPr id="95" name="TextBox 94">
            <a:extLst>
              <a:ext uri="{FF2B5EF4-FFF2-40B4-BE49-F238E27FC236}">
                <a16:creationId xmlns:a16="http://schemas.microsoft.com/office/drawing/2014/main" id="{CB9E0D26-AD32-1BF0-F9C8-2B68A0FEAF51}"/>
              </a:ext>
            </a:extLst>
          </p:cNvPr>
          <p:cNvSpPr txBox="1"/>
          <p:nvPr/>
        </p:nvSpPr>
        <p:spPr>
          <a:xfrm>
            <a:off x="4458883" y="3815834"/>
            <a:ext cx="293670" cy="369332"/>
          </a:xfrm>
          <a:prstGeom prst="rect">
            <a:avLst/>
          </a:prstGeom>
          <a:noFill/>
        </p:spPr>
        <p:txBody>
          <a:bodyPr wrap="none" rtlCol="0">
            <a:spAutoFit/>
          </a:bodyPr>
          <a:lstStyle/>
          <a:p>
            <a:r>
              <a:rPr lang="en-US" dirty="0"/>
              <a:t>g</a:t>
            </a:r>
          </a:p>
        </p:txBody>
      </p:sp>
      <p:sp>
        <p:nvSpPr>
          <p:cNvPr id="96" name="TextBox 95">
            <a:extLst>
              <a:ext uri="{FF2B5EF4-FFF2-40B4-BE49-F238E27FC236}">
                <a16:creationId xmlns:a16="http://schemas.microsoft.com/office/drawing/2014/main" id="{0D279662-672B-A465-C85F-4BD0AED5CE35}"/>
              </a:ext>
            </a:extLst>
          </p:cNvPr>
          <p:cNvSpPr txBox="1"/>
          <p:nvPr/>
        </p:nvSpPr>
        <p:spPr>
          <a:xfrm>
            <a:off x="363100" y="5836162"/>
            <a:ext cx="306494" cy="369332"/>
          </a:xfrm>
          <a:prstGeom prst="rect">
            <a:avLst/>
          </a:prstGeom>
          <a:noFill/>
        </p:spPr>
        <p:txBody>
          <a:bodyPr wrap="none" rtlCol="0">
            <a:spAutoFit/>
          </a:bodyPr>
          <a:lstStyle/>
          <a:p>
            <a:r>
              <a:rPr lang="en-US" dirty="0"/>
              <a:t>h</a:t>
            </a:r>
          </a:p>
        </p:txBody>
      </p:sp>
      <p:sp>
        <p:nvSpPr>
          <p:cNvPr id="97" name="TextBox 96">
            <a:extLst>
              <a:ext uri="{FF2B5EF4-FFF2-40B4-BE49-F238E27FC236}">
                <a16:creationId xmlns:a16="http://schemas.microsoft.com/office/drawing/2014/main" id="{4D5055E1-189B-D640-540E-995D012459E6}"/>
              </a:ext>
            </a:extLst>
          </p:cNvPr>
          <p:cNvSpPr txBox="1"/>
          <p:nvPr/>
        </p:nvSpPr>
        <p:spPr>
          <a:xfrm>
            <a:off x="2639134" y="5768022"/>
            <a:ext cx="237566" cy="369332"/>
          </a:xfrm>
          <a:prstGeom prst="rect">
            <a:avLst/>
          </a:prstGeom>
          <a:noFill/>
        </p:spPr>
        <p:txBody>
          <a:bodyPr wrap="none" rtlCol="0">
            <a:spAutoFit/>
          </a:bodyPr>
          <a:lstStyle/>
          <a:p>
            <a:r>
              <a:rPr lang="en-US" dirty="0" err="1"/>
              <a:t>i</a:t>
            </a:r>
            <a:endParaRPr lang="en-US" dirty="0"/>
          </a:p>
        </p:txBody>
      </p:sp>
    </p:spTree>
    <p:extLst>
      <p:ext uri="{BB962C8B-B14F-4D97-AF65-F5344CB8AC3E}">
        <p14:creationId xmlns:p14="http://schemas.microsoft.com/office/powerpoint/2010/main" val="217975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a:extLst>
              <a:ext uri="{FF2B5EF4-FFF2-40B4-BE49-F238E27FC236}">
                <a16:creationId xmlns:a16="http://schemas.microsoft.com/office/drawing/2014/main" id="{48AB627D-D99B-75D4-B278-722995E71B6C}"/>
              </a:ext>
            </a:extLst>
          </p:cNvPr>
          <p:cNvSpPr txBox="1"/>
          <p:nvPr/>
        </p:nvSpPr>
        <p:spPr>
          <a:xfrm>
            <a:off x="723900" y="5247163"/>
            <a:ext cx="6134100" cy="430887"/>
          </a:xfrm>
          <a:prstGeom prst="rect">
            <a:avLst/>
          </a:prstGeom>
          <a:noFill/>
        </p:spPr>
        <p:txBody>
          <a:bodyPr wrap="square" rtlCol="0">
            <a:spAutoFit/>
          </a:bodyPr>
          <a:lstStyle/>
          <a:p>
            <a:r>
              <a:rPr lang="en-US" sz="1100" b="1" dirty="0"/>
              <a:t>a-c</a:t>
            </a:r>
            <a:r>
              <a:rPr lang="en-US" sz="1100" dirty="0"/>
              <a:t> Expected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a:p>
            <a:r>
              <a:rPr lang="en-US" sz="1100" b="1" dirty="0"/>
              <a:t>d-f</a:t>
            </a:r>
            <a:r>
              <a:rPr lang="en-US" sz="1100" dirty="0"/>
              <a:t> SD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p:txBody>
      </p:sp>
      <p:sp>
        <p:nvSpPr>
          <p:cNvPr id="88" name="TextBox 87">
            <a:extLst>
              <a:ext uri="{FF2B5EF4-FFF2-40B4-BE49-F238E27FC236}">
                <a16:creationId xmlns:a16="http://schemas.microsoft.com/office/drawing/2014/main" id="{790669AD-18F8-09A4-DD66-6FFFCAFE6BE7}"/>
              </a:ext>
            </a:extLst>
          </p:cNvPr>
          <p:cNvSpPr txBox="1"/>
          <p:nvPr/>
        </p:nvSpPr>
        <p:spPr>
          <a:xfrm>
            <a:off x="526698" y="147251"/>
            <a:ext cx="5540147" cy="369332"/>
          </a:xfrm>
          <a:prstGeom prst="rect">
            <a:avLst/>
          </a:prstGeom>
          <a:noFill/>
        </p:spPr>
        <p:txBody>
          <a:bodyPr wrap="square" rtlCol="0">
            <a:spAutoFit/>
          </a:bodyPr>
          <a:lstStyle/>
          <a:p>
            <a:r>
              <a:rPr lang="en-US" b="1" dirty="0"/>
              <a:t>Supplementary</a:t>
            </a:r>
            <a:r>
              <a:rPr lang="en-US" dirty="0"/>
              <a:t> Figure 1: Model predictions  </a:t>
            </a:r>
          </a:p>
        </p:txBody>
      </p:sp>
      <p:pic>
        <p:nvPicPr>
          <p:cNvPr id="19" name="Graphic 18">
            <a:extLst>
              <a:ext uri="{FF2B5EF4-FFF2-40B4-BE49-F238E27FC236}">
                <a16:creationId xmlns:a16="http://schemas.microsoft.com/office/drawing/2014/main" id="{3E63BA05-1459-C323-8414-877E6743DB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449" y="912191"/>
            <a:ext cx="1879600" cy="1879600"/>
          </a:xfrm>
          <a:prstGeom prst="rect">
            <a:avLst/>
          </a:prstGeom>
        </p:spPr>
      </p:pic>
      <p:pic>
        <p:nvPicPr>
          <p:cNvPr id="21" name="Graphic 20">
            <a:extLst>
              <a:ext uri="{FF2B5EF4-FFF2-40B4-BE49-F238E27FC236}">
                <a16:creationId xmlns:a16="http://schemas.microsoft.com/office/drawing/2014/main" id="{7B804826-F6AD-79D6-F35A-A52EBD663F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19788" y="912191"/>
            <a:ext cx="1879600" cy="1879600"/>
          </a:xfrm>
          <a:prstGeom prst="rect">
            <a:avLst/>
          </a:prstGeom>
        </p:spPr>
      </p:pic>
      <p:pic>
        <p:nvPicPr>
          <p:cNvPr id="23" name="Graphic 22">
            <a:extLst>
              <a:ext uri="{FF2B5EF4-FFF2-40B4-BE49-F238E27FC236}">
                <a16:creationId xmlns:a16="http://schemas.microsoft.com/office/drawing/2014/main" id="{9493110D-728D-1693-20F2-66937DACFF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7127" y="840630"/>
            <a:ext cx="1879600" cy="1879600"/>
          </a:xfrm>
          <a:prstGeom prst="rect">
            <a:avLst/>
          </a:prstGeom>
        </p:spPr>
      </p:pic>
      <p:pic>
        <p:nvPicPr>
          <p:cNvPr id="33" name="Graphic 32">
            <a:extLst>
              <a:ext uri="{FF2B5EF4-FFF2-40B4-BE49-F238E27FC236}">
                <a16:creationId xmlns:a16="http://schemas.microsoft.com/office/drawing/2014/main" id="{DC08BFD2-1F73-F5DE-E215-E8D2949E43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19788" y="3187399"/>
            <a:ext cx="1879600" cy="1879600"/>
          </a:xfrm>
          <a:prstGeom prst="rect">
            <a:avLst/>
          </a:prstGeom>
        </p:spPr>
      </p:pic>
      <p:pic>
        <p:nvPicPr>
          <p:cNvPr id="35" name="Graphic 34">
            <a:extLst>
              <a:ext uri="{FF2B5EF4-FFF2-40B4-BE49-F238E27FC236}">
                <a16:creationId xmlns:a16="http://schemas.microsoft.com/office/drawing/2014/main" id="{957CE53A-E03D-B0DC-BCD7-2FD09039A2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87127" y="3225358"/>
            <a:ext cx="1879600" cy="1879600"/>
          </a:xfrm>
          <a:prstGeom prst="rect">
            <a:avLst/>
          </a:prstGeom>
        </p:spPr>
      </p:pic>
      <p:pic>
        <p:nvPicPr>
          <p:cNvPr id="37" name="Graphic 36">
            <a:extLst>
              <a:ext uri="{FF2B5EF4-FFF2-40B4-BE49-F238E27FC236}">
                <a16:creationId xmlns:a16="http://schemas.microsoft.com/office/drawing/2014/main" id="{A4CC35F2-45A0-EDCA-E1B5-0883BECF940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2449" y="3187399"/>
            <a:ext cx="1879600" cy="1879600"/>
          </a:xfrm>
          <a:prstGeom prst="rect">
            <a:avLst/>
          </a:prstGeom>
        </p:spPr>
      </p:pic>
      <p:sp>
        <p:nvSpPr>
          <p:cNvPr id="38" name="TextBox 37">
            <a:extLst>
              <a:ext uri="{FF2B5EF4-FFF2-40B4-BE49-F238E27FC236}">
                <a16:creationId xmlns:a16="http://schemas.microsoft.com/office/drawing/2014/main" id="{5710D652-9A46-F948-4F45-BCBA26BBE6A5}"/>
              </a:ext>
            </a:extLst>
          </p:cNvPr>
          <p:cNvSpPr txBox="1"/>
          <p:nvPr/>
        </p:nvSpPr>
        <p:spPr>
          <a:xfrm>
            <a:off x="1144972" y="634475"/>
            <a:ext cx="1050288" cy="369332"/>
          </a:xfrm>
          <a:prstGeom prst="rect">
            <a:avLst/>
          </a:prstGeom>
          <a:noFill/>
        </p:spPr>
        <p:txBody>
          <a:bodyPr wrap="none" rtlCol="0">
            <a:spAutoFit/>
          </a:bodyPr>
          <a:lstStyle/>
          <a:p>
            <a:r>
              <a:rPr lang="en-US" dirty="0"/>
              <a:t>𝜺 = 0.001</a:t>
            </a:r>
          </a:p>
        </p:txBody>
      </p:sp>
      <p:sp>
        <p:nvSpPr>
          <p:cNvPr id="39" name="TextBox 38">
            <a:extLst>
              <a:ext uri="{FF2B5EF4-FFF2-40B4-BE49-F238E27FC236}">
                <a16:creationId xmlns:a16="http://schemas.microsoft.com/office/drawing/2014/main" id="{3785D0D0-E534-59D2-2ED2-5CFEDD02AD75}"/>
              </a:ext>
            </a:extLst>
          </p:cNvPr>
          <p:cNvSpPr txBox="1"/>
          <p:nvPr/>
        </p:nvSpPr>
        <p:spPr>
          <a:xfrm>
            <a:off x="3324315" y="634475"/>
            <a:ext cx="933269" cy="369332"/>
          </a:xfrm>
          <a:prstGeom prst="rect">
            <a:avLst/>
          </a:prstGeom>
          <a:noFill/>
        </p:spPr>
        <p:txBody>
          <a:bodyPr wrap="none" rtlCol="0">
            <a:spAutoFit/>
          </a:bodyPr>
          <a:lstStyle/>
          <a:p>
            <a:r>
              <a:rPr lang="en-US" dirty="0"/>
              <a:t>𝜺 = 0.01</a:t>
            </a:r>
          </a:p>
        </p:txBody>
      </p:sp>
      <p:sp>
        <p:nvSpPr>
          <p:cNvPr id="40" name="TextBox 39">
            <a:extLst>
              <a:ext uri="{FF2B5EF4-FFF2-40B4-BE49-F238E27FC236}">
                <a16:creationId xmlns:a16="http://schemas.microsoft.com/office/drawing/2014/main" id="{EFDBD082-D664-31E6-1416-6D7E3B163159}"/>
              </a:ext>
            </a:extLst>
          </p:cNvPr>
          <p:cNvSpPr txBox="1"/>
          <p:nvPr/>
        </p:nvSpPr>
        <p:spPr>
          <a:xfrm>
            <a:off x="5386639" y="627484"/>
            <a:ext cx="933269" cy="369332"/>
          </a:xfrm>
          <a:prstGeom prst="rect">
            <a:avLst/>
          </a:prstGeom>
          <a:noFill/>
        </p:spPr>
        <p:txBody>
          <a:bodyPr wrap="none" rtlCol="0">
            <a:spAutoFit/>
          </a:bodyPr>
          <a:lstStyle/>
          <a:p>
            <a:r>
              <a:rPr lang="en-US" dirty="0"/>
              <a:t>𝜺 = 0.04</a:t>
            </a:r>
          </a:p>
        </p:txBody>
      </p:sp>
    </p:spTree>
    <p:extLst>
      <p:ext uri="{BB962C8B-B14F-4D97-AF65-F5344CB8AC3E}">
        <p14:creationId xmlns:p14="http://schemas.microsoft.com/office/powerpoint/2010/main" val="342613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9490C3E-821F-17B9-38B2-DE737CB2FAE3}"/>
              </a:ext>
            </a:extLst>
          </p:cNvPr>
          <p:cNvGraphicFramePr>
            <a:graphicFrameLocks noGrp="1"/>
          </p:cNvGraphicFramePr>
          <p:nvPr>
            <p:extLst>
              <p:ext uri="{D42A27DB-BD31-4B8C-83A1-F6EECF244321}">
                <p14:modId xmlns:p14="http://schemas.microsoft.com/office/powerpoint/2010/main" val="1296211656"/>
              </p:ext>
            </p:extLst>
          </p:nvPr>
        </p:nvGraphicFramePr>
        <p:xfrm>
          <a:off x="328364" y="1763353"/>
          <a:ext cx="5915025" cy="1845996"/>
        </p:xfrm>
        <a:graphic>
          <a:graphicData uri="http://schemas.openxmlformats.org/drawingml/2006/table">
            <a:tbl>
              <a:tblPr/>
              <a:tblGrid>
                <a:gridCol w="893915">
                  <a:extLst>
                    <a:ext uri="{9D8B030D-6E8A-4147-A177-3AD203B41FA5}">
                      <a16:colId xmlns:a16="http://schemas.microsoft.com/office/drawing/2014/main" val="3313765571"/>
                    </a:ext>
                  </a:extLst>
                </a:gridCol>
                <a:gridCol w="687627">
                  <a:extLst>
                    <a:ext uri="{9D8B030D-6E8A-4147-A177-3AD203B41FA5}">
                      <a16:colId xmlns:a16="http://schemas.microsoft.com/office/drawing/2014/main" val="3135885159"/>
                    </a:ext>
                  </a:extLst>
                </a:gridCol>
                <a:gridCol w="704818">
                  <a:extLst>
                    <a:ext uri="{9D8B030D-6E8A-4147-A177-3AD203B41FA5}">
                      <a16:colId xmlns:a16="http://schemas.microsoft.com/office/drawing/2014/main" val="956992078"/>
                    </a:ext>
                  </a:extLst>
                </a:gridCol>
                <a:gridCol w="807962">
                  <a:extLst>
                    <a:ext uri="{9D8B030D-6E8A-4147-A177-3AD203B41FA5}">
                      <a16:colId xmlns:a16="http://schemas.microsoft.com/office/drawing/2014/main" val="1473238402"/>
                    </a:ext>
                  </a:extLst>
                </a:gridCol>
                <a:gridCol w="567292">
                  <a:extLst>
                    <a:ext uri="{9D8B030D-6E8A-4147-A177-3AD203B41FA5}">
                      <a16:colId xmlns:a16="http://schemas.microsoft.com/office/drawing/2014/main" val="765515654"/>
                    </a:ext>
                  </a:extLst>
                </a:gridCol>
                <a:gridCol w="464148">
                  <a:extLst>
                    <a:ext uri="{9D8B030D-6E8A-4147-A177-3AD203B41FA5}">
                      <a16:colId xmlns:a16="http://schemas.microsoft.com/office/drawing/2014/main" val="3549852778"/>
                    </a:ext>
                  </a:extLst>
                </a:gridCol>
                <a:gridCol w="349544">
                  <a:extLst>
                    <a:ext uri="{9D8B030D-6E8A-4147-A177-3AD203B41FA5}">
                      <a16:colId xmlns:a16="http://schemas.microsoft.com/office/drawing/2014/main" val="136934297"/>
                    </a:ext>
                  </a:extLst>
                </a:gridCol>
                <a:gridCol w="532911">
                  <a:extLst>
                    <a:ext uri="{9D8B030D-6E8A-4147-A177-3AD203B41FA5}">
                      <a16:colId xmlns:a16="http://schemas.microsoft.com/office/drawing/2014/main" val="1091402874"/>
                    </a:ext>
                  </a:extLst>
                </a:gridCol>
                <a:gridCol w="373897">
                  <a:extLst>
                    <a:ext uri="{9D8B030D-6E8A-4147-A177-3AD203B41FA5}">
                      <a16:colId xmlns:a16="http://schemas.microsoft.com/office/drawing/2014/main" val="4025434443"/>
                    </a:ext>
                  </a:extLst>
                </a:gridCol>
                <a:gridCol w="532911">
                  <a:extLst>
                    <a:ext uri="{9D8B030D-6E8A-4147-A177-3AD203B41FA5}">
                      <a16:colId xmlns:a16="http://schemas.microsoft.com/office/drawing/2014/main" val="3093971702"/>
                    </a:ext>
                  </a:extLst>
                </a:gridCol>
              </a:tblGrid>
              <a:tr h="91706">
                <a:tc>
                  <a:txBody>
                    <a:bodyPr/>
                    <a:lstStyle/>
                    <a:p>
                      <a:pPr algn="l" fontAlgn="b"/>
                      <a:r>
                        <a:rPr lang="en-GB" sz="1000" b="1" i="0" u="none" strike="noStrike">
                          <a:solidFill>
                            <a:srgbClr val="000000"/>
                          </a:solidFill>
                          <a:effectLst/>
                          <a:latin typeface="Calibri" panose="020F0502020204030204" pitchFamily="34" charset="0"/>
                        </a:rPr>
                        <a:t>Paper</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Study</a:t>
                      </a:r>
                    </a:p>
                  </a:txBody>
                  <a:tcPr marL="4299" marR="4299" marT="4299" marB="0" anchor="b">
                    <a:lnL>
                      <a:noFill/>
                    </a:lnL>
                    <a:lnR>
                      <a:noFill/>
                    </a:lnR>
                    <a:lnT>
                      <a:noFill/>
                    </a:lnT>
                    <a:lnB>
                      <a:noFill/>
                    </a:lnB>
                  </a:tcPr>
                </a:tc>
                <a:tc>
                  <a:txBody>
                    <a:bodyPr/>
                    <a:lstStyle/>
                    <a:p>
                      <a:pPr algn="l" fontAlgn="b"/>
                      <a:r>
                        <a:rPr lang="en-GB" sz="1000" b="1" i="0" u="none" strike="noStrike" dirty="0">
                          <a:solidFill>
                            <a:srgbClr val="000000"/>
                          </a:solidFill>
                          <a:effectLst/>
                          <a:latin typeface="Calibri" panose="020F0502020204030204" pitchFamily="34" charset="0"/>
                        </a:rPr>
                        <a:t>Sample</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Patch Types</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Initial yield (r0 ml)</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Decay function</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Decay rate</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Environments</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Travel Time</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Patch distribution</a:t>
                      </a:r>
                    </a:p>
                  </a:txBody>
                  <a:tcPr marL="4299" marR="4299" marT="4299" marB="0" anchor="b">
                    <a:lnL>
                      <a:noFill/>
                    </a:lnL>
                    <a:lnR>
                      <a:noFill/>
                    </a:lnR>
                    <a:lnT>
                      <a:noFill/>
                    </a:lnT>
                    <a:lnB>
                      <a:noFill/>
                    </a:lnB>
                  </a:tcPr>
                </a:tc>
                <a:extLst>
                  <a:ext uri="{0D108BD9-81ED-4DB2-BD59-A6C34878D82A}">
                    <a16:rowId xmlns:a16="http://schemas.microsoft.com/office/drawing/2014/main" val="3218492757"/>
                  </a:ext>
                </a:extLst>
              </a:tr>
              <a:tr h="91706">
                <a:tc>
                  <a:txBody>
                    <a:bodyPr/>
                    <a:lstStyle/>
                    <a:p>
                      <a:pPr algn="l" fontAlgn="b"/>
                      <a:r>
                        <a:rPr lang="en-GB" sz="1000" b="0" i="0" u="none" strike="noStrike">
                          <a:solidFill>
                            <a:srgbClr val="000000"/>
                          </a:solidFill>
                          <a:effectLst/>
                          <a:latin typeface="Calibri" panose="020F0502020204030204" pitchFamily="34" charset="0"/>
                        </a:rPr>
                        <a:t>Le Heron et al. (2020)</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Study 1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39 young adult humans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3 (low, medium, high)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[32.5, 45, 57.5]</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Exponential</a:t>
                      </a:r>
                    </a:p>
                  </a:txBody>
                  <a:tcPr marL="4299" marR="4299" marT="4299" marB="0" anchor="b">
                    <a:lnL>
                      <a:noFill/>
                    </a:lnL>
                    <a:lnR>
                      <a:noFill/>
                    </a:lnR>
                    <a:lnT>
                      <a:noFill/>
                    </a:lnT>
                    <a:lnB>
                      <a:noFill/>
                    </a:lnB>
                  </a:tcPr>
                </a:tc>
                <a:tc>
                  <a:txBody>
                    <a:bodyPr/>
                    <a:lstStyle/>
                    <a:p>
                      <a:pPr algn="r" fontAlgn="b"/>
                      <a:r>
                        <a:rPr lang="en-GB" sz="1000" b="0" i="0" u="none" strike="noStrike">
                          <a:solidFill>
                            <a:srgbClr val="000000"/>
                          </a:solidFill>
                          <a:effectLst/>
                          <a:latin typeface="Calibri" panose="020F0502020204030204" pitchFamily="34" charset="0"/>
                        </a:rPr>
                        <a:t>0.075</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(rich poor)</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6s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16%, 33%, 50%</a:t>
                      </a:r>
                    </a:p>
                  </a:txBody>
                  <a:tcPr marL="4299" marR="4299" marT="4299" marB="0" anchor="b">
                    <a:lnL>
                      <a:noFill/>
                    </a:lnL>
                    <a:lnR>
                      <a:noFill/>
                    </a:lnR>
                    <a:lnT>
                      <a:noFill/>
                    </a:lnT>
                    <a:lnB>
                      <a:noFill/>
                    </a:lnB>
                  </a:tcPr>
                </a:tc>
                <a:extLst>
                  <a:ext uri="{0D108BD9-81ED-4DB2-BD59-A6C34878D82A}">
                    <a16:rowId xmlns:a16="http://schemas.microsoft.com/office/drawing/2014/main" val="3404301509"/>
                  </a:ext>
                </a:extLst>
              </a:tr>
              <a:tr h="91706">
                <a:tc>
                  <a:txBody>
                    <a:bodyPr/>
                    <a:lstStyle/>
                    <a:p>
                      <a:pPr algn="l" fontAlgn="b"/>
                      <a:r>
                        <a:rPr lang="en-GB" sz="1000" b="0" i="0" u="none" strike="noStrike" dirty="0">
                          <a:solidFill>
                            <a:srgbClr val="000000"/>
                          </a:solidFill>
                          <a:effectLst/>
                          <a:latin typeface="Calibri" panose="020F0502020204030204" pitchFamily="34" charset="0"/>
                        </a:rPr>
                        <a:t>Contreras-Huerta et al. (2022)</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Study 2 - self condition</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29 young adult humans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(low, high)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[34.5, 57.5]</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Exponential</a:t>
                      </a:r>
                    </a:p>
                  </a:txBody>
                  <a:tcPr marL="4299" marR="4299" marT="4299" marB="0" anchor="b">
                    <a:lnL>
                      <a:noFill/>
                    </a:lnL>
                    <a:lnR>
                      <a:noFill/>
                    </a:lnR>
                    <a:lnT>
                      <a:noFill/>
                    </a:lnT>
                    <a:lnB>
                      <a:noFill/>
                    </a:lnB>
                  </a:tcPr>
                </a:tc>
                <a:tc>
                  <a:txBody>
                    <a:bodyPr/>
                    <a:lstStyle/>
                    <a:p>
                      <a:pPr algn="r" fontAlgn="b"/>
                      <a:r>
                        <a:rPr lang="en-GB" sz="1000" b="0" i="0" u="none" strike="noStrike">
                          <a:solidFill>
                            <a:srgbClr val="000000"/>
                          </a:solidFill>
                          <a:effectLst/>
                          <a:latin typeface="Calibri" panose="020F0502020204030204" pitchFamily="34" charset="0"/>
                        </a:rPr>
                        <a:t>0.11</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(short long)</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[2.8s, 5s]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50%, 50%</a:t>
                      </a:r>
                    </a:p>
                  </a:txBody>
                  <a:tcPr marL="4299" marR="4299" marT="4299" marB="0" anchor="b">
                    <a:lnL>
                      <a:noFill/>
                    </a:lnL>
                    <a:lnR>
                      <a:noFill/>
                    </a:lnR>
                    <a:lnT>
                      <a:noFill/>
                    </a:lnT>
                    <a:lnB>
                      <a:noFill/>
                    </a:lnB>
                  </a:tcPr>
                </a:tc>
                <a:extLst>
                  <a:ext uri="{0D108BD9-81ED-4DB2-BD59-A6C34878D82A}">
                    <a16:rowId xmlns:a16="http://schemas.microsoft.com/office/drawing/2014/main" val="3856139354"/>
                  </a:ext>
                </a:extLst>
              </a:tr>
              <a:tr h="91706">
                <a:tc>
                  <a:txBody>
                    <a:bodyPr/>
                    <a:lstStyle/>
                    <a:p>
                      <a:pPr algn="l" fontAlgn="b"/>
                      <a:r>
                        <a:rPr lang="en-GB" sz="1000" b="0" i="0" u="none" strike="noStrike">
                          <a:solidFill>
                            <a:srgbClr val="000000"/>
                          </a:solidFill>
                          <a:effectLst/>
                          <a:latin typeface="Calibri" panose="020F0502020204030204" pitchFamily="34" charset="0"/>
                        </a:rPr>
                        <a:t>Kane et al. (2019)</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Study 1 - travel time</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8 Adult Long-Evans rats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3 (low, medium, high)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[0.06, 0.09, 0.12]</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Linear</a:t>
                      </a:r>
                    </a:p>
                  </a:txBody>
                  <a:tcPr marL="4299" marR="4299" marT="4299" marB="0" anchor="b">
                    <a:lnL>
                      <a:noFill/>
                    </a:lnL>
                    <a:lnR>
                      <a:noFill/>
                    </a:lnR>
                    <a:lnT>
                      <a:noFill/>
                    </a:lnT>
                    <a:lnB>
                      <a:noFill/>
                    </a:lnB>
                  </a:tcPr>
                </a:tc>
                <a:tc>
                  <a:txBody>
                    <a:bodyPr/>
                    <a:lstStyle/>
                    <a:p>
                      <a:pPr algn="r" fontAlgn="b"/>
                      <a:r>
                        <a:rPr lang="en-GB" sz="1000" b="0" i="0" u="none" strike="noStrike">
                          <a:solidFill>
                            <a:srgbClr val="000000"/>
                          </a:solidFill>
                          <a:effectLst/>
                          <a:latin typeface="Calibri" panose="020F0502020204030204" pitchFamily="34" charset="0"/>
                        </a:rPr>
                        <a:t>0.008</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(short long)</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[10s, 30s]</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33% 33% 33%</a:t>
                      </a:r>
                    </a:p>
                  </a:txBody>
                  <a:tcPr marL="4299" marR="4299" marT="4299" marB="0" anchor="b">
                    <a:lnL>
                      <a:noFill/>
                    </a:lnL>
                    <a:lnR>
                      <a:noFill/>
                    </a:lnR>
                    <a:lnT>
                      <a:noFill/>
                    </a:lnT>
                    <a:lnB>
                      <a:noFill/>
                    </a:lnB>
                  </a:tcPr>
                </a:tc>
                <a:extLst>
                  <a:ext uri="{0D108BD9-81ED-4DB2-BD59-A6C34878D82A}">
                    <a16:rowId xmlns:a16="http://schemas.microsoft.com/office/drawing/2014/main" val="237469175"/>
                  </a:ext>
                </a:extLst>
              </a:tr>
            </a:tbl>
          </a:graphicData>
        </a:graphic>
      </p:graphicFrame>
      <p:sp>
        <p:nvSpPr>
          <p:cNvPr id="5" name="TextBox 4">
            <a:extLst>
              <a:ext uri="{FF2B5EF4-FFF2-40B4-BE49-F238E27FC236}">
                <a16:creationId xmlns:a16="http://schemas.microsoft.com/office/drawing/2014/main" id="{3ED48A07-F88B-C006-FA46-0BB44CA9A224}"/>
              </a:ext>
            </a:extLst>
          </p:cNvPr>
          <p:cNvSpPr txBox="1"/>
          <p:nvPr/>
        </p:nvSpPr>
        <p:spPr>
          <a:xfrm>
            <a:off x="421419" y="970059"/>
            <a:ext cx="3386248" cy="369332"/>
          </a:xfrm>
          <a:prstGeom prst="rect">
            <a:avLst/>
          </a:prstGeom>
          <a:noFill/>
        </p:spPr>
        <p:txBody>
          <a:bodyPr wrap="none" rtlCol="0">
            <a:spAutoFit/>
          </a:bodyPr>
          <a:lstStyle/>
          <a:p>
            <a:r>
              <a:rPr lang="en-US" dirty="0"/>
              <a:t>T1 – details of replication datasets</a:t>
            </a:r>
          </a:p>
        </p:txBody>
      </p:sp>
    </p:spTree>
    <p:extLst>
      <p:ext uri="{BB962C8B-B14F-4D97-AF65-F5344CB8AC3E}">
        <p14:creationId xmlns:p14="http://schemas.microsoft.com/office/powerpoint/2010/main" val="410802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Graphic 46">
            <a:extLst>
              <a:ext uri="{FF2B5EF4-FFF2-40B4-BE49-F238E27FC236}">
                <a16:creationId xmlns:a16="http://schemas.microsoft.com/office/drawing/2014/main" id="{335A75C6-D40D-8DD7-1E3B-7CEE1D3354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730" y="6465636"/>
            <a:ext cx="1879600" cy="1879600"/>
          </a:xfrm>
          <a:prstGeom prst="rect">
            <a:avLst/>
          </a:prstGeom>
        </p:spPr>
      </p:pic>
      <p:pic>
        <p:nvPicPr>
          <p:cNvPr id="35" name="Graphic 34">
            <a:extLst>
              <a:ext uri="{FF2B5EF4-FFF2-40B4-BE49-F238E27FC236}">
                <a16:creationId xmlns:a16="http://schemas.microsoft.com/office/drawing/2014/main" id="{5C3584CC-44A7-BDB8-BB04-7FC49A61DD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26914" y="251734"/>
            <a:ext cx="1879600" cy="1879600"/>
          </a:xfrm>
          <a:prstGeom prst="rect">
            <a:avLst/>
          </a:prstGeom>
        </p:spPr>
      </p:pic>
      <p:pic>
        <p:nvPicPr>
          <p:cNvPr id="41" name="Graphic 40">
            <a:extLst>
              <a:ext uri="{FF2B5EF4-FFF2-40B4-BE49-F238E27FC236}">
                <a16:creationId xmlns:a16="http://schemas.microsoft.com/office/drawing/2014/main" id="{4B26C110-B9C4-E543-FE0C-7E22B39E98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278" y="324219"/>
            <a:ext cx="1879600" cy="1879600"/>
          </a:xfrm>
          <a:prstGeom prst="rect">
            <a:avLst/>
          </a:prstGeom>
        </p:spPr>
      </p:pic>
      <p:pic>
        <p:nvPicPr>
          <p:cNvPr id="49" name="Graphic 48">
            <a:extLst>
              <a:ext uri="{FF2B5EF4-FFF2-40B4-BE49-F238E27FC236}">
                <a16:creationId xmlns:a16="http://schemas.microsoft.com/office/drawing/2014/main" id="{43EAED50-C01A-473A-2B7E-F6842387F5C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47126" y="2435396"/>
            <a:ext cx="1879600" cy="1879600"/>
          </a:xfrm>
          <a:prstGeom prst="rect">
            <a:avLst/>
          </a:prstGeom>
        </p:spPr>
      </p:pic>
      <p:pic>
        <p:nvPicPr>
          <p:cNvPr id="54" name="Graphic 53">
            <a:extLst>
              <a:ext uri="{FF2B5EF4-FFF2-40B4-BE49-F238E27FC236}">
                <a16:creationId xmlns:a16="http://schemas.microsoft.com/office/drawing/2014/main" id="{C0D1E104-F5A4-5CE0-A666-C5A3EEE48D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14473" y="251734"/>
            <a:ext cx="1879600" cy="1879600"/>
          </a:xfrm>
          <a:prstGeom prst="rect">
            <a:avLst/>
          </a:prstGeom>
        </p:spPr>
      </p:pic>
      <p:pic>
        <p:nvPicPr>
          <p:cNvPr id="85" name="Graphic 84">
            <a:extLst>
              <a:ext uri="{FF2B5EF4-FFF2-40B4-BE49-F238E27FC236}">
                <a16:creationId xmlns:a16="http://schemas.microsoft.com/office/drawing/2014/main" id="{DD9D4150-D709-3B66-E58B-7D128040C72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3080" y="2365972"/>
            <a:ext cx="1879600" cy="1879600"/>
          </a:xfrm>
          <a:prstGeom prst="rect">
            <a:avLst/>
          </a:prstGeom>
        </p:spPr>
      </p:pic>
      <p:pic>
        <p:nvPicPr>
          <p:cNvPr id="103" name="Graphic 102">
            <a:extLst>
              <a:ext uri="{FF2B5EF4-FFF2-40B4-BE49-F238E27FC236}">
                <a16:creationId xmlns:a16="http://schemas.microsoft.com/office/drawing/2014/main" id="{FFE71F4F-4C40-41C8-538B-F928A9E6426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14416" y="4425382"/>
            <a:ext cx="1879600" cy="1879600"/>
          </a:xfrm>
          <a:prstGeom prst="rect">
            <a:avLst/>
          </a:prstGeom>
        </p:spPr>
      </p:pic>
      <p:pic>
        <p:nvPicPr>
          <p:cNvPr id="105" name="Graphic 104">
            <a:extLst>
              <a:ext uri="{FF2B5EF4-FFF2-40B4-BE49-F238E27FC236}">
                <a16:creationId xmlns:a16="http://schemas.microsoft.com/office/drawing/2014/main" id="{B22B54A7-3ECD-3642-E148-49CF02BD0C3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2988" y="4333840"/>
            <a:ext cx="1879600" cy="1879600"/>
          </a:xfrm>
          <a:prstGeom prst="rect">
            <a:avLst/>
          </a:prstGeom>
        </p:spPr>
      </p:pic>
      <p:pic>
        <p:nvPicPr>
          <p:cNvPr id="109" name="Graphic 108">
            <a:extLst>
              <a:ext uri="{FF2B5EF4-FFF2-40B4-BE49-F238E27FC236}">
                <a16:creationId xmlns:a16="http://schemas.microsoft.com/office/drawing/2014/main" id="{C4B68216-32A7-8BFE-0FFE-16759FC2334D}"/>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053797" y="6589442"/>
            <a:ext cx="1879600" cy="1879600"/>
          </a:xfrm>
          <a:prstGeom prst="rect">
            <a:avLst/>
          </a:prstGeom>
        </p:spPr>
      </p:pic>
      <p:pic>
        <p:nvPicPr>
          <p:cNvPr id="111" name="Graphic 110">
            <a:extLst>
              <a:ext uri="{FF2B5EF4-FFF2-40B4-BE49-F238E27FC236}">
                <a16:creationId xmlns:a16="http://schemas.microsoft.com/office/drawing/2014/main" id="{21818A2D-A1B6-83AB-64BD-E4374AB3B888}"/>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897924" y="2286254"/>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433504"/>
            <a:ext cx="6699250" cy="2462213"/>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t>
            </a:r>
            <a:r>
              <a:rPr lang="en-US" sz="1100" dirty="0"/>
              <a:t> model is better than different choice policies and learning rules)</a:t>
            </a:r>
          </a:p>
          <a:p>
            <a:r>
              <a:rPr lang="en-US" sz="1100" b="1" dirty="0"/>
              <a:t>e) </a:t>
            </a:r>
            <a:r>
              <a:rPr lang="en-US" sz="1100" dirty="0"/>
              <a:t>Participant leave times vs </a:t>
            </a:r>
            <a:r>
              <a:rPr lang="en-US" sz="1100" b="1" dirty="0"/>
              <a:t>(f) </a:t>
            </a:r>
            <a:r>
              <a:rPr lang="en-US" sz="1100" dirty="0"/>
              <a:t>model fit MLE from simulations </a:t>
            </a:r>
          </a:p>
          <a:p>
            <a:r>
              <a:rPr lang="en-US" sz="1100" b="1" dirty="0"/>
              <a:t>g) </a:t>
            </a:r>
            <a:r>
              <a:rPr lang="en-US" sz="1100" dirty="0"/>
              <a:t>Fit beta is significantly lower in rich compared to poor environment  [</a:t>
            </a:r>
            <a:r>
              <a:rPr lang="en-US" sz="1100" i="1" dirty="0"/>
              <a:t>t</a:t>
            </a:r>
            <a:r>
              <a:rPr lang="en-US" sz="1100" dirty="0"/>
              <a:t>(38) = -5.0, </a:t>
            </a:r>
            <a:r>
              <a:rPr lang="en-US" sz="1100" i="1" dirty="0"/>
              <a:t>p</a:t>
            </a:r>
            <a:r>
              <a:rPr lang="en-US" sz="1100" dirty="0"/>
              <a:t> &lt; .001]</a:t>
            </a:r>
          </a:p>
          <a:p>
            <a:r>
              <a:rPr lang="en-US" sz="1100" b="1" dirty="0"/>
              <a:t>h) </a:t>
            </a:r>
            <a:r>
              <a:rPr lang="en-US" sz="1100" dirty="0"/>
              <a:t>Correlation of participant beta fits with participant mean leaving times [Rich env: </a:t>
            </a:r>
            <a:r>
              <a:rPr lang="en-US" sz="1100" i="1" dirty="0"/>
              <a:t>r</a:t>
            </a:r>
            <a:r>
              <a:rPr lang="en-US" sz="1100" dirty="0"/>
              <a:t>(37) = 0.88, </a:t>
            </a:r>
            <a:r>
              <a:rPr lang="en-US" sz="1100" i="1" dirty="0"/>
              <a:t>p</a:t>
            </a:r>
            <a:r>
              <a:rPr lang="en-US" sz="1100" dirty="0"/>
              <a:t> &lt; .001; Poor env:</a:t>
            </a:r>
            <a:r>
              <a:rPr lang="en-US" sz="1100" i="1" dirty="0"/>
              <a:t> r</a:t>
            </a:r>
            <a:r>
              <a:rPr lang="en-US" sz="1100" dirty="0"/>
              <a:t>(37) = 0.96, </a:t>
            </a:r>
            <a:r>
              <a:rPr lang="en-US" sz="1100" i="1" dirty="0"/>
              <a:t>p</a:t>
            </a:r>
            <a:r>
              <a:rPr lang="en-US" sz="1100" dirty="0"/>
              <a:t> &lt; .001]</a:t>
            </a:r>
          </a:p>
          <a:p>
            <a:r>
              <a:rPr lang="en-US" sz="1100" b="1" dirty="0" err="1"/>
              <a:t>i</a:t>
            </a:r>
            <a:r>
              <a:rPr lang="en-US" sz="1100" b="1" dirty="0"/>
              <a:t>) </a:t>
            </a:r>
            <a:r>
              <a:rPr lang="en-US" sz="1100" dirty="0"/>
              <a:t>SD of participants was not significantly different across patch, environment or interaction [Patch yield: </a:t>
            </a:r>
            <a:r>
              <a:rPr lang="en-US" sz="1100" i="1" dirty="0"/>
              <a:t>F</a:t>
            </a:r>
            <a:r>
              <a:rPr lang="en-US" sz="1100" dirty="0"/>
              <a:t>(2,228) = 1.77, </a:t>
            </a:r>
            <a:r>
              <a:rPr lang="en-US" sz="1100" i="1" dirty="0"/>
              <a:t>p</a:t>
            </a:r>
            <a:r>
              <a:rPr lang="en-US" sz="1100" dirty="0"/>
              <a:t> = 0.17; Environment: </a:t>
            </a:r>
            <a:r>
              <a:rPr lang="en-US" sz="1100" i="1" dirty="0"/>
              <a:t>F</a:t>
            </a:r>
            <a:r>
              <a:rPr lang="en-US" sz="1100" dirty="0"/>
              <a:t>(1,228) = 1.03, </a:t>
            </a:r>
            <a:r>
              <a:rPr lang="en-US" sz="1100" i="1" dirty="0"/>
              <a:t>p</a:t>
            </a:r>
            <a:r>
              <a:rPr lang="en-US" sz="1100" dirty="0"/>
              <a:t> = 0.31; Interaction: </a:t>
            </a:r>
            <a:r>
              <a:rPr lang="en-US" sz="1100" i="1" dirty="0"/>
              <a:t>F</a:t>
            </a:r>
            <a:r>
              <a:rPr lang="en-US" sz="1100" dirty="0"/>
              <a:t>(2,228) = 0.29, </a:t>
            </a:r>
            <a:r>
              <a:rPr lang="en-US" sz="1100" i="1" dirty="0"/>
              <a:t>p</a:t>
            </a:r>
            <a:r>
              <a:rPr lang="en-US" sz="1100" dirty="0"/>
              <a:t> = 0.75], as model predicts</a:t>
            </a:r>
          </a:p>
          <a:p>
            <a:r>
              <a:rPr lang="en-US" sz="1100" b="1" dirty="0"/>
              <a:t>(j) </a:t>
            </a:r>
            <a:r>
              <a:rPr lang="en-US" sz="1100" dirty="0"/>
              <a:t>Consistent with participants, SD of simulated leaving times was not significantly different across patch, environment or interaction [Patch yield: </a:t>
            </a:r>
            <a:r>
              <a:rPr lang="en-US" sz="1100" i="1" dirty="0"/>
              <a:t>F</a:t>
            </a:r>
            <a:r>
              <a:rPr lang="en-US" sz="1100" dirty="0"/>
              <a:t>(2,228) = 1.13, </a:t>
            </a:r>
            <a:r>
              <a:rPr lang="en-US" sz="1100" i="1" dirty="0"/>
              <a:t>p</a:t>
            </a:r>
            <a:r>
              <a:rPr lang="en-US" sz="1100" dirty="0"/>
              <a:t> = 0.32; Environment: </a:t>
            </a:r>
            <a:r>
              <a:rPr lang="en-US" sz="1100" i="1" dirty="0"/>
              <a:t>F</a:t>
            </a:r>
            <a:r>
              <a:rPr lang="en-US" sz="1100" dirty="0"/>
              <a:t>(1,228) = 0, </a:t>
            </a:r>
            <a:r>
              <a:rPr lang="en-US" sz="1100" i="1" dirty="0"/>
              <a:t>p</a:t>
            </a:r>
            <a:r>
              <a:rPr lang="en-US" sz="1100" dirty="0"/>
              <a:t> = 0.96; Interaction: </a:t>
            </a:r>
            <a:r>
              <a:rPr lang="en-US" sz="1100" i="1" dirty="0"/>
              <a:t>F</a:t>
            </a:r>
            <a:r>
              <a:rPr lang="en-US" sz="1100" dirty="0"/>
              <a:t>(2,228) = 1.55, </a:t>
            </a:r>
            <a:r>
              <a:rPr lang="en-US" sz="1100" i="1" dirty="0"/>
              <a:t>p</a:t>
            </a:r>
            <a:r>
              <a:rPr lang="en-US" sz="1100" dirty="0"/>
              <a:t> = 0.21] </a:t>
            </a:r>
          </a:p>
          <a:p>
            <a:endParaRPr lang="en-US" sz="1100" dirty="0"/>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2: Le Heron fitting </a:t>
            </a:r>
          </a:p>
        </p:txBody>
      </p:sp>
      <p:sp>
        <p:nvSpPr>
          <p:cNvPr id="21" name="TextBox 20">
            <a:extLst>
              <a:ext uri="{FF2B5EF4-FFF2-40B4-BE49-F238E27FC236}">
                <a16:creationId xmlns:a16="http://schemas.microsoft.com/office/drawing/2014/main" id="{B50B514A-2D8F-A2E0-8BD8-9073B50A4BD2}"/>
              </a:ext>
            </a:extLst>
          </p:cNvPr>
          <p:cNvSpPr txBox="1"/>
          <p:nvPr/>
        </p:nvSpPr>
        <p:spPr>
          <a:xfrm>
            <a:off x="541979" y="222502"/>
            <a:ext cx="295274" cy="369332"/>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1A991E31-4539-0E2F-7B47-26765A2F9566}"/>
              </a:ext>
            </a:extLst>
          </p:cNvPr>
          <p:cNvSpPr txBox="1"/>
          <p:nvPr/>
        </p:nvSpPr>
        <p:spPr>
          <a:xfrm>
            <a:off x="2494911" y="312090"/>
            <a:ext cx="306494" cy="369332"/>
          </a:xfrm>
          <a:prstGeom prst="rect">
            <a:avLst/>
          </a:prstGeom>
          <a:noFill/>
        </p:spPr>
        <p:txBody>
          <a:bodyPr wrap="none" rtlCol="0">
            <a:spAutoFit/>
          </a:bodyPr>
          <a:lstStyle/>
          <a:p>
            <a:r>
              <a:rPr lang="en-US" dirty="0"/>
              <a:t>b</a:t>
            </a:r>
          </a:p>
        </p:txBody>
      </p:sp>
      <p:sp>
        <p:nvSpPr>
          <p:cNvPr id="23" name="TextBox 22">
            <a:extLst>
              <a:ext uri="{FF2B5EF4-FFF2-40B4-BE49-F238E27FC236}">
                <a16:creationId xmlns:a16="http://schemas.microsoft.com/office/drawing/2014/main" id="{E59304AD-B36C-41A8-BA77-367E804D9FF3}"/>
              </a:ext>
            </a:extLst>
          </p:cNvPr>
          <p:cNvSpPr txBox="1"/>
          <p:nvPr/>
        </p:nvSpPr>
        <p:spPr>
          <a:xfrm>
            <a:off x="4532023" y="151940"/>
            <a:ext cx="282450" cy="369332"/>
          </a:xfrm>
          <a:prstGeom prst="rect">
            <a:avLst/>
          </a:prstGeom>
          <a:noFill/>
        </p:spPr>
        <p:txBody>
          <a:bodyPr wrap="none" rtlCol="0">
            <a:spAutoFit/>
          </a:bodyPr>
          <a:lstStyle/>
          <a:p>
            <a:r>
              <a:rPr lang="en-US" dirty="0"/>
              <a:t>c</a:t>
            </a:r>
          </a:p>
        </p:txBody>
      </p:sp>
      <p:sp>
        <p:nvSpPr>
          <p:cNvPr id="24" name="TextBox 23">
            <a:extLst>
              <a:ext uri="{FF2B5EF4-FFF2-40B4-BE49-F238E27FC236}">
                <a16:creationId xmlns:a16="http://schemas.microsoft.com/office/drawing/2014/main" id="{35F40932-45E0-3FE4-A8A0-C10517016401}"/>
              </a:ext>
            </a:extLst>
          </p:cNvPr>
          <p:cNvSpPr txBox="1"/>
          <p:nvPr/>
        </p:nvSpPr>
        <p:spPr>
          <a:xfrm>
            <a:off x="473783" y="2147638"/>
            <a:ext cx="306494" cy="369332"/>
          </a:xfrm>
          <a:prstGeom prst="rect">
            <a:avLst/>
          </a:prstGeom>
          <a:noFill/>
        </p:spPr>
        <p:txBody>
          <a:bodyPr wrap="none" rtlCol="0">
            <a:spAutoFit/>
          </a:bodyPr>
          <a:lstStyle/>
          <a:p>
            <a:r>
              <a:rPr lang="en-US" dirty="0"/>
              <a:t>d</a:t>
            </a:r>
          </a:p>
        </p:txBody>
      </p:sp>
      <p:sp>
        <p:nvSpPr>
          <p:cNvPr id="25" name="TextBox 24">
            <a:extLst>
              <a:ext uri="{FF2B5EF4-FFF2-40B4-BE49-F238E27FC236}">
                <a16:creationId xmlns:a16="http://schemas.microsoft.com/office/drawing/2014/main" id="{B10C5A7C-74EC-1E6B-7B6D-E7EAE255EB8A}"/>
              </a:ext>
            </a:extLst>
          </p:cNvPr>
          <p:cNvSpPr txBox="1"/>
          <p:nvPr/>
        </p:nvSpPr>
        <p:spPr>
          <a:xfrm>
            <a:off x="2637434" y="2215692"/>
            <a:ext cx="300082" cy="369332"/>
          </a:xfrm>
          <a:prstGeom prst="rect">
            <a:avLst/>
          </a:prstGeom>
          <a:noFill/>
        </p:spPr>
        <p:txBody>
          <a:bodyPr wrap="none" rtlCol="0">
            <a:spAutoFit/>
          </a:bodyPr>
          <a:lstStyle/>
          <a:p>
            <a:r>
              <a:rPr lang="en-US" dirty="0"/>
              <a:t>e</a:t>
            </a:r>
          </a:p>
        </p:txBody>
      </p:sp>
      <p:sp>
        <p:nvSpPr>
          <p:cNvPr id="26" name="TextBox 25">
            <a:extLst>
              <a:ext uri="{FF2B5EF4-FFF2-40B4-BE49-F238E27FC236}">
                <a16:creationId xmlns:a16="http://schemas.microsoft.com/office/drawing/2014/main" id="{EC1ECFD3-40FE-93C3-70EC-F11F3A7B428C}"/>
              </a:ext>
            </a:extLst>
          </p:cNvPr>
          <p:cNvSpPr txBox="1"/>
          <p:nvPr/>
        </p:nvSpPr>
        <p:spPr>
          <a:xfrm>
            <a:off x="4729921" y="2213100"/>
            <a:ext cx="255198" cy="369332"/>
          </a:xfrm>
          <a:prstGeom prst="rect">
            <a:avLst/>
          </a:prstGeom>
          <a:noFill/>
        </p:spPr>
        <p:txBody>
          <a:bodyPr wrap="none" rtlCol="0">
            <a:spAutoFit/>
          </a:bodyPr>
          <a:lstStyle/>
          <a:p>
            <a:r>
              <a:rPr lang="en-US" dirty="0"/>
              <a:t>f</a:t>
            </a:r>
          </a:p>
        </p:txBody>
      </p:sp>
      <p:sp>
        <p:nvSpPr>
          <p:cNvPr id="27" name="TextBox 26">
            <a:extLst>
              <a:ext uri="{FF2B5EF4-FFF2-40B4-BE49-F238E27FC236}">
                <a16:creationId xmlns:a16="http://schemas.microsoft.com/office/drawing/2014/main" id="{745854FD-DB30-936D-46FC-B83868798CCE}"/>
              </a:ext>
            </a:extLst>
          </p:cNvPr>
          <p:cNvSpPr txBox="1"/>
          <p:nvPr/>
        </p:nvSpPr>
        <p:spPr>
          <a:xfrm>
            <a:off x="523275" y="4165854"/>
            <a:ext cx="293670" cy="369332"/>
          </a:xfrm>
          <a:prstGeom prst="rect">
            <a:avLst/>
          </a:prstGeom>
          <a:noFill/>
        </p:spPr>
        <p:txBody>
          <a:bodyPr wrap="none" rtlCol="0">
            <a:spAutoFit/>
          </a:bodyPr>
          <a:lstStyle/>
          <a:p>
            <a:r>
              <a:rPr lang="en-US" dirty="0"/>
              <a:t>g</a:t>
            </a:r>
          </a:p>
        </p:txBody>
      </p:sp>
      <p:sp>
        <p:nvSpPr>
          <p:cNvPr id="57" name="TextBox 56">
            <a:extLst>
              <a:ext uri="{FF2B5EF4-FFF2-40B4-BE49-F238E27FC236}">
                <a16:creationId xmlns:a16="http://schemas.microsoft.com/office/drawing/2014/main" id="{F12DA955-B54A-D8E3-CCD5-A87AD1066C86}"/>
              </a:ext>
            </a:extLst>
          </p:cNvPr>
          <p:cNvSpPr txBox="1"/>
          <p:nvPr/>
        </p:nvSpPr>
        <p:spPr>
          <a:xfrm>
            <a:off x="2743878" y="4230124"/>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A31C5699-3414-079E-5B56-0DD1E1436BC9}"/>
              </a:ext>
            </a:extLst>
          </p:cNvPr>
          <p:cNvSpPr txBox="1"/>
          <p:nvPr/>
        </p:nvSpPr>
        <p:spPr>
          <a:xfrm>
            <a:off x="340802" y="625564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B93F08DA-4644-454D-5522-86590BC84A11}"/>
              </a:ext>
            </a:extLst>
          </p:cNvPr>
          <p:cNvSpPr txBox="1"/>
          <p:nvPr/>
        </p:nvSpPr>
        <p:spPr>
          <a:xfrm>
            <a:off x="2613958" y="6259220"/>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4A0DF9D7-9836-3F2A-3667-BF342CBD1B92}"/>
              </a:ext>
            </a:extLst>
          </p:cNvPr>
          <p:cNvSpPr txBox="1"/>
          <p:nvPr/>
        </p:nvSpPr>
        <p:spPr>
          <a:xfrm>
            <a:off x="1538620" y="4599456"/>
            <a:ext cx="530915"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B046C600-E33B-5BD2-B557-869934E3C3EF}"/>
              </a:ext>
            </a:extLst>
          </p:cNvPr>
          <p:cNvSpPr txBox="1"/>
          <p:nvPr/>
        </p:nvSpPr>
        <p:spPr>
          <a:xfrm>
            <a:off x="1454301" y="6802060"/>
            <a:ext cx="349776" cy="307777"/>
          </a:xfrm>
          <a:prstGeom prst="rect">
            <a:avLst/>
          </a:prstGeom>
          <a:noFill/>
        </p:spPr>
        <p:txBody>
          <a:bodyPr wrap="none" rtlCol="0">
            <a:spAutoFit/>
          </a:bodyPr>
          <a:lstStyle/>
          <a:p>
            <a:r>
              <a:rPr lang="en-US" sz="1400" dirty="0"/>
              <a:t>ns</a:t>
            </a:r>
            <a:endParaRPr lang="en-US" dirty="0"/>
          </a:p>
        </p:txBody>
      </p:sp>
      <p:sp>
        <p:nvSpPr>
          <p:cNvPr id="62" name="TextBox 61">
            <a:extLst>
              <a:ext uri="{FF2B5EF4-FFF2-40B4-BE49-F238E27FC236}">
                <a16:creationId xmlns:a16="http://schemas.microsoft.com/office/drawing/2014/main" id="{478575A5-391B-FB4A-83CA-B49CF92F272F}"/>
              </a:ext>
            </a:extLst>
          </p:cNvPr>
          <p:cNvSpPr txBox="1"/>
          <p:nvPr/>
        </p:nvSpPr>
        <p:spPr>
          <a:xfrm>
            <a:off x="3643821" y="6686417"/>
            <a:ext cx="349776" cy="307777"/>
          </a:xfrm>
          <a:prstGeom prst="rect">
            <a:avLst/>
          </a:prstGeom>
          <a:noFill/>
        </p:spPr>
        <p:txBody>
          <a:bodyPr wrap="none" rtlCol="0">
            <a:spAutoFit/>
          </a:bodyPr>
          <a:lstStyle/>
          <a:p>
            <a:r>
              <a:rPr lang="en-US" sz="1400" dirty="0"/>
              <a:t>ns</a:t>
            </a:r>
            <a:endParaRPr lang="en-US" dirty="0"/>
          </a:p>
        </p:txBody>
      </p:sp>
    </p:spTree>
    <p:extLst>
      <p:ext uri="{BB962C8B-B14F-4D97-AF65-F5344CB8AC3E}">
        <p14:creationId xmlns:p14="http://schemas.microsoft.com/office/powerpoint/2010/main" val="118626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b="1" dirty="0"/>
              <a:t>Supplementary</a:t>
            </a:r>
            <a:r>
              <a:rPr lang="en-US" dirty="0"/>
              <a:t> Figure 2: Le Heron fitting </a:t>
            </a:r>
          </a:p>
        </p:txBody>
      </p:sp>
      <p:sp>
        <p:nvSpPr>
          <p:cNvPr id="2" name="TextBox 1">
            <a:extLst>
              <a:ext uri="{FF2B5EF4-FFF2-40B4-BE49-F238E27FC236}">
                <a16:creationId xmlns:a16="http://schemas.microsoft.com/office/drawing/2014/main" id="{8959E745-D52C-D627-E308-72711DE7B5D2}"/>
              </a:ext>
            </a:extLst>
          </p:cNvPr>
          <p:cNvSpPr txBox="1"/>
          <p:nvPr/>
        </p:nvSpPr>
        <p:spPr>
          <a:xfrm>
            <a:off x="340802" y="6332293"/>
            <a:ext cx="3133999" cy="369332"/>
          </a:xfrm>
          <a:prstGeom prst="rect">
            <a:avLst/>
          </a:prstGeom>
          <a:noFill/>
        </p:spPr>
        <p:txBody>
          <a:bodyPr wrap="none" rtlCol="0">
            <a:spAutoFit/>
          </a:bodyPr>
          <a:lstStyle/>
          <a:p>
            <a:r>
              <a:rPr lang="en-US" dirty="0"/>
              <a:t>Model recovery matrix – to do  </a:t>
            </a:r>
          </a:p>
        </p:txBody>
      </p:sp>
      <p:graphicFrame>
        <p:nvGraphicFramePr>
          <p:cNvPr id="3" name="Table 2">
            <a:extLst>
              <a:ext uri="{FF2B5EF4-FFF2-40B4-BE49-F238E27FC236}">
                <a16:creationId xmlns:a16="http://schemas.microsoft.com/office/drawing/2014/main" id="{64D49DE9-9775-6F90-4000-F28BA35160A1}"/>
              </a:ext>
            </a:extLst>
          </p:cNvPr>
          <p:cNvGraphicFramePr>
            <a:graphicFrameLocks noGrp="1"/>
          </p:cNvGraphicFramePr>
          <p:nvPr>
            <p:extLst>
              <p:ext uri="{D42A27DB-BD31-4B8C-83A1-F6EECF244321}">
                <p14:modId xmlns:p14="http://schemas.microsoft.com/office/powerpoint/2010/main" val="3239113723"/>
              </p:ext>
            </p:extLst>
          </p:nvPr>
        </p:nvGraphicFramePr>
        <p:xfrm>
          <a:off x="340802" y="2393564"/>
          <a:ext cx="3632201" cy="2844800"/>
        </p:xfrm>
        <a:graphic>
          <a:graphicData uri="http://schemas.openxmlformats.org/drawingml/2006/table">
            <a:tbl>
              <a:tblPr>
                <a:tableStyleId>{5C22544A-7EE6-4342-B048-85BDC9FD1C3A}</a:tableStyleId>
              </a:tblPr>
              <a:tblGrid>
                <a:gridCol w="1152677">
                  <a:extLst>
                    <a:ext uri="{9D8B030D-6E8A-4147-A177-3AD203B41FA5}">
                      <a16:colId xmlns:a16="http://schemas.microsoft.com/office/drawing/2014/main" val="1420332180"/>
                    </a:ext>
                  </a:extLst>
                </a:gridCol>
                <a:gridCol w="826508">
                  <a:extLst>
                    <a:ext uri="{9D8B030D-6E8A-4147-A177-3AD203B41FA5}">
                      <a16:colId xmlns:a16="http://schemas.microsoft.com/office/drawing/2014/main" val="252702654"/>
                    </a:ext>
                  </a:extLst>
                </a:gridCol>
                <a:gridCol w="826508">
                  <a:extLst>
                    <a:ext uri="{9D8B030D-6E8A-4147-A177-3AD203B41FA5}">
                      <a16:colId xmlns:a16="http://schemas.microsoft.com/office/drawing/2014/main" val="3715519273"/>
                    </a:ext>
                  </a:extLst>
                </a:gridCol>
                <a:gridCol w="826508">
                  <a:extLst>
                    <a:ext uri="{9D8B030D-6E8A-4147-A177-3AD203B41FA5}">
                      <a16:colId xmlns:a16="http://schemas.microsoft.com/office/drawing/2014/main" val="2799433395"/>
                    </a:ext>
                  </a:extLst>
                </a:gridCol>
              </a:tblGrid>
              <a:tr h="203200">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Beta</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Lambda</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Alpha rho</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34669948"/>
                  </a:ext>
                </a:extLst>
              </a:tr>
              <a:tr h="203200">
                <a:tc>
                  <a:txBody>
                    <a:bodyPr/>
                    <a:lstStyle/>
                    <a:p>
                      <a:pPr algn="l" fontAlgn="b"/>
                      <a:r>
                        <a:rPr lang="en-GB" sz="1200" u="none" strike="noStrike">
                          <a:effectLst/>
                        </a:rPr>
                        <a:t>M1 LeHeron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0.989</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4378260"/>
                  </a:ext>
                </a:extLst>
              </a:tr>
              <a:tr h="203200">
                <a:tc>
                  <a:txBody>
                    <a:bodyPr/>
                    <a:lstStyle/>
                    <a:p>
                      <a:pPr algn="l" fontAlgn="b"/>
                      <a:r>
                        <a:rPr lang="en-GB" sz="1200" u="none" strike="noStrike">
                          <a:effectLst/>
                        </a:rPr>
                        <a:t>M1 LeHeron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0.977</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141822426"/>
                  </a:ext>
                </a:extLst>
              </a:tr>
              <a:tr h="203200">
                <a:tc>
                  <a:txBody>
                    <a:bodyPr/>
                    <a:lstStyle/>
                    <a:p>
                      <a:pPr algn="l" fontAlgn="b"/>
                      <a:r>
                        <a:rPr lang="en-GB" sz="1200" u="none" strike="noStrike">
                          <a:effectLst/>
                        </a:rPr>
                        <a:t>M1 CH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0.981</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49827121"/>
                  </a:ext>
                </a:extLst>
              </a:tr>
              <a:tr h="203200">
                <a:tc>
                  <a:txBody>
                    <a:bodyPr/>
                    <a:lstStyle/>
                    <a:p>
                      <a:pPr algn="l" fontAlgn="b"/>
                      <a:r>
                        <a:rPr lang="en-GB" sz="1200" u="none" strike="noStrike">
                          <a:effectLst/>
                        </a:rPr>
                        <a:t>M1 CH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0.984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75906235"/>
                  </a:ext>
                </a:extLst>
              </a:tr>
              <a:tr h="203200">
                <a:tc>
                  <a:txBody>
                    <a:bodyPr/>
                    <a:lstStyle/>
                    <a:p>
                      <a:pPr algn="l" fontAlgn="b"/>
                      <a:r>
                        <a:rPr lang="en-GB" sz="1200" u="none" strike="noStrike">
                          <a:effectLst/>
                        </a:rPr>
                        <a:t>M1 Kane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0.888</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289453132"/>
                  </a:ext>
                </a:extLst>
              </a:tr>
              <a:tr h="203200">
                <a:tc>
                  <a:txBody>
                    <a:bodyPr/>
                    <a:lstStyle/>
                    <a:p>
                      <a:pPr algn="l" fontAlgn="b"/>
                      <a:r>
                        <a:rPr lang="en-GB" sz="1200" u="none" strike="noStrike">
                          <a:effectLst/>
                        </a:rPr>
                        <a:t>M1 Kane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0.951</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877750572"/>
                  </a:ext>
                </a:extLst>
              </a:tr>
              <a:tr h="203200">
                <a:tc>
                  <a:txBody>
                    <a:bodyPr/>
                    <a:lstStyle/>
                    <a:p>
                      <a:pPr algn="l" fontAlgn="b"/>
                      <a:r>
                        <a:rPr lang="en-GB" sz="1200" u="none" strike="noStrike">
                          <a:effectLst/>
                        </a:rPr>
                        <a:t>M9 LeHeron</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6026827"/>
                  </a:ext>
                </a:extLst>
              </a:tr>
              <a:tr h="203200">
                <a:tc>
                  <a:txBody>
                    <a:bodyPr/>
                    <a:lstStyle/>
                    <a:p>
                      <a:pPr algn="l" fontAlgn="b"/>
                      <a:r>
                        <a:rPr lang="en-GB" sz="1200" u="none" strike="noStrike">
                          <a:effectLst/>
                        </a:rPr>
                        <a:t>M9 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0.98</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023902559"/>
                  </a:ext>
                </a:extLst>
              </a:tr>
              <a:tr h="203200">
                <a:tc>
                  <a:txBody>
                    <a:bodyPr/>
                    <a:lstStyle/>
                    <a:p>
                      <a:pPr algn="l" fontAlgn="b"/>
                      <a:r>
                        <a:rPr lang="en-GB" sz="1200" u="none" strike="noStrike">
                          <a:effectLst/>
                        </a:rPr>
                        <a:t>M9 Kane</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0.988</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75215703"/>
                  </a:ext>
                </a:extLst>
              </a:tr>
              <a:tr h="203200">
                <a:tc>
                  <a:txBody>
                    <a:bodyPr/>
                    <a:lstStyle/>
                    <a:p>
                      <a:pPr algn="l" fontAlgn="b"/>
                      <a:r>
                        <a:rPr lang="en-GB" sz="1200" u="none" strike="noStrike">
                          <a:effectLst/>
                        </a:rPr>
                        <a:t>M5 CH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0.949</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0.995</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91035481"/>
                  </a:ext>
                </a:extLst>
              </a:tr>
              <a:tr h="203200">
                <a:tc>
                  <a:txBody>
                    <a:bodyPr/>
                    <a:lstStyle/>
                    <a:p>
                      <a:pPr algn="l" fontAlgn="b"/>
                      <a:r>
                        <a:rPr lang="en-GB" sz="1200" u="none" strike="noStrike">
                          <a:effectLst/>
                        </a:rPr>
                        <a:t>M5 CH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0.903</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0.966</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16976347"/>
                  </a:ext>
                </a:extLst>
              </a:tr>
              <a:tr h="203200">
                <a:tc>
                  <a:txBody>
                    <a:bodyPr/>
                    <a:lstStyle/>
                    <a:p>
                      <a:pPr algn="l" fontAlgn="b"/>
                      <a:r>
                        <a:rPr lang="en-GB" sz="1200" u="none" strike="noStrike">
                          <a:effectLst/>
                        </a:rPr>
                        <a:t>M5 Kane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0.815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0.984</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083189"/>
                  </a:ext>
                </a:extLst>
              </a:tr>
              <a:tr h="203200">
                <a:tc>
                  <a:txBody>
                    <a:bodyPr/>
                    <a:lstStyle/>
                    <a:p>
                      <a:pPr algn="l" fontAlgn="b"/>
                      <a:r>
                        <a:rPr lang="en-GB" sz="1200" u="none" strike="noStrike">
                          <a:effectLst/>
                        </a:rPr>
                        <a:t>M5 Kane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0.861</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dirty="0">
                          <a:effectLst/>
                        </a:rPr>
                        <a:t>0.941</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84742647"/>
                  </a:ext>
                </a:extLst>
              </a:tr>
            </a:tbl>
          </a:graphicData>
        </a:graphic>
      </p:graphicFrame>
      <p:sp>
        <p:nvSpPr>
          <p:cNvPr id="4" name="TextBox 3">
            <a:extLst>
              <a:ext uri="{FF2B5EF4-FFF2-40B4-BE49-F238E27FC236}">
                <a16:creationId xmlns:a16="http://schemas.microsoft.com/office/drawing/2014/main" id="{66462979-B6DA-0E43-C4CB-604BAB876E7F}"/>
              </a:ext>
            </a:extLst>
          </p:cNvPr>
          <p:cNvSpPr txBox="1"/>
          <p:nvPr/>
        </p:nvSpPr>
        <p:spPr>
          <a:xfrm>
            <a:off x="214686" y="1828800"/>
            <a:ext cx="5327677" cy="369332"/>
          </a:xfrm>
          <a:prstGeom prst="rect">
            <a:avLst/>
          </a:prstGeom>
          <a:noFill/>
        </p:spPr>
        <p:txBody>
          <a:bodyPr wrap="none" rtlCol="0">
            <a:spAutoFit/>
          </a:bodyPr>
          <a:lstStyle/>
          <a:p>
            <a:r>
              <a:rPr lang="en-US" dirty="0"/>
              <a:t>Parameter recovery for winning models (each dataset) </a:t>
            </a:r>
          </a:p>
        </p:txBody>
      </p:sp>
    </p:spTree>
    <p:extLst>
      <p:ext uri="{BB962C8B-B14F-4D97-AF65-F5344CB8AC3E}">
        <p14:creationId xmlns:p14="http://schemas.microsoft.com/office/powerpoint/2010/main" val="2023782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Graphic 52">
            <a:extLst>
              <a:ext uri="{FF2B5EF4-FFF2-40B4-BE49-F238E27FC236}">
                <a16:creationId xmlns:a16="http://schemas.microsoft.com/office/drawing/2014/main" id="{BB8A616A-962D-1592-8F14-5FE7F070D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7253" y="6339219"/>
            <a:ext cx="1879600" cy="1879600"/>
          </a:xfrm>
          <a:prstGeom prst="rect">
            <a:avLst/>
          </a:prstGeom>
        </p:spPr>
      </p:pic>
      <p:pic>
        <p:nvPicPr>
          <p:cNvPr id="55" name="Graphic 54">
            <a:extLst>
              <a:ext uri="{FF2B5EF4-FFF2-40B4-BE49-F238E27FC236}">
                <a16:creationId xmlns:a16="http://schemas.microsoft.com/office/drawing/2014/main" id="{073BF4A1-65AC-C6AB-B203-900757B2EB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71145" y="2443123"/>
            <a:ext cx="1879600" cy="1879600"/>
          </a:xfrm>
          <a:prstGeom prst="rect">
            <a:avLst/>
          </a:prstGeom>
        </p:spPr>
      </p:pic>
      <p:pic>
        <p:nvPicPr>
          <p:cNvPr id="78" name="Graphic 77">
            <a:extLst>
              <a:ext uri="{FF2B5EF4-FFF2-40B4-BE49-F238E27FC236}">
                <a16:creationId xmlns:a16="http://schemas.microsoft.com/office/drawing/2014/main" id="{6229DD97-D3FC-5BD5-CD56-586FA274A9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3072" y="2431976"/>
            <a:ext cx="1879600" cy="1879600"/>
          </a:xfrm>
          <a:prstGeom prst="rect">
            <a:avLst/>
          </a:prstGeom>
        </p:spPr>
      </p:pic>
      <p:pic>
        <p:nvPicPr>
          <p:cNvPr id="84" name="Graphic 83">
            <a:extLst>
              <a:ext uri="{FF2B5EF4-FFF2-40B4-BE49-F238E27FC236}">
                <a16:creationId xmlns:a16="http://schemas.microsoft.com/office/drawing/2014/main" id="{C9ED0C94-6BE8-448A-5544-2C557B94DB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23097" y="4461468"/>
            <a:ext cx="1879600" cy="1879600"/>
          </a:xfrm>
          <a:prstGeom prst="rect">
            <a:avLst/>
          </a:prstGeom>
        </p:spPr>
      </p:pic>
      <p:pic>
        <p:nvPicPr>
          <p:cNvPr id="86" name="Graphic 85">
            <a:extLst>
              <a:ext uri="{FF2B5EF4-FFF2-40B4-BE49-F238E27FC236}">
                <a16:creationId xmlns:a16="http://schemas.microsoft.com/office/drawing/2014/main" id="{928A0305-B87E-557F-AEDE-88764B946FB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5595" y="4268748"/>
            <a:ext cx="1879600" cy="1879600"/>
          </a:xfrm>
          <a:prstGeom prst="rect">
            <a:avLst/>
          </a:prstGeom>
        </p:spPr>
      </p:pic>
      <p:pic>
        <p:nvPicPr>
          <p:cNvPr id="92" name="Graphic 91">
            <a:extLst>
              <a:ext uri="{FF2B5EF4-FFF2-40B4-BE49-F238E27FC236}">
                <a16:creationId xmlns:a16="http://schemas.microsoft.com/office/drawing/2014/main" id="{651F116C-6A15-82EA-1925-C656E66DB0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95457" y="6400201"/>
            <a:ext cx="1879600" cy="1879600"/>
          </a:xfrm>
          <a:prstGeom prst="rect">
            <a:avLst/>
          </a:prstGeom>
        </p:spPr>
      </p:pic>
      <p:pic>
        <p:nvPicPr>
          <p:cNvPr id="94" name="Graphic 93">
            <a:extLst>
              <a:ext uri="{FF2B5EF4-FFF2-40B4-BE49-F238E27FC236}">
                <a16:creationId xmlns:a16="http://schemas.microsoft.com/office/drawing/2014/main" id="{41917078-DEC0-A5AE-FA91-5E236389FE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83526" y="2328474"/>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3: Contreras-Huerta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11084" y="3968891"/>
            <a:ext cx="293670" cy="369332"/>
          </a:xfrm>
          <a:prstGeom prst="rect">
            <a:avLst/>
          </a:prstGeom>
          <a:noFill/>
        </p:spPr>
        <p:txBody>
          <a:bodyPr wrap="none" rtlCol="0">
            <a:spAutoFit/>
          </a:bodyPr>
          <a:lstStyle/>
          <a:p>
            <a:r>
              <a:rPr lang="en-US" dirty="0"/>
              <a:t>g</a:t>
            </a:r>
          </a:p>
        </p:txBody>
      </p:sp>
      <p:sp>
        <p:nvSpPr>
          <p:cNvPr id="35" name="TextBox 34">
            <a:extLst>
              <a:ext uri="{FF2B5EF4-FFF2-40B4-BE49-F238E27FC236}">
                <a16:creationId xmlns:a16="http://schemas.microsoft.com/office/drawing/2014/main" id="{C9483B18-9BAB-3E02-9546-7945910CD7A0}"/>
              </a:ext>
            </a:extLst>
          </p:cNvPr>
          <p:cNvSpPr txBox="1"/>
          <p:nvPr/>
        </p:nvSpPr>
        <p:spPr>
          <a:xfrm>
            <a:off x="79375" y="8433504"/>
            <a:ext cx="6699250" cy="1446550"/>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t>
            </a:r>
            <a:r>
              <a:rPr lang="en-US" sz="1100" dirty="0"/>
              <a:t> model is better than different choice policies and learning rules)</a:t>
            </a:r>
          </a:p>
          <a:p>
            <a:r>
              <a:rPr lang="en-US" sz="1100" b="1" dirty="0"/>
              <a:t>e) </a:t>
            </a:r>
            <a:r>
              <a:rPr lang="en-US" sz="1100" dirty="0"/>
              <a:t>Participant leave times vs </a:t>
            </a:r>
            <a:r>
              <a:rPr lang="en-US" sz="1100" b="1" dirty="0"/>
              <a:t>(f) </a:t>
            </a:r>
            <a:r>
              <a:rPr lang="en-US" sz="1100" dirty="0"/>
              <a:t>model fit MLE from simulations </a:t>
            </a:r>
          </a:p>
          <a:p>
            <a:r>
              <a:rPr lang="en-US" sz="1100" b="1" dirty="0"/>
              <a:t>g) </a:t>
            </a:r>
            <a:r>
              <a:rPr lang="en-US" sz="1100" dirty="0"/>
              <a:t>Fit beta significantly lower in rich compared to poor environment  [</a:t>
            </a:r>
            <a:r>
              <a:rPr lang="en-US" sz="1100" i="1" dirty="0"/>
              <a:t>t</a:t>
            </a:r>
            <a:r>
              <a:rPr lang="en-US" sz="1100" dirty="0"/>
              <a:t>(28) = -3.1, </a:t>
            </a:r>
            <a:r>
              <a:rPr lang="en-US" sz="1100" i="1" dirty="0"/>
              <a:t>p</a:t>
            </a:r>
            <a:r>
              <a:rPr lang="en-US" sz="1100" dirty="0"/>
              <a:t> = 0.004]</a:t>
            </a:r>
          </a:p>
          <a:p>
            <a:r>
              <a:rPr lang="en-US" sz="1100" b="1" dirty="0"/>
              <a:t>h) </a:t>
            </a:r>
            <a:r>
              <a:rPr lang="en-US" sz="1100" dirty="0"/>
              <a:t>Correlation of participant beta fits with participant mean leaving times </a:t>
            </a:r>
          </a:p>
          <a:p>
            <a:r>
              <a:rPr lang="en-US" sz="1100" b="1" dirty="0" err="1"/>
              <a:t>i</a:t>
            </a:r>
            <a:r>
              <a:rPr lang="en-US" sz="1100" b="1" dirty="0"/>
              <a:t>) </a:t>
            </a:r>
            <a:r>
              <a:rPr lang="en-US" sz="1100" dirty="0"/>
              <a:t>SDs of participants and</a:t>
            </a:r>
            <a:r>
              <a:rPr lang="en-US" sz="1100" b="1" dirty="0"/>
              <a:t> (j) </a:t>
            </a:r>
            <a:r>
              <a:rPr lang="en-US" sz="1100" dirty="0"/>
              <a:t>simulated data aren’t statistically different across patch/env, as model predicts </a:t>
            </a:r>
          </a:p>
        </p:txBody>
      </p:sp>
      <p:pic>
        <p:nvPicPr>
          <p:cNvPr id="39" name="Graphic 38">
            <a:extLst>
              <a:ext uri="{FF2B5EF4-FFF2-40B4-BE49-F238E27FC236}">
                <a16:creationId xmlns:a16="http://schemas.microsoft.com/office/drawing/2014/main" id="{83F0FA93-AC7C-F316-BE70-E6A131AB0B6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868805" y="407467"/>
            <a:ext cx="1879600" cy="1879600"/>
          </a:xfrm>
          <a:prstGeom prst="rect">
            <a:avLst/>
          </a:prstGeom>
        </p:spPr>
      </p:pic>
      <p:pic>
        <p:nvPicPr>
          <p:cNvPr id="41" name="Graphic 40">
            <a:extLst>
              <a:ext uri="{FF2B5EF4-FFF2-40B4-BE49-F238E27FC236}">
                <a16:creationId xmlns:a16="http://schemas.microsoft.com/office/drawing/2014/main" id="{CD924BF8-B152-EB48-09F2-73CEAC86387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978400" y="336606"/>
            <a:ext cx="1879600" cy="1879600"/>
          </a:xfrm>
          <a:prstGeom prst="rect">
            <a:avLst/>
          </a:prstGeom>
        </p:spPr>
      </p:pic>
      <p:pic>
        <p:nvPicPr>
          <p:cNvPr id="47" name="Graphic 46">
            <a:extLst>
              <a:ext uri="{FF2B5EF4-FFF2-40B4-BE49-F238E27FC236}">
                <a16:creationId xmlns:a16="http://schemas.microsoft.com/office/drawing/2014/main" id="{F9AB2BFB-A75D-F8A8-82A8-4127E0B7F50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5334" y="363259"/>
            <a:ext cx="1879600" cy="1879600"/>
          </a:xfrm>
          <a:prstGeom prst="rect">
            <a:avLst/>
          </a:prstGeom>
        </p:spPr>
      </p:pic>
      <p:sp>
        <p:nvSpPr>
          <p:cNvPr id="56" name="TextBox 55">
            <a:extLst>
              <a:ext uri="{FF2B5EF4-FFF2-40B4-BE49-F238E27FC236}">
                <a16:creationId xmlns:a16="http://schemas.microsoft.com/office/drawing/2014/main" id="{C7196864-C4BD-B737-F4EA-2D5D179687FB}"/>
              </a:ext>
            </a:extLst>
          </p:cNvPr>
          <p:cNvSpPr txBox="1"/>
          <p:nvPr/>
        </p:nvSpPr>
        <p:spPr>
          <a:xfrm>
            <a:off x="4747499" y="2214371"/>
            <a:ext cx="255198" cy="369332"/>
          </a:xfrm>
          <a:prstGeom prst="rect">
            <a:avLst/>
          </a:prstGeom>
          <a:noFill/>
        </p:spPr>
        <p:txBody>
          <a:bodyPr wrap="none" rtlCol="0">
            <a:spAutoFit/>
          </a:bodyPr>
          <a:lstStyle/>
          <a:p>
            <a:r>
              <a:rPr lang="en-US" dirty="0"/>
              <a:t>f</a:t>
            </a:r>
          </a:p>
        </p:txBody>
      </p:sp>
      <p:sp>
        <p:nvSpPr>
          <p:cNvPr id="57" name="TextBox 56">
            <a:extLst>
              <a:ext uri="{FF2B5EF4-FFF2-40B4-BE49-F238E27FC236}">
                <a16:creationId xmlns:a16="http://schemas.microsoft.com/office/drawing/2014/main" id="{0655A7AC-A36D-A1A4-6641-E4699DB05CD5}"/>
              </a:ext>
            </a:extLst>
          </p:cNvPr>
          <p:cNvSpPr txBox="1"/>
          <p:nvPr/>
        </p:nvSpPr>
        <p:spPr>
          <a:xfrm>
            <a:off x="2615809" y="4209436"/>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B77E6725-712E-7B0E-7037-37898DAE3396}"/>
              </a:ext>
            </a:extLst>
          </p:cNvPr>
          <p:cNvSpPr txBox="1"/>
          <p:nvPr/>
        </p:nvSpPr>
        <p:spPr>
          <a:xfrm>
            <a:off x="443125" y="623652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DE1B824C-570B-1450-1B69-94FC25077550}"/>
              </a:ext>
            </a:extLst>
          </p:cNvPr>
          <p:cNvSpPr txBox="1"/>
          <p:nvPr/>
        </p:nvSpPr>
        <p:spPr>
          <a:xfrm>
            <a:off x="2505195" y="6075635"/>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816A1363-C7E9-D88C-9884-B6ACC19E4214}"/>
              </a:ext>
            </a:extLst>
          </p:cNvPr>
          <p:cNvSpPr txBox="1"/>
          <p:nvPr/>
        </p:nvSpPr>
        <p:spPr>
          <a:xfrm>
            <a:off x="1419676" y="4599721"/>
            <a:ext cx="530915"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63D3C839-7F18-FB86-86CD-421588ADCF9C}"/>
              </a:ext>
            </a:extLst>
          </p:cNvPr>
          <p:cNvSpPr txBox="1"/>
          <p:nvPr/>
        </p:nvSpPr>
        <p:spPr>
          <a:xfrm>
            <a:off x="1624861" y="6745344"/>
            <a:ext cx="325730" cy="276999"/>
          </a:xfrm>
          <a:prstGeom prst="rect">
            <a:avLst/>
          </a:prstGeom>
          <a:noFill/>
        </p:spPr>
        <p:txBody>
          <a:bodyPr wrap="none" rtlCol="0">
            <a:spAutoFit/>
          </a:bodyPr>
          <a:lstStyle/>
          <a:p>
            <a:r>
              <a:rPr lang="en-US" sz="1200" dirty="0"/>
              <a:t>ns</a:t>
            </a:r>
            <a:endParaRPr lang="en-US" dirty="0"/>
          </a:p>
        </p:txBody>
      </p:sp>
      <p:sp>
        <p:nvSpPr>
          <p:cNvPr id="62" name="TextBox 61">
            <a:extLst>
              <a:ext uri="{FF2B5EF4-FFF2-40B4-BE49-F238E27FC236}">
                <a16:creationId xmlns:a16="http://schemas.microsoft.com/office/drawing/2014/main" id="{BA86BEB0-3403-2F37-4178-E0EE43F59D69}"/>
              </a:ext>
            </a:extLst>
          </p:cNvPr>
          <p:cNvSpPr txBox="1"/>
          <p:nvPr/>
        </p:nvSpPr>
        <p:spPr>
          <a:xfrm>
            <a:off x="3572392" y="6721933"/>
            <a:ext cx="325730" cy="276999"/>
          </a:xfrm>
          <a:prstGeom prst="rect">
            <a:avLst/>
          </a:prstGeom>
          <a:noFill/>
        </p:spPr>
        <p:txBody>
          <a:bodyPr wrap="none" rtlCol="0">
            <a:spAutoFit/>
          </a:bodyPr>
          <a:lstStyle/>
          <a:p>
            <a:r>
              <a:rPr lang="en-US" sz="1200" dirty="0"/>
              <a:t>ns</a:t>
            </a:r>
          </a:p>
        </p:txBody>
      </p:sp>
    </p:spTree>
    <p:extLst>
      <p:ext uri="{BB962C8B-B14F-4D97-AF65-F5344CB8AC3E}">
        <p14:creationId xmlns:p14="http://schemas.microsoft.com/office/powerpoint/2010/main" val="209683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3DA39C-89B7-599E-1AE8-E130083E8A69}"/>
              </a:ext>
            </a:extLst>
          </p:cNvPr>
          <p:cNvSpPr txBox="1"/>
          <p:nvPr/>
        </p:nvSpPr>
        <p:spPr>
          <a:xfrm>
            <a:off x="340802" y="-32726"/>
            <a:ext cx="5972534" cy="369332"/>
          </a:xfrm>
          <a:prstGeom prst="rect">
            <a:avLst/>
          </a:prstGeom>
          <a:noFill/>
        </p:spPr>
        <p:txBody>
          <a:bodyPr wrap="square" rtlCol="0">
            <a:spAutoFit/>
          </a:bodyPr>
          <a:lstStyle/>
          <a:p>
            <a:r>
              <a:rPr lang="en-US" b="1" dirty="0"/>
              <a:t>Supplementary </a:t>
            </a:r>
            <a:r>
              <a:rPr lang="en-US" dirty="0"/>
              <a:t>Figure 3: Contreras-Huerta fitting </a:t>
            </a:r>
          </a:p>
        </p:txBody>
      </p:sp>
      <p:sp>
        <p:nvSpPr>
          <p:cNvPr id="9" name="TextBox 8">
            <a:extLst>
              <a:ext uri="{FF2B5EF4-FFF2-40B4-BE49-F238E27FC236}">
                <a16:creationId xmlns:a16="http://schemas.microsoft.com/office/drawing/2014/main" id="{F5491C2C-A297-4659-6FA1-AE157D3B6978}"/>
              </a:ext>
            </a:extLst>
          </p:cNvPr>
          <p:cNvSpPr txBox="1"/>
          <p:nvPr/>
        </p:nvSpPr>
        <p:spPr>
          <a:xfrm>
            <a:off x="636547" y="538480"/>
            <a:ext cx="295274" cy="369332"/>
          </a:xfrm>
          <a:prstGeom prst="rect">
            <a:avLst/>
          </a:prstGeom>
          <a:noFill/>
        </p:spPr>
        <p:txBody>
          <a:bodyPr wrap="none" rtlCol="0">
            <a:spAutoFit/>
          </a:bodyPr>
          <a:lstStyle/>
          <a:p>
            <a:r>
              <a:rPr lang="en-US" dirty="0"/>
              <a:t>a</a:t>
            </a:r>
          </a:p>
        </p:txBody>
      </p:sp>
      <p:sp>
        <p:nvSpPr>
          <p:cNvPr id="10" name="TextBox 9">
            <a:extLst>
              <a:ext uri="{FF2B5EF4-FFF2-40B4-BE49-F238E27FC236}">
                <a16:creationId xmlns:a16="http://schemas.microsoft.com/office/drawing/2014/main" id="{97E130E5-5AAC-F507-C9EA-7A2034612619}"/>
              </a:ext>
            </a:extLst>
          </p:cNvPr>
          <p:cNvSpPr txBox="1"/>
          <p:nvPr/>
        </p:nvSpPr>
        <p:spPr>
          <a:xfrm>
            <a:off x="3035668" y="538480"/>
            <a:ext cx="306494" cy="369332"/>
          </a:xfrm>
          <a:prstGeom prst="rect">
            <a:avLst/>
          </a:prstGeom>
          <a:noFill/>
        </p:spPr>
        <p:txBody>
          <a:bodyPr wrap="none" rtlCol="0">
            <a:spAutoFit/>
          </a:bodyPr>
          <a:lstStyle/>
          <a:p>
            <a:r>
              <a:rPr lang="en-US" dirty="0"/>
              <a:t>b</a:t>
            </a:r>
          </a:p>
        </p:txBody>
      </p:sp>
      <p:pic>
        <p:nvPicPr>
          <p:cNvPr id="16" name="Graphic 15">
            <a:extLst>
              <a:ext uri="{FF2B5EF4-FFF2-40B4-BE49-F238E27FC236}">
                <a16:creationId xmlns:a16="http://schemas.microsoft.com/office/drawing/2014/main" id="{04572299-FFA9-7EC2-9BEC-EF808293CF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9000" y="723146"/>
            <a:ext cx="1879600" cy="1879600"/>
          </a:xfrm>
          <a:prstGeom prst="rect">
            <a:avLst/>
          </a:prstGeom>
        </p:spPr>
      </p:pic>
      <p:pic>
        <p:nvPicPr>
          <p:cNvPr id="18" name="Graphic 17">
            <a:extLst>
              <a:ext uri="{FF2B5EF4-FFF2-40B4-BE49-F238E27FC236}">
                <a16:creationId xmlns:a16="http://schemas.microsoft.com/office/drawing/2014/main" id="{1602B7E8-849A-E5C4-8457-AAACCCD299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1821" y="650020"/>
            <a:ext cx="1879600" cy="1879600"/>
          </a:xfrm>
          <a:prstGeom prst="rect">
            <a:avLst/>
          </a:prstGeom>
        </p:spPr>
      </p:pic>
      <p:sp>
        <p:nvSpPr>
          <p:cNvPr id="20" name="TextBox 19">
            <a:extLst>
              <a:ext uri="{FF2B5EF4-FFF2-40B4-BE49-F238E27FC236}">
                <a16:creationId xmlns:a16="http://schemas.microsoft.com/office/drawing/2014/main" id="{400C9DF0-50ED-9FB3-F810-6426E1522753}"/>
              </a:ext>
            </a:extLst>
          </p:cNvPr>
          <p:cNvSpPr txBox="1"/>
          <p:nvPr/>
        </p:nvSpPr>
        <p:spPr>
          <a:xfrm>
            <a:off x="230846" y="7845417"/>
            <a:ext cx="5972534" cy="1107996"/>
          </a:xfrm>
          <a:prstGeom prst="rect">
            <a:avLst/>
          </a:prstGeom>
          <a:noFill/>
        </p:spPr>
        <p:txBody>
          <a:bodyPr wrap="square">
            <a:spAutoFit/>
          </a:bodyPr>
          <a:lstStyle/>
          <a:p>
            <a:r>
              <a:rPr lang="en-US" sz="1100" b="1" dirty="0"/>
              <a:t>a) </a:t>
            </a:r>
            <a:r>
              <a:rPr lang="en-US" sz="1100" dirty="0"/>
              <a:t>Fit alpha rho is not significantly different between environments (</a:t>
            </a:r>
            <a:r>
              <a:rPr lang="en-US" sz="1100" i="1" dirty="0"/>
              <a:t>Z</a:t>
            </a:r>
            <a:r>
              <a:rPr lang="en-US" sz="1100" dirty="0"/>
              <a:t> = -0.4, </a:t>
            </a:r>
            <a:r>
              <a:rPr lang="en-US" sz="1100" i="1" dirty="0"/>
              <a:t>p</a:t>
            </a:r>
            <a:r>
              <a:rPr lang="en-US" sz="1100" dirty="0"/>
              <a:t> = 0.69). </a:t>
            </a:r>
          </a:p>
          <a:p>
            <a:r>
              <a:rPr lang="en-US" sz="1100" b="1" dirty="0"/>
              <a:t>b) </a:t>
            </a:r>
            <a:r>
              <a:rPr lang="en-US" sz="1100" dirty="0"/>
              <a:t>Participant leaving times decrease as fit alpha rho increases [Rich env: </a:t>
            </a:r>
            <a:r>
              <a:rPr lang="en-US" sz="1100" i="1" dirty="0"/>
              <a:t>r</a:t>
            </a:r>
            <a:r>
              <a:rPr lang="en-US" sz="1100" dirty="0"/>
              <a:t>(27) = -.71, </a:t>
            </a:r>
            <a:r>
              <a:rPr lang="en-US" sz="1100" i="1" dirty="0"/>
              <a:t>p</a:t>
            </a:r>
            <a:r>
              <a:rPr lang="en-US" sz="1100" dirty="0"/>
              <a:t> &lt; .001; Poor env: </a:t>
            </a:r>
            <a:r>
              <a:rPr lang="en-US" sz="1100" i="1" dirty="0"/>
              <a:t>r</a:t>
            </a:r>
            <a:r>
              <a:rPr lang="en-US" sz="1100" dirty="0"/>
              <a:t>(27) = -.83, </a:t>
            </a:r>
            <a:r>
              <a:rPr lang="en-US" sz="1100" i="1" dirty="0"/>
              <a:t>p</a:t>
            </a:r>
            <a:r>
              <a:rPr lang="en-US" sz="1100" dirty="0"/>
              <a:t> &lt; .001). But this was driven by a few participants who had very short leaving times. Beta alone was unable to capture their early leaving </a:t>
            </a:r>
            <a:r>
              <a:rPr lang="en-US" sz="1100" dirty="0" err="1"/>
              <a:t>behaviour</a:t>
            </a:r>
            <a:r>
              <a:rPr lang="en-US" sz="1100" dirty="0"/>
              <a:t>, so they have a non-zero alpha value, which leads to a smaller </a:t>
            </a:r>
            <a:r>
              <a:rPr lang="en-US" sz="1100" dirty="0" err="1"/>
              <a:t>PatchRR</a:t>
            </a:r>
            <a:r>
              <a:rPr lang="en-US" sz="1100" dirty="0"/>
              <a:t> – </a:t>
            </a:r>
            <a:r>
              <a:rPr lang="en-US" sz="1100" dirty="0" err="1"/>
              <a:t>avgRR</a:t>
            </a:r>
            <a:r>
              <a:rPr lang="en-US" sz="1100" dirty="0"/>
              <a:t> difference entering the </a:t>
            </a:r>
            <a:r>
              <a:rPr lang="en-US" sz="1100" dirty="0" err="1"/>
              <a:t>softmax</a:t>
            </a:r>
            <a:r>
              <a:rPr lang="en-US" sz="1100" dirty="0"/>
              <a:t> equation, which leads to earlier leaving. </a:t>
            </a:r>
          </a:p>
        </p:txBody>
      </p:sp>
    </p:spTree>
    <p:extLst>
      <p:ext uri="{BB962C8B-B14F-4D97-AF65-F5344CB8AC3E}">
        <p14:creationId xmlns:p14="http://schemas.microsoft.com/office/powerpoint/2010/main" val="3059958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Graphic 80">
            <a:extLst>
              <a:ext uri="{FF2B5EF4-FFF2-40B4-BE49-F238E27FC236}">
                <a16:creationId xmlns:a16="http://schemas.microsoft.com/office/drawing/2014/main" id="{92FA70E5-84AF-9042-E09B-EE6FCFBACAA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6069" y="2334871"/>
            <a:ext cx="1879600" cy="1879600"/>
          </a:xfrm>
          <a:prstGeom prst="rect">
            <a:avLst/>
          </a:prstGeom>
        </p:spPr>
      </p:pic>
      <p:pic>
        <p:nvPicPr>
          <p:cNvPr id="89" name="Graphic 88">
            <a:extLst>
              <a:ext uri="{FF2B5EF4-FFF2-40B4-BE49-F238E27FC236}">
                <a16:creationId xmlns:a16="http://schemas.microsoft.com/office/drawing/2014/main" id="{FA0924AC-D788-BFE2-39B3-8273D36294F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000362" y="4305521"/>
            <a:ext cx="1879600" cy="1879600"/>
          </a:xfrm>
          <a:prstGeom prst="rect">
            <a:avLst/>
          </a:prstGeom>
        </p:spPr>
      </p:pic>
      <p:pic>
        <p:nvPicPr>
          <p:cNvPr id="91" name="Graphic 90">
            <a:extLst>
              <a:ext uri="{FF2B5EF4-FFF2-40B4-BE49-F238E27FC236}">
                <a16:creationId xmlns:a16="http://schemas.microsoft.com/office/drawing/2014/main" id="{239A0F11-33AE-93E4-E4D7-32FECFFA4DF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1120" y="4320695"/>
            <a:ext cx="1879600" cy="1879600"/>
          </a:xfrm>
          <a:prstGeom prst="rect">
            <a:avLst/>
          </a:prstGeom>
        </p:spPr>
      </p:pic>
      <p:pic>
        <p:nvPicPr>
          <p:cNvPr id="95" name="Graphic 94">
            <a:extLst>
              <a:ext uri="{FF2B5EF4-FFF2-40B4-BE49-F238E27FC236}">
                <a16:creationId xmlns:a16="http://schemas.microsoft.com/office/drawing/2014/main" id="{6C97A261-FBBC-534D-AE02-E5F3FFA7F598}"/>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94427" y="6243432"/>
            <a:ext cx="1879600" cy="1879600"/>
          </a:xfrm>
          <a:prstGeom prst="rect">
            <a:avLst/>
          </a:prstGeom>
        </p:spPr>
      </p:pic>
      <p:pic>
        <p:nvPicPr>
          <p:cNvPr id="97" name="Graphic 96">
            <a:extLst>
              <a:ext uri="{FF2B5EF4-FFF2-40B4-BE49-F238E27FC236}">
                <a16:creationId xmlns:a16="http://schemas.microsoft.com/office/drawing/2014/main" id="{5116ADD7-A575-FB32-4B7A-0D321EE9E59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83063" y="2248899"/>
            <a:ext cx="1879600" cy="1879600"/>
          </a:xfrm>
          <a:prstGeom prst="rect">
            <a:avLst/>
          </a:prstGeom>
        </p:spPr>
      </p:pic>
      <p:pic>
        <p:nvPicPr>
          <p:cNvPr id="71" name="Graphic 70">
            <a:extLst>
              <a:ext uri="{FF2B5EF4-FFF2-40B4-BE49-F238E27FC236}">
                <a16:creationId xmlns:a16="http://schemas.microsoft.com/office/drawing/2014/main" id="{7279808C-2986-AD22-AA8E-A9DF8D4EB79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43945" y="6140306"/>
            <a:ext cx="1879600" cy="1879600"/>
          </a:xfrm>
          <a:prstGeom prst="rect">
            <a:avLst/>
          </a:prstGeom>
        </p:spPr>
      </p:pic>
      <p:pic>
        <p:nvPicPr>
          <p:cNvPr id="42" name="Graphic 41">
            <a:extLst>
              <a:ext uri="{FF2B5EF4-FFF2-40B4-BE49-F238E27FC236}">
                <a16:creationId xmlns:a16="http://schemas.microsoft.com/office/drawing/2014/main" id="{A9F18589-8B3F-BF1D-037F-D251CD5B696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946076" y="364027"/>
            <a:ext cx="1879600" cy="1879600"/>
          </a:xfrm>
          <a:prstGeom prst="rect">
            <a:avLst/>
          </a:prstGeom>
        </p:spPr>
      </p:pic>
      <p:pic>
        <p:nvPicPr>
          <p:cNvPr id="44" name="Graphic 43">
            <a:extLst>
              <a:ext uri="{FF2B5EF4-FFF2-40B4-BE49-F238E27FC236}">
                <a16:creationId xmlns:a16="http://schemas.microsoft.com/office/drawing/2014/main" id="{A8F90A03-E230-F93A-16A6-482F9429267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809103" y="312366"/>
            <a:ext cx="1879600" cy="1879600"/>
          </a:xfrm>
          <a:prstGeom prst="rect">
            <a:avLst/>
          </a:prstGeom>
        </p:spPr>
      </p:pic>
      <p:pic>
        <p:nvPicPr>
          <p:cNvPr id="50" name="Graphic 49">
            <a:extLst>
              <a:ext uri="{FF2B5EF4-FFF2-40B4-BE49-F238E27FC236}">
                <a16:creationId xmlns:a16="http://schemas.microsoft.com/office/drawing/2014/main" id="{81F3B08A-001E-E338-45EB-AD836CECB45C}"/>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39475" y="352137"/>
            <a:ext cx="1879600" cy="1879600"/>
          </a:xfrm>
          <a:prstGeom prst="rect">
            <a:avLst/>
          </a:prstGeom>
        </p:spPr>
      </p:pic>
      <p:pic>
        <p:nvPicPr>
          <p:cNvPr id="58" name="Graphic 57">
            <a:extLst>
              <a:ext uri="{FF2B5EF4-FFF2-40B4-BE49-F238E27FC236}">
                <a16:creationId xmlns:a16="http://schemas.microsoft.com/office/drawing/2014/main" id="{BF5C920D-3F23-46CD-CA6F-B20A00FA379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946076" y="2301938"/>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116128"/>
            <a:ext cx="6699250" cy="1954381"/>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better than different choice policies and other learning rules (no learning of </a:t>
            </a:r>
            <a:r>
              <a:rPr lang="en-US" sz="1100" dirty="0" err="1"/>
              <a:t>patchRR</a:t>
            </a:r>
            <a:r>
              <a:rPr lang="en-US" sz="1100" dirty="0"/>
              <a:t>) )</a:t>
            </a:r>
          </a:p>
          <a:p>
            <a:r>
              <a:rPr lang="en-US" sz="1100" b="1" dirty="0"/>
              <a:t>e) </a:t>
            </a:r>
            <a:r>
              <a:rPr lang="en-US" sz="1100" dirty="0"/>
              <a:t>Participant leave times vs </a:t>
            </a:r>
            <a:r>
              <a:rPr lang="en-US" sz="1100" b="1" dirty="0"/>
              <a:t>(f) </a:t>
            </a:r>
            <a:r>
              <a:rPr lang="en-US" sz="1100" dirty="0"/>
              <a:t>model fit MLE from simulations </a:t>
            </a:r>
          </a:p>
          <a:p>
            <a:r>
              <a:rPr lang="en-US" sz="1100" b="1" dirty="0"/>
              <a:t>g) </a:t>
            </a:r>
            <a:r>
              <a:rPr lang="en-US" sz="1100" dirty="0"/>
              <a:t>Fit beta significantly lower in rich compared to poor environment  </a:t>
            </a:r>
          </a:p>
          <a:p>
            <a:r>
              <a:rPr lang="en-US" sz="1100" b="1" dirty="0"/>
              <a:t>h) </a:t>
            </a:r>
            <a:r>
              <a:rPr lang="en-US" sz="1100" dirty="0"/>
              <a:t>Correlation of participant beta fits with participant mean leaving times </a:t>
            </a:r>
          </a:p>
          <a:p>
            <a:r>
              <a:rPr lang="en-US" sz="1100" b="1" dirty="0" err="1"/>
              <a:t>i</a:t>
            </a:r>
            <a:r>
              <a:rPr lang="en-US" sz="1100" b="1" dirty="0"/>
              <a:t>) </a:t>
            </a:r>
            <a:r>
              <a:rPr lang="en-US" sz="1100" dirty="0"/>
              <a:t>SD participants - Main effect of patch (p&lt;.001) and environment (p&lt;.001) but no interaction (p = 0.52). </a:t>
            </a:r>
          </a:p>
          <a:p>
            <a:r>
              <a:rPr lang="en-US" sz="1100" b="1" dirty="0"/>
              <a:t>j) </a:t>
            </a:r>
            <a:r>
              <a:rPr lang="en-US" sz="1100" dirty="0"/>
              <a:t>SD simulated - Main effect of patch (p&lt;.001) and environment (p&lt;.001) AND interaction (p = 0.001). </a:t>
            </a:r>
          </a:p>
          <a:p>
            <a:endParaRPr lang="en-US" sz="1100" dirty="0"/>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4: Kane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1" name="TextBox 30">
            <a:extLst>
              <a:ext uri="{FF2B5EF4-FFF2-40B4-BE49-F238E27FC236}">
                <a16:creationId xmlns:a16="http://schemas.microsoft.com/office/drawing/2014/main" id="{8E666C51-6D9F-5126-FCD9-BA61B36A4AD2}"/>
              </a:ext>
            </a:extLst>
          </p:cNvPr>
          <p:cNvSpPr txBox="1"/>
          <p:nvPr/>
        </p:nvSpPr>
        <p:spPr>
          <a:xfrm>
            <a:off x="4620501" y="2274411"/>
            <a:ext cx="255198" cy="369332"/>
          </a:xfrm>
          <a:prstGeom prst="rect">
            <a:avLst/>
          </a:prstGeom>
          <a:noFill/>
        </p:spPr>
        <p:txBody>
          <a:bodyPr wrap="none" rtlCol="0">
            <a:spAutoFit/>
          </a:bodyPr>
          <a:lstStyle/>
          <a:p>
            <a:r>
              <a:rPr lang="en-US" dirty="0"/>
              <a:t>f</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43583" y="4079557"/>
            <a:ext cx="293670" cy="369332"/>
          </a:xfrm>
          <a:prstGeom prst="rect">
            <a:avLst/>
          </a:prstGeom>
          <a:noFill/>
        </p:spPr>
        <p:txBody>
          <a:bodyPr wrap="none" rtlCol="0">
            <a:spAutoFit/>
          </a:bodyPr>
          <a:lstStyle/>
          <a:p>
            <a:r>
              <a:rPr lang="en-US" dirty="0"/>
              <a:t>g</a:t>
            </a:r>
          </a:p>
        </p:txBody>
      </p:sp>
      <p:sp>
        <p:nvSpPr>
          <p:cNvPr id="60" name="TextBox 59">
            <a:extLst>
              <a:ext uri="{FF2B5EF4-FFF2-40B4-BE49-F238E27FC236}">
                <a16:creationId xmlns:a16="http://schemas.microsoft.com/office/drawing/2014/main" id="{ECFD63B8-302E-2BC6-8BE6-28427CD2FABB}"/>
              </a:ext>
            </a:extLst>
          </p:cNvPr>
          <p:cNvSpPr txBox="1"/>
          <p:nvPr/>
        </p:nvSpPr>
        <p:spPr>
          <a:xfrm>
            <a:off x="2896053" y="4128499"/>
            <a:ext cx="306494" cy="369332"/>
          </a:xfrm>
          <a:prstGeom prst="rect">
            <a:avLst/>
          </a:prstGeom>
          <a:noFill/>
        </p:spPr>
        <p:txBody>
          <a:bodyPr wrap="none" rtlCol="0">
            <a:spAutoFit/>
          </a:bodyPr>
          <a:lstStyle/>
          <a:p>
            <a:r>
              <a:rPr lang="en-US" dirty="0"/>
              <a:t>h</a:t>
            </a:r>
          </a:p>
        </p:txBody>
      </p:sp>
      <p:sp>
        <p:nvSpPr>
          <p:cNvPr id="61" name="TextBox 60">
            <a:extLst>
              <a:ext uri="{FF2B5EF4-FFF2-40B4-BE49-F238E27FC236}">
                <a16:creationId xmlns:a16="http://schemas.microsoft.com/office/drawing/2014/main" id="{4684A61C-57A7-6265-05AB-8D20A274BA42}"/>
              </a:ext>
            </a:extLst>
          </p:cNvPr>
          <p:cNvSpPr txBox="1"/>
          <p:nvPr/>
        </p:nvSpPr>
        <p:spPr>
          <a:xfrm>
            <a:off x="643763" y="6129404"/>
            <a:ext cx="237566" cy="369332"/>
          </a:xfrm>
          <a:prstGeom prst="rect">
            <a:avLst/>
          </a:prstGeom>
          <a:noFill/>
        </p:spPr>
        <p:txBody>
          <a:bodyPr wrap="none" rtlCol="0">
            <a:spAutoFit/>
          </a:bodyPr>
          <a:lstStyle/>
          <a:p>
            <a:r>
              <a:rPr lang="en-US" dirty="0" err="1"/>
              <a:t>i</a:t>
            </a:r>
            <a:endParaRPr lang="en-US" dirty="0"/>
          </a:p>
        </p:txBody>
      </p:sp>
      <p:sp>
        <p:nvSpPr>
          <p:cNvPr id="62" name="TextBox 61">
            <a:extLst>
              <a:ext uri="{FF2B5EF4-FFF2-40B4-BE49-F238E27FC236}">
                <a16:creationId xmlns:a16="http://schemas.microsoft.com/office/drawing/2014/main" id="{55421733-A64B-CBB3-FB09-8F31C37351DE}"/>
              </a:ext>
            </a:extLst>
          </p:cNvPr>
          <p:cNvSpPr txBox="1"/>
          <p:nvPr/>
        </p:nvSpPr>
        <p:spPr>
          <a:xfrm>
            <a:off x="2474021" y="6182086"/>
            <a:ext cx="239168" cy="369332"/>
          </a:xfrm>
          <a:prstGeom prst="rect">
            <a:avLst/>
          </a:prstGeom>
          <a:noFill/>
        </p:spPr>
        <p:txBody>
          <a:bodyPr wrap="none" rtlCol="0">
            <a:spAutoFit/>
          </a:bodyPr>
          <a:lstStyle/>
          <a:p>
            <a:r>
              <a:rPr lang="en-US" dirty="0"/>
              <a:t>j</a:t>
            </a:r>
          </a:p>
        </p:txBody>
      </p:sp>
      <p:sp>
        <p:nvSpPr>
          <p:cNvPr id="63" name="TextBox 62">
            <a:extLst>
              <a:ext uri="{FF2B5EF4-FFF2-40B4-BE49-F238E27FC236}">
                <a16:creationId xmlns:a16="http://schemas.microsoft.com/office/drawing/2014/main" id="{A96AFC87-F092-9A4E-B21C-BEEA780E1241}"/>
              </a:ext>
            </a:extLst>
          </p:cNvPr>
          <p:cNvSpPr txBox="1"/>
          <p:nvPr/>
        </p:nvSpPr>
        <p:spPr>
          <a:xfrm>
            <a:off x="1413817" y="4784715"/>
            <a:ext cx="530915" cy="369332"/>
          </a:xfrm>
          <a:prstGeom prst="rect">
            <a:avLst/>
          </a:prstGeom>
          <a:noFill/>
        </p:spPr>
        <p:txBody>
          <a:bodyPr wrap="none" rtlCol="0">
            <a:spAutoFit/>
          </a:bodyPr>
          <a:lstStyle/>
          <a:p>
            <a:r>
              <a:rPr lang="en-US" dirty="0"/>
              <a:t>***</a:t>
            </a:r>
          </a:p>
        </p:txBody>
      </p:sp>
      <p:sp>
        <p:nvSpPr>
          <p:cNvPr id="64" name="TextBox 63">
            <a:extLst>
              <a:ext uri="{FF2B5EF4-FFF2-40B4-BE49-F238E27FC236}">
                <a16:creationId xmlns:a16="http://schemas.microsoft.com/office/drawing/2014/main" id="{33030694-0C0F-7DDB-9F45-2C50F00C1995}"/>
              </a:ext>
            </a:extLst>
          </p:cNvPr>
          <p:cNvSpPr txBox="1"/>
          <p:nvPr/>
        </p:nvSpPr>
        <p:spPr>
          <a:xfrm>
            <a:off x="1510620" y="6566076"/>
            <a:ext cx="530915" cy="369332"/>
          </a:xfrm>
          <a:prstGeom prst="rect">
            <a:avLst/>
          </a:prstGeom>
          <a:noFill/>
        </p:spPr>
        <p:txBody>
          <a:bodyPr wrap="none" rtlCol="0">
            <a:spAutoFit/>
          </a:bodyPr>
          <a:lstStyle/>
          <a:p>
            <a:r>
              <a:rPr lang="en-US" dirty="0"/>
              <a:t>***</a:t>
            </a:r>
          </a:p>
        </p:txBody>
      </p:sp>
      <p:sp>
        <p:nvSpPr>
          <p:cNvPr id="65" name="TextBox 64">
            <a:extLst>
              <a:ext uri="{FF2B5EF4-FFF2-40B4-BE49-F238E27FC236}">
                <a16:creationId xmlns:a16="http://schemas.microsoft.com/office/drawing/2014/main" id="{5CA50DF1-8A64-2986-5330-654C81E2AF0B}"/>
              </a:ext>
            </a:extLst>
          </p:cNvPr>
          <p:cNvSpPr txBox="1"/>
          <p:nvPr/>
        </p:nvSpPr>
        <p:spPr>
          <a:xfrm>
            <a:off x="3550977" y="6391882"/>
            <a:ext cx="530915"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971949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3DA39C-89B7-599E-1AE8-E130083E8A69}"/>
              </a:ext>
            </a:extLst>
          </p:cNvPr>
          <p:cNvSpPr txBox="1"/>
          <p:nvPr/>
        </p:nvSpPr>
        <p:spPr>
          <a:xfrm>
            <a:off x="340802" y="-32726"/>
            <a:ext cx="5972534" cy="369332"/>
          </a:xfrm>
          <a:prstGeom prst="rect">
            <a:avLst/>
          </a:prstGeom>
          <a:noFill/>
        </p:spPr>
        <p:txBody>
          <a:bodyPr wrap="square" rtlCol="0">
            <a:spAutoFit/>
          </a:bodyPr>
          <a:lstStyle/>
          <a:p>
            <a:r>
              <a:rPr lang="en-US" b="1" dirty="0"/>
              <a:t>Supplementary </a:t>
            </a:r>
            <a:r>
              <a:rPr lang="en-US" dirty="0"/>
              <a:t>Figure 4: Kane fitting </a:t>
            </a:r>
          </a:p>
        </p:txBody>
      </p:sp>
      <p:sp>
        <p:nvSpPr>
          <p:cNvPr id="9" name="TextBox 8">
            <a:extLst>
              <a:ext uri="{FF2B5EF4-FFF2-40B4-BE49-F238E27FC236}">
                <a16:creationId xmlns:a16="http://schemas.microsoft.com/office/drawing/2014/main" id="{F5491C2C-A297-4659-6FA1-AE157D3B6978}"/>
              </a:ext>
            </a:extLst>
          </p:cNvPr>
          <p:cNvSpPr txBox="1"/>
          <p:nvPr/>
        </p:nvSpPr>
        <p:spPr>
          <a:xfrm>
            <a:off x="636547" y="538480"/>
            <a:ext cx="295274" cy="369332"/>
          </a:xfrm>
          <a:prstGeom prst="rect">
            <a:avLst/>
          </a:prstGeom>
          <a:noFill/>
        </p:spPr>
        <p:txBody>
          <a:bodyPr wrap="none" rtlCol="0">
            <a:spAutoFit/>
          </a:bodyPr>
          <a:lstStyle/>
          <a:p>
            <a:r>
              <a:rPr lang="en-US" dirty="0"/>
              <a:t>a</a:t>
            </a:r>
          </a:p>
        </p:txBody>
      </p:sp>
      <p:sp>
        <p:nvSpPr>
          <p:cNvPr id="10" name="TextBox 9">
            <a:extLst>
              <a:ext uri="{FF2B5EF4-FFF2-40B4-BE49-F238E27FC236}">
                <a16:creationId xmlns:a16="http://schemas.microsoft.com/office/drawing/2014/main" id="{97E130E5-5AAC-F507-C9EA-7A2034612619}"/>
              </a:ext>
            </a:extLst>
          </p:cNvPr>
          <p:cNvSpPr txBox="1"/>
          <p:nvPr/>
        </p:nvSpPr>
        <p:spPr>
          <a:xfrm>
            <a:off x="3035668" y="538480"/>
            <a:ext cx="306494" cy="369332"/>
          </a:xfrm>
          <a:prstGeom prst="rect">
            <a:avLst/>
          </a:prstGeom>
          <a:noFill/>
        </p:spPr>
        <p:txBody>
          <a:bodyPr wrap="none" rtlCol="0">
            <a:spAutoFit/>
          </a:bodyPr>
          <a:lstStyle/>
          <a:p>
            <a:r>
              <a:rPr lang="en-US" dirty="0"/>
              <a:t>b</a:t>
            </a:r>
          </a:p>
        </p:txBody>
      </p:sp>
      <p:sp>
        <p:nvSpPr>
          <p:cNvPr id="20" name="TextBox 19">
            <a:extLst>
              <a:ext uri="{FF2B5EF4-FFF2-40B4-BE49-F238E27FC236}">
                <a16:creationId xmlns:a16="http://schemas.microsoft.com/office/drawing/2014/main" id="{400C9DF0-50ED-9FB3-F810-6426E1522753}"/>
              </a:ext>
            </a:extLst>
          </p:cNvPr>
          <p:cNvSpPr txBox="1"/>
          <p:nvPr/>
        </p:nvSpPr>
        <p:spPr>
          <a:xfrm>
            <a:off x="230846" y="7845417"/>
            <a:ext cx="5972534" cy="600164"/>
          </a:xfrm>
          <a:prstGeom prst="rect">
            <a:avLst/>
          </a:prstGeom>
          <a:noFill/>
        </p:spPr>
        <p:txBody>
          <a:bodyPr wrap="square">
            <a:spAutoFit/>
          </a:bodyPr>
          <a:lstStyle/>
          <a:p>
            <a:r>
              <a:rPr lang="en-US" sz="1100" b="1" dirty="0"/>
              <a:t>a) </a:t>
            </a:r>
            <a:r>
              <a:rPr lang="en-US" sz="1100" dirty="0"/>
              <a:t>Fit alpha rho is not significantly different between environments [</a:t>
            </a:r>
            <a:r>
              <a:rPr lang="en-US" sz="1100" i="1" dirty="0"/>
              <a:t>t</a:t>
            </a:r>
            <a:r>
              <a:rPr lang="en-US" sz="1100" dirty="0"/>
              <a:t>(7) = -1.97, </a:t>
            </a:r>
            <a:r>
              <a:rPr lang="en-US" sz="1100" i="1" dirty="0"/>
              <a:t>p</a:t>
            </a:r>
            <a:r>
              <a:rPr lang="en-US" sz="1100" dirty="0"/>
              <a:t> = 0.09]. </a:t>
            </a:r>
          </a:p>
          <a:p>
            <a:r>
              <a:rPr lang="en-US" sz="1100" b="1" dirty="0"/>
              <a:t>b) </a:t>
            </a:r>
            <a:r>
              <a:rPr lang="en-US" sz="1100" dirty="0"/>
              <a:t>Participant leaving times are not significantly correlated with their fit alpha rho [Rich env: </a:t>
            </a:r>
            <a:r>
              <a:rPr lang="en-US" sz="1100" i="1" dirty="0"/>
              <a:t>r</a:t>
            </a:r>
            <a:r>
              <a:rPr lang="en-US" sz="1100" dirty="0"/>
              <a:t>(27) = -.32, </a:t>
            </a:r>
            <a:r>
              <a:rPr lang="en-US" sz="1100" i="1" dirty="0"/>
              <a:t>p</a:t>
            </a:r>
            <a:r>
              <a:rPr lang="en-US" sz="1100" dirty="0"/>
              <a:t> = 0.43; Poor env: </a:t>
            </a:r>
            <a:r>
              <a:rPr lang="en-US" sz="1100" i="1" dirty="0"/>
              <a:t>r</a:t>
            </a:r>
            <a:r>
              <a:rPr lang="en-US" sz="1100" dirty="0"/>
              <a:t>(27) = -.66, </a:t>
            </a:r>
            <a:r>
              <a:rPr lang="en-US" sz="1100" i="1" dirty="0"/>
              <a:t>p</a:t>
            </a:r>
            <a:r>
              <a:rPr lang="en-US" sz="1100" dirty="0"/>
              <a:t> = .07). </a:t>
            </a:r>
          </a:p>
        </p:txBody>
      </p:sp>
      <p:pic>
        <p:nvPicPr>
          <p:cNvPr id="21" name="Graphic 20">
            <a:extLst>
              <a:ext uri="{FF2B5EF4-FFF2-40B4-BE49-F238E27FC236}">
                <a16:creationId xmlns:a16="http://schemas.microsoft.com/office/drawing/2014/main" id="{4F506FCD-8418-6376-405C-DFE5F02EFA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9000" y="820991"/>
            <a:ext cx="1879600" cy="1879600"/>
          </a:xfrm>
          <a:prstGeom prst="rect">
            <a:avLst/>
          </a:prstGeom>
        </p:spPr>
      </p:pic>
      <p:pic>
        <p:nvPicPr>
          <p:cNvPr id="33" name="Graphic 32">
            <a:extLst>
              <a:ext uri="{FF2B5EF4-FFF2-40B4-BE49-F238E27FC236}">
                <a16:creationId xmlns:a16="http://schemas.microsoft.com/office/drawing/2014/main" id="{FA72A7C8-9E7A-6F50-5686-D91C74A22C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1821" y="820991"/>
            <a:ext cx="1879600" cy="1879600"/>
          </a:xfrm>
          <a:prstGeom prst="rect">
            <a:avLst/>
          </a:prstGeom>
        </p:spPr>
      </p:pic>
    </p:spTree>
    <p:extLst>
      <p:ext uri="{BB962C8B-B14F-4D97-AF65-F5344CB8AC3E}">
        <p14:creationId xmlns:p14="http://schemas.microsoft.com/office/powerpoint/2010/main" val="874740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3A5DF69-89C5-7535-955F-0E35315EC8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412" y="2995515"/>
            <a:ext cx="1879600" cy="1879600"/>
          </a:xfrm>
          <a:prstGeom prst="rect">
            <a:avLst/>
          </a:prstGeom>
        </p:spPr>
      </p:pic>
      <p:pic>
        <p:nvPicPr>
          <p:cNvPr id="20" name="Graphic 19">
            <a:extLst>
              <a:ext uri="{FF2B5EF4-FFF2-40B4-BE49-F238E27FC236}">
                <a16:creationId xmlns:a16="http://schemas.microsoft.com/office/drawing/2014/main" id="{F11B0254-6A54-3E5E-4355-6403F61271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37786" y="3071522"/>
            <a:ext cx="1879600" cy="1879600"/>
          </a:xfrm>
          <a:prstGeom prst="rect">
            <a:avLst/>
          </a:prstGeom>
        </p:spPr>
      </p:pic>
      <p:pic>
        <p:nvPicPr>
          <p:cNvPr id="22" name="Graphic 21">
            <a:extLst>
              <a:ext uri="{FF2B5EF4-FFF2-40B4-BE49-F238E27FC236}">
                <a16:creationId xmlns:a16="http://schemas.microsoft.com/office/drawing/2014/main" id="{E88141C3-3F33-97CF-EF42-D13BB9BBF7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97099" y="3058684"/>
            <a:ext cx="1879600" cy="1879600"/>
          </a:xfrm>
          <a:prstGeom prst="rect">
            <a:avLst/>
          </a:prstGeom>
        </p:spPr>
      </p:pic>
      <p:pic>
        <p:nvPicPr>
          <p:cNvPr id="24" name="Graphic 23">
            <a:extLst>
              <a:ext uri="{FF2B5EF4-FFF2-40B4-BE49-F238E27FC236}">
                <a16:creationId xmlns:a16="http://schemas.microsoft.com/office/drawing/2014/main" id="{1FE16C80-34CF-F4F6-C4C6-27351CB9EE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66538" y="5198957"/>
            <a:ext cx="1879600" cy="1879600"/>
          </a:xfrm>
          <a:prstGeom prst="rect">
            <a:avLst/>
          </a:prstGeom>
        </p:spPr>
      </p:pic>
      <p:pic>
        <p:nvPicPr>
          <p:cNvPr id="28" name="Graphic 27">
            <a:extLst>
              <a:ext uri="{FF2B5EF4-FFF2-40B4-BE49-F238E27FC236}">
                <a16:creationId xmlns:a16="http://schemas.microsoft.com/office/drawing/2014/main" id="{49CABC94-EF4F-01A3-91CA-8B9FC3651E9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5971" y="5168440"/>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1163776" y="67240"/>
            <a:ext cx="3859967" cy="369332"/>
          </a:xfrm>
          <a:prstGeom prst="rect">
            <a:avLst/>
          </a:prstGeom>
          <a:noFill/>
        </p:spPr>
        <p:txBody>
          <a:bodyPr wrap="none" rtlCol="0">
            <a:spAutoFit/>
          </a:bodyPr>
          <a:lstStyle/>
          <a:p>
            <a:r>
              <a:rPr lang="en-US" dirty="0"/>
              <a:t>Figure 5: Mechanism – </a:t>
            </a:r>
            <a:r>
              <a:rPr lang="en-US" dirty="0" err="1"/>
              <a:t>avgRR</a:t>
            </a:r>
            <a:r>
              <a:rPr lang="en-US" dirty="0"/>
              <a:t> functions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75659" y="657738"/>
            <a:ext cx="295274" cy="369332"/>
          </a:xfrm>
          <a:prstGeom prst="rect">
            <a:avLst/>
          </a:prstGeom>
          <a:noFill/>
        </p:spPr>
        <p:txBody>
          <a:bodyPr wrap="none" rtlCol="0">
            <a:spAutoFit/>
          </a:bodyPr>
          <a:lstStyle/>
          <a:p>
            <a:r>
              <a:rPr lang="en-US" dirty="0"/>
              <a:t>a</a:t>
            </a:r>
          </a:p>
        </p:txBody>
      </p:sp>
      <p:pic>
        <p:nvPicPr>
          <p:cNvPr id="10" name="Graphic 9">
            <a:extLst>
              <a:ext uri="{FF2B5EF4-FFF2-40B4-BE49-F238E27FC236}">
                <a16:creationId xmlns:a16="http://schemas.microsoft.com/office/drawing/2014/main" id="{D2E090BF-39D6-431C-ECF9-6E2E98BFCE0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933" y="1027070"/>
            <a:ext cx="3771900" cy="1879600"/>
          </a:xfrm>
          <a:prstGeom prst="rect">
            <a:avLst/>
          </a:prstGeom>
        </p:spPr>
      </p:pic>
      <p:sp>
        <p:nvSpPr>
          <p:cNvPr id="13" name="TextBox 12">
            <a:extLst>
              <a:ext uri="{FF2B5EF4-FFF2-40B4-BE49-F238E27FC236}">
                <a16:creationId xmlns:a16="http://schemas.microsoft.com/office/drawing/2014/main" id="{826A9F7B-AB98-DCF2-2570-E57BE7F74AB8}"/>
              </a:ext>
            </a:extLst>
          </p:cNvPr>
          <p:cNvSpPr txBox="1"/>
          <p:nvPr/>
        </p:nvSpPr>
        <p:spPr>
          <a:xfrm>
            <a:off x="658089" y="2722004"/>
            <a:ext cx="306494" cy="369332"/>
          </a:xfrm>
          <a:prstGeom prst="rect">
            <a:avLst/>
          </a:prstGeom>
          <a:noFill/>
        </p:spPr>
        <p:txBody>
          <a:bodyPr wrap="none" rtlCol="0">
            <a:spAutoFit/>
          </a:bodyPr>
          <a:lstStyle/>
          <a:p>
            <a:r>
              <a:rPr lang="en-US" dirty="0"/>
              <a:t>b</a:t>
            </a:r>
          </a:p>
        </p:txBody>
      </p:sp>
      <p:sp>
        <p:nvSpPr>
          <p:cNvPr id="14" name="TextBox 13">
            <a:extLst>
              <a:ext uri="{FF2B5EF4-FFF2-40B4-BE49-F238E27FC236}">
                <a16:creationId xmlns:a16="http://schemas.microsoft.com/office/drawing/2014/main" id="{7047C485-C94C-31B3-74F7-BC2C40FDA1A8}"/>
              </a:ext>
            </a:extLst>
          </p:cNvPr>
          <p:cNvSpPr txBox="1"/>
          <p:nvPr/>
        </p:nvSpPr>
        <p:spPr>
          <a:xfrm>
            <a:off x="2702958" y="2830663"/>
            <a:ext cx="282450" cy="369332"/>
          </a:xfrm>
          <a:prstGeom prst="rect">
            <a:avLst/>
          </a:prstGeom>
          <a:noFill/>
        </p:spPr>
        <p:txBody>
          <a:bodyPr wrap="none" rtlCol="0">
            <a:spAutoFit/>
          </a:bodyPr>
          <a:lstStyle/>
          <a:p>
            <a:r>
              <a:rPr lang="en-US" dirty="0"/>
              <a:t>c</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116128"/>
            <a:ext cx="6699250" cy="1107996"/>
          </a:xfrm>
          <a:prstGeom prst="rect">
            <a:avLst/>
          </a:prstGeom>
          <a:noFill/>
        </p:spPr>
        <p:txBody>
          <a:bodyPr wrap="square" rtlCol="0">
            <a:spAutoFit/>
          </a:bodyPr>
          <a:lstStyle/>
          <a:p>
            <a:pPr marL="228600" indent="-228600">
              <a:buAutoNum type="alphaLcParenR"/>
            </a:pPr>
            <a:r>
              <a:rPr lang="en-US" sz="1100" dirty="0"/>
              <a:t>BIC comparison of all models – simplest scalar model with one parameter wins, when using their real experienced average reward rate in each block. </a:t>
            </a:r>
          </a:p>
          <a:p>
            <a:pPr marL="228600" indent="-228600">
              <a:buAutoNum type="alphaLcParenR"/>
            </a:pPr>
            <a:r>
              <a:rPr lang="en-US" sz="1100" dirty="0"/>
              <a:t>Participant leave times vs </a:t>
            </a:r>
            <a:r>
              <a:rPr lang="en-US" sz="1100" b="1" dirty="0"/>
              <a:t>(c) </a:t>
            </a:r>
            <a:r>
              <a:rPr lang="en-US" sz="1100" dirty="0"/>
              <a:t>model simulated leaving times </a:t>
            </a:r>
          </a:p>
          <a:p>
            <a:r>
              <a:rPr lang="en-US" sz="1100" b="1" dirty="0"/>
              <a:t>d) </a:t>
            </a:r>
            <a:r>
              <a:rPr lang="en-US" sz="1100" dirty="0"/>
              <a:t>Correlation of participant lambda fits with participant mean leaving times </a:t>
            </a:r>
          </a:p>
          <a:p>
            <a:r>
              <a:rPr lang="en-US" sz="1100" b="1" dirty="0"/>
              <a:t>e) </a:t>
            </a:r>
            <a:r>
              <a:rPr lang="en-US" sz="1100" dirty="0"/>
              <a:t>SD analysis participants and (f) SD analysis simulated model aren’t statistically different across patch/env, as model predicts</a:t>
            </a:r>
          </a:p>
        </p:txBody>
      </p:sp>
      <p:sp>
        <p:nvSpPr>
          <p:cNvPr id="18" name="TextBox 17">
            <a:extLst>
              <a:ext uri="{FF2B5EF4-FFF2-40B4-BE49-F238E27FC236}">
                <a16:creationId xmlns:a16="http://schemas.microsoft.com/office/drawing/2014/main" id="{66AAAE6B-C5A2-2C3F-EC4A-70EC847B705D}"/>
              </a:ext>
            </a:extLst>
          </p:cNvPr>
          <p:cNvSpPr txBox="1"/>
          <p:nvPr/>
        </p:nvSpPr>
        <p:spPr>
          <a:xfrm>
            <a:off x="4608636" y="2798011"/>
            <a:ext cx="306494" cy="369332"/>
          </a:xfrm>
          <a:prstGeom prst="rect">
            <a:avLst/>
          </a:prstGeom>
          <a:noFill/>
        </p:spPr>
        <p:txBody>
          <a:bodyPr wrap="none" rtlCol="0">
            <a:spAutoFit/>
          </a:bodyPr>
          <a:lstStyle/>
          <a:p>
            <a:r>
              <a:rPr lang="en-US" dirty="0"/>
              <a:t>d</a:t>
            </a:r>
          </a:p>
        </p:txBody>
      </p:sp>
      <p:sp>
        <p:nvSpPr>
          <p:cNvPr id="29" name="TextBox 28">
            <a:extLst>
              <a:ext uri="{FF2B5EF4-FFF2-40B4-BE49-F238E27FC236}">
                <a16:creationId xmlns:a16="http://schemas.microsoft.com/office/drawing/2014/main" id="{84F42AB4-4F31-0D9C-69C7-04A9D16CF2C1}"/>
              </a:ext>
            </a:extLst>
          </p:cNvPr>
          <p:cNvSpPr txBox="1"/>
          <p:nvPr/>
        </p:nvSpPr>
        <p:spPr>
          <a:xfrm>
            <a:off x="614963" y="4926395"/>
            <a:ext cx="300082" cy="369332"/>
          </a:xfrm>
          <a:prstGeom prst="rect">
            <a:avLst/>
          </a:prstGeom>
          <a:noFill/>
        </p:spPr>
        <p:txBody>
          <a:bodyPr wrap="none" rtlCol="0">
            <a:spAutoFit/>
          </a:bodyPr>
          <a:lstStyle/>
          <a:p>
            <a:r>
              <a:rPr lang="en-US" dirty="0"/>
              <a:t>e</a:t>
            </a:r>
          </a:p>
        </p:txBody>
      </p:sp>
      <p:sp>
        <p:nvSpPr>
          <p:cNvPr id="30" name="TextBox 29">
            <a:extLst>
              <a:ext uri="{FF2B5EF4-FFF2-40B4-BE49-F238E27FC236}">
                <a16:creationId xmlns:a16="http://schemas.microsoft.com/office/drawing/2014/main" id="{FDB2A53E-2048-8B65-2469-4D23B7A4FA73}"/>
              </a:ext>
            </a:extLst>
          </p:cNvPr>
          <p:cNvSpPr txBox="1"/>
          <p:nvPr/>
        </p:nvSpPr>
        <p:spPr>
          <a:xfrm>
            <a:off x="2736012" y="5001453"/>
            <a:ext cx="255198" cy="369332"/>
          </a:xfrm>
          <a:prstGeom prst="rect">
            <a:avLst/>
          </a:prstGeom>
          <a:noFill/>
        </p:spPr>
        <p:txBody>
          <a:bodyPr wrap="none" rtlCol="0">
            <a:spAutoFit/>
          </a:bodyPr>
          <a:lstStyle/>
          <a:p>
            <a:r>
              <a:rPr lang="en-US" dirty="0"/>
              <a:t>f</a:t>
            </a:r>
          </a:p>
        </p:txBody>
      </p:sp>
      <p:sp>
        <p:nvSpPr>
          <p:cNvPr id="31" name="TextBox 30">
            <a:extLst>
              <a:ext uri="{FF2B5EF4-FFF2-40B4-BE49-F238E27FC236}">
                <a16:creationId xmlns:a16="http://schemas.microsoft.com/office/drawing/2014/main" id="{705723F3-505B-081D-F808-A1B66CAB34AF}"/>
              </a:ext>
            </a:extLst>
          </p:cNvPr>
          <p:cNvSpPr txBox="1"/>
          <p:nvPr/>
        </p:nvSpPr>
        <p:spPr>
          <a:xfrm>
            <a:off x="1667640" y="5573871"/>
            <a:ext cx="396262" cy="369332"/>
          </a:xfrm>
          <a:prstGeom prst="rect">
            <a:avLst/>
          </a:prstGeom>
          <a:noFill/>
        </p:spPr>
        <p:txBody>
          <a:bodyPr wrap="none" rtlCol="0">
            <a:spAutoFit/>
          </a:bodyPr>
          <a:lstStyle/>
          <a:p>
            <a:r>
              <a:rPr lang="en-US" dirty="0"/>
              <a:t>ns</a:t>
            </a:r>
          </a:p>
        </p:txBody>
      </p:sp>
      <p:sp>
        <p:nvSpPr>
          <p:cNvPr id="32" name="TextBox 31">
            <a:extLst>
              <a:ext uri="{FF2B5EF4-FFF2-40B4-BE49-F238E27FC236}">
                <a16:creationId xmlns:a16="http://schemas.microsoft.com/office/drawing/2014/main" id="{946ED835-11B4-3423-2C23-997613064778}"/>
              </a:ext>
            </a:extLst>
          </p:cNvPr>
          <p:cNvSpPr txBox="1"/>
          <p:nvPr/>
        </p:nvSpPr>
        <p:spPr>
          <a:xfrm>
            <a:off x="3736899" y="5357739"/>
            <a:ext cx="396262" cy="369332"/>
          </a:xfrm>
          <a:prstGeom prst="rect">
            <a:avLst/>
          </a:prstGeom>
          <a:noFill/>
        </p:spPr>
        <p:txBody>
          <a:bodyPr wrap="none" rtlCol="0">
            <a:spAutoFit/>
          </a:bodyPr>
          <a:lstStyle/>
          <a:p>
            <a:r>
              <a:rPr lang="en-US" dirty="0"/>
              <a:t>ns</a:t>
            </a:r>
          </a:p>
        </p:txBody>
      </p:sp>
    </p:spTree>
    <p:extLst>
      <p:ext uri="{BB962C8B-B14F-4D97-AF65-F5344CB8AC3E}">
        <p14:creationId xmlns:p14="http://schemas.microsoft.com/office/powerpoint/2010/main" val="4040899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790669AD-18F8-09A4-DD66-6FFFCAFE6BE7}"/>
              </a:ext>
            </a:extLst>
          </p:cNvPr>
          <p:cNvSpPr txBox="1"/>
          <p:nvPr/>
        </p:nvSpPr>
        <p:spPr>
          <a:xfrm>
            <a:off x="448159" y="103740"/>
            <a:ext cx="5342168" cy="369332"/>
          </a:xfrm>
          <a:prstGeom prst="rect">
            <a:avLst/>
          </a:prstGeom>
          <a:noFill/>
        </p:spPr>
        <p:txBody>
          <a:bodyPr wrap="none" rtlCol="0">
            <a:spAutoFit/>
          </a:bodyPr>
          <a:lstStyle/>
          <a:p>
            <a:r>
              <a:rPr lang="en-US" b="1" dirty="0"/>
              <a:t>Supplementary </a:t>
            </a:r>
            <a:r>
              <a:rPr lang="en-US" dirty="0"/>
              <a:t>Figure 5: Mechanism – </a:t>
            </a:r>
            <a:r>
              <a:rPr lang="en-US" dirty="0" err="1"/>
              <a:t>avgRR</a:t>
            </a:r>
            <a:r>
              <a:rPr lang="en-US" dirty="0"/>
              <a:t> functions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75659" y="657738"/>
            <a:ext cx="295274" cy="369332"/>
          </a:xfrm>
          <a:prstGeom prst="rect">
            <a:avLst/>
          </a:prstGeom>
          <a:noFill/>
        </p:spPr>
        <p:txBody>
          <a:bodyPr wrap="none" rtlCol="0">
            <a:spAutoFit/>
          </a:bodyPr>
          <a:lstStyle/>
          <a:p>
            <a:r>
              <a:rPr lang="en-US" dirty="0"/>
              <a:t>a</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820835"/>
            <a:ext cx="6699250" cy="1277273"/>
          </a:xfrm>
          <a:prstGeom prst="rect">
            <a:avLst/>
          </a:prstGeom>
          <a:noFill/>
        </p:spPr>
        <p:txBody>
          <a:bodyPr wrap="square" rtlCol="0">
            <a:spAutoFit/>
          </a:bodyPr>
          <a:lstStyle/>
          <a:p>
            <a:pPr marL="228600" indent="-228600">
              <a:buAutoNum type="alphaLcParenR"/>
            </a:pPr>
            <a:r>
              <a:rPr lang="en-US" sz="1100" dirty="0"/>
              <a:t>BIC comparison of all models for Contreras-Huerta dataset – same simple model wins.</a:t>
            </a:r>
          </a:p>
          <a:p>
            <a:pPr marL="228600" indent="-228600">
              <a:buFontTx/>
              <a:buAutoNum type="alphaLcParenR"/>
            </a:pPr>
            <a:r>
              <a:rPr lang="en-US" sz="1100" dirty="0"/>
              <a:t>BIC comparison of all models for Kane dataset – same simple model wins. </a:t>
            </a:r>
          </a:p>
          <a:p>
            <a:pPr marL="228600" indent="-228600">
              <a:buAutoNum type="alphaLcParenR"/>
            </a:pPr>
            <a:r>
              <a:rPr lang="en-US" sz="1100" dirty="0"/>
              <a:t>Beta function model simulated leaving times and (d) standard deviations looks like participant data for Contreras-Huerta dataset</a:t>
            </a:r>
          </a:p>
          <a:p>
            <a:r>
              <a:rPr lang="en-US" sz="1100" dirty="0"/>
              <a:t>e) Beta function model simulated leaving times looks like participant data for Kane dataset, but standard deviation doesn’t replicate (as we saw with the </a:t>
            </a:r>
            <a:r>
              <a:rPr lang="en-US" sz="1100" dirty="0" err="1"/>
              <a:t>softmax</a:t>
            </a:r>
            <a:r>
              <a:rPr lang="en-US" sz="1100" dirty="0"/>
              <a:t> model in Fig 4 anyway) </a:t>
            </a:r>
          </a:p>
          <a:p>
            <a:pPr marL="228600" indent="-228600">
              <a:buAutoNum type="alphaLcParenR"/>
            </a:pPr>
            <a:endParaRPr lang="en-US" sz="1100" dirty="0"/>
          </a:p>
        </p:txBody>
      </p:sp>
      <p:pic>
        <p:nvPicPr>
          <p:cNvPr id="3" name="Graphic 2">
            <a:extLst>
              <a:ext uri="{FF2B5EF4-FFF2-40B4-BE49-F238E27FC236}">
                <a16:creationId xmlns:a16="http://schemas.microsoft.com/office/drawing/2014/main" id="{ACF357FC-317F-2578-F206-FDAB203712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933" y="1027070"/>
            <a:ext cx="3771900" cy="1879600"/>
          </a:xfrm>
          <a:prstGeom prst="rect">
            <a:avLst/>
          </a:prstGeom>
        </p:spPr>
      </p:pic>
      <p:sp>
        <p:nvSpPr>
          <p:cNvPr id="4" name="TextBox 3">
            <a:extLst>
              <a:ext uri="{FF2B5EF4-FFF2-40B4-BE49-F238E27FC236}">
                <a16:creationId xmlns:a16="http://schemas.microsoft.com/office/drawing/2014/main" id="{271B56A4-6A3D-3F82-DDEB-FAE4484DA50B}"/>
              </a:ext>
            </a:extLst>
          </p:cNvPr>
          <p:cNvSpPr txBox="1"/>
          <p:nvPr/>
        </p:nvSpPr>
        <p:spPr>
          <a:xfrm>
            <a:off x="522412" y="2981740"/>
            <a:ext cx="306494" cy="369332"/>
          </a:xfrm>
          <a:prstGeom prst="rect">
            <a:avLst/>
          </a:prstGeom>
          <a:noFill/>
        </p:spPr>
        <p:txBody>
          <a:bodyPr wrap="none" rtlCol="0">
            <a:spAutoFit/>
          </a:bodyPr>
          <a:lstStyle/>
          <a:p>
            <a:r>
              <a:rPr lang="en-US" dirty="0"/>
              <a:t>b</a:t>
            </a:r>
          </a:p>
        </p:txBody>
      </p:sp>
      <p:pic>
        <p:nvPicPr>
          <p:cNvPr id="6" name="Graphic 5">
            <a:extLst>
              <a:ext uri="{FF2B5EF4-FFF2-40B4-BE49-F238E27FC236}">
                <a16:creationId xmlns:a16="http://schemas.microsoft.com/office/drawing/2014/main" id="{FDC332B5-486C-54F8-8F1D-4CCCEE4B1D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5972" y="3276002"/>
            <a:ext cx="3771900" cy="1879600"/>
          </a:xfrm>
          <a:prstGeom prst="rect">
            <a:avLst/>
          </a:prstGeom>
        </p:spPr>
      </p:pic>
      <p:pic>
        <p:nvPicPr>
          <p:cNvPr id="27" name="Graphic 26">
            <a:extLst>
              <a:ext uri="{FF2B5EF4-FFF2-40B4-BE49-F238E27FC236}">
                <a16:creationId xmlns:a16="http://schemas.microsoft.com/office/drawing/2014/main" id="{86EB060F-89B8-245E-A4AE-786CAC1952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7180" y="6941235"/>
            <a:ext cx="1879600" cy="1879600"/>
          </a:xfrm>
          <a:prstGeom prst="rect">
            <a:avLst/>
          </a:prstGeom>
        </p:spPr>
      </p:pic>
      <p:pic>
        <p:nvPicPr>
          <p:cNvPr id="34" name="Graphic 33">
            <a:extLst>
              <a:ext uri="{FF2B5EF4-FFF2-40B4-BE49-F238E27FC236}">
                <a16:creationId xmlns:a16="http://schemas.microsoft.com/office/drawing/2014/main" id="{600BCD02-C71E-B02A-B5A7-2F16B25C47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7283" y="6941235"/>
            <a:ext cx="1879600" cy="1879600"/>
          </a:xfrm>
          <a:prstGeom prst="rect">
            <a:avLst/>
          </a:prstGeom>
        </p:spPr>
      </p:pic>
      <p:pic>
        <p:nvPicPr>
          <p:cNvPr id="36" name="Graphic 35">
            <a:extLst>
              <a:ext uri="{FF2B5EF4-FFF2-40B4-BE49-F238E27FC236}">
                <a16:creationId xmlns:a16="http://schemas.microsoft.com/office/drawing/2014/main" id="{F17BAC60-F2EB-DDFB-93A1-3CD64006058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50830" y="5058817"/>
            <a:ext cx="1879600" cy="1879600"/>
          </a:xfrm>
          <a:prstGeom prst="rect">
            <a:avLst/>
          </a:prstGeom>
        </p:spPr>
      </p:pic>
      <p:pic>
        <p:nvPicPr>
          <p:cNvPr id="38" name="Graphic 37">
            <a:extLst>
              <a:ext uri="{FF2B5EF4-FFF2-40B4-BE49-F238E27FC236}">
                <a16:creationId xmlns:a16="http://schemas.microsoft.com/office/drawing/2014/main" id="{06498D07-0965-0350-B0ED-D01B7451F72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933" y="5026968"/>
            <a:ext cx="1879600" cy="1879600"/>
          </a:xfrm>
          <a:prstGeom prst="rect">
            <a:avLst/>
          </a:prstGeom>
        </p:spPr>
      </p:pic>
      <p:sp>
        <p:nvSpPr>
          <p:cNvPr id="39" name="TextBox 38">
            <a:extLst>
              <a:ext uri="{FF2B5EF4-FFF2-40B4-BE49-F238E27FC236}">
                <a16:creationId xmlns:a16="http://schemas.microsoft.com/office/drawing/2014/main" id="{FE67F76E-14F5-F5B3-6E6A-2F8130591958}"/>
              </a:ext>
            </a:extLst>
          </p:cNvPr>
          <p:cNvSpPr txBox="1"/>
          <p:nvPr/>
        </p:nvSpPr>
        <p:spPr>
          <a:xfrm>
            <a:off x="529411" y="5155602"/>
            <a:ext cx="282450" cy="369332"/>
          </a:xfrm>
          <a:prstGeom prst="rect">
            <a:avLst/>
          </a:prstGeom>
          <a:noFill/>
        </p:spPr>
        <p:txBody>
          <a:bodyPr wrap="none" rtlCol="0">
            <a:spAutoFit/>
          </a:bodyPr>
          <a:lstStyle/>
          <a:p>
            <a:r>
              <a:rPr lang="en-US" dirty="0"/>
              <a:t>c</a:t>
            </a:r>
          </a:p>
        </p:txBody>
      </p:sp>
      <p:sp>
        <p:nvSpPr>
          <p:cNvPr id="40" name="TextBox 39">
            <a:extLst>
              <a:ext uri="{FF2B5EF4-FFF2-40B4-BE49-F238E27FC236}">
                <a16:creationId xmlns:a16="http://schemas.microsoft.com/office/drawing/2014/main" id="{62DB1383-5E71-38DD-CEDB-8F6A2BF18F4C}"/>
              </a:ext>
            </a:extLst>
          </p:cNvPr>
          <p:cNvSpPr txBox="1"/>
          <p:nvPr/>
        </p:nvSpPr>
        <p:spPr>
          <a:xfrm>
            <a:off x="2812022" y="5206881"/>
            <a:ext cx="306494" cy="369332"/>
          </a:xfrm>
          <a:prstGeom prst="rect">
            <a:avLst/>
          </a:prstGeom>
          <a:noFill/>
        </p:spPr>
        <p:txBody>
          <a:bodyPr wrap="none" rtlCol="0">
            <a:spAutoFit/>
          </a:bodyPr>
          <a:lstStyle/>
          <a:p>
            <a:r>
              <a:rPr lang="en-US" dirty="0"/>
              <a:t>d</a:t>
            </a:r>
          </a:p>
        </p:txBody>
      </p:sp>
      <p:sp>
        <p:nvSpPr>
          <p:cNvPr id="41" name="TextBox 40">
            <a:extLst>
              <a:ext uri="{FF2B5EF4-FFF2-40B4-BE49-F238E27FC236}">
                <a16:creationId xmlns:a16="http://schemas.microsoft.com/office/drawing/2014/main" id="{4CD7BEAC-3D27-69B6-2F7B-3EB2403DBF73}"/>
              </a:ext>
            </a:extLst>
          </p:cNvPr>
          <p:cNvSpPr txBox="1"/>
          <p:nvPr/>
        </p:nvSpPr>
        <p:spPr>
          <a:xfrm>
            <a:off x="638831" y="6959985"/>
            <a:ext cx="300082" cy="369332"/>
          </a:xfrm>
          <a:prstGeom prst="rect">
            <a:avLst/>
          </a:prstGeom>
          <a:noFill/>
        </p:spPr>
        <p:txBody>
          <a:bodyPr wrap="none" rtlCol="0">
            <a:spAutoFit/>
          </a:bodyPr>
          <a:lstStyle/>
          <a:p>
            <a:r>
              <a:rPr lang="en-US" dirty="0"/>
              <a:t>e</a:t>
            </a:r>
          </a:p>
        </p:txBody>
      </p:sp>
      <p:sp>
        <p:nvSpPr>
          <p:cNvPr id="42" name="TextBox 41">
            <a:extLst>
              <a:ext uri="{FF2B5EF4-FFF2-40B4-BE49-F238E27FC236}">
                <a16:creationId xmlns:a16="http://schemas.microsoft.com/office/drawing/2014/main" id="{E5DF10BB-CA89-EED3-B617-9B9900365DA6}"/>
              </a:ext>
            </a:extLst>
          </p:cNvPr>
          <p:cNvSpPr txBox="1"/>
          <p:nvPr/>
        </p:nvSpPr>
        <p:spPr>
          <a:xfrm>
            <a:off x="2847708" y="6883065"/>
            <a:ext cx="255198" cy="369332"/>
          </a:xfrm>
          <a:prstGeom prst="rect">
            <a:avLst/>
          </a:prstGeom>
          <a:noFill/>
        </p:spPr>
        <p:txBody>
          <a:bodyPr wrap="none" rtlCol="0">
            <a:spAutoFit/>
          </a:bodyPr>
          <a:lstStyle/>
          <a:p>
            <a:r>
              <a:rPr lang="en-US"/>
              <a:t>f</a:t>
            </a:r>
          </a:p>
        </p:txBody>
      </p:sp>
    </p:spTree>
    <p:extLst>
      <p:ext uri="{BB962C8B-B14F-4D97-AF65-F5344CB8AC3E}">
        <p14:creationId xmlns:p14="http://schemas.microsoft.com/office/powerpoint/2010/main" val="24008191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16338</TotalTime>
  <Words>1482</Words>
  <Application>Microsoft Macintosh PowerPoint</Application>
  <PresentationFormat>A4 Paper (210x297 mm)</PresentationFormat>
  <Paragraphs>215</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Figures for stochastic MVT paper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for stochastic MVT paper</dc:title>
  <dc:creator>Emma Scholey (PhD Psychology Lab FT)</dc:creator>
  <cp:lastModifiedBy>Emma Scholey (PhD Psychology Lab FT)</cp:lastModifiedBy>
  <cp:revision>82</cp:revision>
  <dcterms:created xsi:type="dcterms:W3CDTF">2023-07-17T08:29:56Z</dcterms:created>
  <dcterms:modified xsi:type="dcterms:W3CDTF">2023-08-15T16:19:24Z</dcterms:modified>
</cp:coreProperties>
</file>