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6.xml" ContentType="application/vnd.openxmlformats-officedocument.presentationml.comments+xml"/>
  <Override PartName="/ppt/notesSlides/notesSlide8.xml" ContentType="application/vnd.openxmlformats-officedocument.presentationml.notesSlide+xml"/>
  <Override PartName="/ppt/comments/comment7.xml" ContentType="application/vnd.openxmlformats-officedocument.presentationml.comment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3"/>
  </p:notesMasterIdLst>
  <p:sldIdLst>
    <p:sldId id="256" r:id="rId2"/>
    <p:sldId id="281" r:id="rId3"/>
    <p:sldId id="292" r:id="rId4"/>
    <p:sldId id="288" r:id="rId5"/>
    <p:sldId id="282" r:id="rId6"/>
    <p:sldId id="286" r:id="rId7"/>
    <p:sldId id="287" r:id="rId8"/>
    <p:sldId id="293" r:id="rId9"/>
    <p:sldId id="285" r:id="rId10"/>
    <p:sldId id="289" r:id="rId11"/>
    <p:sldId id="294" r:id="rId1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9084A4-9AB7-154A-B85F-872B15CFB7AD}">
          <p14:sldIdLst>
            <p14:sldId id="256"/>
            <p14:sldId id="281"/>
            <p14:sldId id="292"/>
            <p14:sldId id="288"/>
            <p14:sldId id="282"/>
            <p14:sldId id="286"/>
            <p14:sldId id="287"/>
            <p14:sldId id="293"/>
            <p14:sldId id="285"/>
            <p14:sldId id="289"/>
            <p14:sldId id="29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Humphries (staff)" initials="MH(" lastIdx="14" clrIdx="0">
    <p:extLst>
      <p:ext uri="{19B8F6BF-5375-455C-9EA6-DF929625EA0E}">
        <p15:presenceInfo xmlns:p15="http://schemas.microsoft.com/office/powerpoint/2012/main" userId="S::mark.humphries@nottingham.ac.uk::ab10e92a-91dd-4d72-9eaf-3a3018324676" providerId="AD"/>
      </p:ext>
    </p:extLst>
  </p:cmAuthor>
  <p:cmAuthor id="2" name="Emma Scholey (PhD Psychology Lab FT)" initials="ES(PLF" lastIdx="86" clrIdx="1">
    <p:extLst>
      <p:ext uri="{19B8F6BF-5375-455C-9EA6-DF929625EA0E}">
        <p15:presenceInfo xmlns:p15="http://schemas.microsoft.com/office/powerpoint/2012/main" userId="S::exs165@student.bham.ac.uk::b8267b62-ea09-491f-89e3-b1308758bc50" providerId="AD"/>
      </p:ext>
    </p:extLst>
  </p:cmAuthor>
  <p:cmAuthor id="3" name="Mark Humphries (staff)" initials="MH( [2]" lastIdx="22" clrIdx="2">
    <p:extLst>
      <p:ext uri="{19B8F6BF-5375-455C-9EA6-DF929625EA0E}">
        <p15:presenceInfo xmlns:p15="http://schemas.microsoft.com/office/powerpoint/2012/main" userId="S-1-5-21-1664130791-3153540899-3044996548-5896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70D53"/>
    <a:srgbClr val="FFE8D0"/>
    <a:srgbClr val="FFE7CF"/>
    <a:srgbClr val="FDAE6B"/>
    <a:srgbClr val="E6550E"/>
    <a:srgbClr val="F002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70"/>
    <p:restoredTop sz="94987"/>
  </p:normalViewPr>
  <p:slideViewPr>
    <p:cSldViewPr snapToGrid="0">
      <p:cViewPr>
        <p:scale>
          <a:sx n="130" d="100"/>
          <a:sy n="130" d="100"/>
        </p:scale>
        <p:origin x="952" y="144"/>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3-08-30T12:29:31.609" idx="18">
    <p:pos x="3800" y="1660"/>
    <p:text>Panel d: do we need this? Is it important that the model approximate MVT? (though does nicely make the point about overharvesting in panel f, and patch effect compared to panel i)</p:text>
    <p:extLst>
      <p:ext uri="{C676402C-5697-4E1C-873F-D02D1690AC5C}">
        <p15:threadingInfo xmlns:p15="http://schemas.microsoft.com/office/powerpoint/2012/main" timeZoneBias="-60"/>
      </p:ext>
    </p:extLst>
  </p:cm>
  <p:cm authorId="2" dt="2023-09-07T16:39:52.798" idx="73">
    <p:pos x="10" y="10"/>
    <p:text>Changes since v1:
a: redrafted patch foraging task schematic
new b: added model schematic c: changed appearance of avgRR lines to differ to model simulation lines in figs d, f, e e: added patch/environment effect graphics (need to figure out size) g: added over harvesting graphics (are these needed?) h: y axis for SD not so squashed i: correct e-greedy graph! (fixed: max_timestep in patch in my script was set to 100, whereas your original code was set to 1000. This meant at small values of epsilon, cumulative probability of staying until timestep was lower than it should be) </p:text>
    <p:extLst>
      <p:ext uri="{C676402C-5697-4E1C-873F-D02D1690AC5C}">
        <p15:threadingInfo xmlns:p15="http://schemas.microsoft.com/office/powerpoint/2012/main" timeZoneBias="-60"/>
      </p:ext>
    </p:extLst>
  </p:cm>
  <p:cm authorId="2" dt="2023-09-07T16:55:36.980" idx="86">
    <p:pos x="282" y="282"/>
    <p:text>To do for all figures (+ feedback from Brum DC):  - legends on panels
- make lightest line darker (problems with contrasts when presenting on some screens)
- call SD axis variability (and have sub axis title SD of leaving time) 
- explanation of where beta selection comes from
- add arrows to plots e.g. (more/less variable, earlier/later leaving)</p:text>
    <p:extLst>
      <p:ext uri="{C676402C-5697-4E1C-873F-D02D1690AC5C}">
        <p15:threadingInfo xmlns:p15="http://schemas.microsoft.com/office/powerpoint/2012/main" timeZoneBias="-60"/>
      </p:ext>
    </p:extLst>
  </p:cm>
  <p:cm authorId="1" dt="2023-09-13T19:35:54.352" idx="11">
    <p:pos x="1458" y="5201"/>
    <p:text>The model doesn't have a state space?</p:text>
    <p:extLst>
      <p:ext uri="{C676402C-5697-4E1C-873F-D02D1690AC5C}">
        <p15:threadingInfo xmlns:p15="http://schemas.microsoft.com/office/powerpoint/2012/main" timeZoneBias="-60"/>
      </p:ext>
    </p:extLst>
  </p:cm>
  <p:cm authorId="1" dt="2023-09-13T19:38:56.534" idx="13">
    <p:pos x="1458" y="5337"/>
    <p:text>We don't need to claim "over harvesting" here: this is just a plot of the behaviour of the SD predicted by the model. (Probably don't need the vertical lines). Points being made here are that (a) we can also predict the SD of behaviour directly from the model; (b) that prediction for the exponential decay in panel c is unintuitive - SD plateaus *and* converges for each patch type (note they could do either separately, in principle). Question is: does real foraging data look like this?</p:text>
    <p:extLst>
      <p:ext uri="{C676402C-5697-4E1C-873F-D02D1690AC5C}">
        <p15:threadingInfo xmlns:p15="http://schemas.microsoft.com/office/powerpoint/2012/main" timeZoneBias="-60">
          <p15:parentCm authorId="1" idx="11"/>
        </p15:threadingInfo>
      </p:ext>
    </p:extLst>
  </p:cm>
  <p:cm authorId="1" dt="2023-09-13T19:37:31.746" idx="12">
    <p:pos x="2093" y="5878"/>
    <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08-07T18:09:20.175" idx="62">
    <p:pos x="282" y="282"/>
    <p:text>Supplementary: 
Timestep/continuous time analysis? </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08-08T16:23:41.958" idx="23">
    <p:pos x="984" y="259"/>
    <p:text>These are very similar to Fig 1 plots, since I'm using the Le Heron RR function in fig 1. But I still think I should repeat the model predictions for this specific task here, since each task will have different predictions</p:text>
    <p:extLst>
      <p:ext uri="{C676402C-5697-4E1C-873F-D02D1690AC5C}">
        <p15:threadingInfo xmlns:p15="http://schemas.microsoft.com/office/powerpoint/2012/main" timeZoneBias="-60"/>
      </p:ext>
    </p:extLst>
  </p:cm>
  <p:cm authorId="3" dt="2023-08-30T12:05:43.604" idx="6">
    <p:pos x="984" y="395"/>
    <p:text>Yes, agree is good to have a-c here for consistency across figures. Perhaps we use other values for Figure 1.</p:text>
    <p:extLst>
      <p:ext uri="{C676402C-5697-4E1C-873F-D02D1690AC5C}">
        <p15:threadingInfo xmlns:p15="http://schemas.microsoft.com/office/powerpoint/2012/main" timeZoneBias="-60">
          <p15:parentCm authorId="2" idx="23"/>
        </p15:threadingInfo>
      </p:ext>
    </p:extLst>
  </p:cm>
  <p:cm authorId="2" dt="2023-08-08T16:24:44.694" idx="24">
    <p:pos x="2934" y="86"/>
    <p:text>Panel a has MVT beta's overlaid, whereas panel b and c have expected group participant beta's from leaving times overlaid. This is confusing, but want to show clear SD prediction at the plateau in fig c. Ideas?</p:text>
    <p:extLst>
      <p:ext uri="{C676402C-5697-4E1C-873F-D02D1690AC5C}">
        <p15:threadingInfo xmlns:p15="http://schemas.microsoft.com/office/powerpoint/2012/main" timeZoneBias="-60"/>
      </p:ext>
    </p:extLst>
  </p:cm>
  <p:cm authorId="3" dt="2023-08-30T12:07:32.719" idx="7">
    <p:pos x="2934" y="222"/>
    <p:text>This may become clearer as we attempt to write the results. For now, no problem to put the best-fit beta values on the b-c panels, and refer back to them *after* talking about fitting the model.</p:text>
    <p:extLst>
      <p:ext uri="{C676402C-5697-4E1C-873F-D02D1690AC5C}">
        <p15:threadingInfo xmlns:p15="http://schemas.microsoft.com/office/powerpoint/2012/main" timeZoneBias="-60">
          <p15:parentCm authorId="2" idx="24"/>
        </p15:threadingInfo>
      </p:ext>
    </p:extLst>
  </p:cm>
  <p:cm authorId="3" dt="2023-08-30T12:07:50.490" idx="8">
    <p:pos x="1070" y="1570"/>
    <p:text>We may also want to: 
(a) plot as P(model), but can do that later...
(b) put this after main results here, or in SI, depending on how narrative unfolds (e.g. are we focusing on the effect of stochastic choice first, or on which stochastic choice model?</p:text>
    <p:extLst>
      <p:ext uri="{C676402C-5697-4E1C-873F-D02D1690AC5C}">
        <p15:threadingInfo xmlns:p15="http://schemas.microsoft.com/office/powerpoint/2012/main" timeZoneBias="-60"/>
      </p:ext>
    </p:extLst>
  </p:cm>
  <p:cm authorId="3" dt="2023-08-30T12:32:16.612" idx="19">
    <p:pos x="2794" y="1666"/>
    <p:text>As noted in Oxford meeting, my assumption was that we'd present the model first, then the data; but actually let's leave this as is and see what works most comfortably in the Results text</p:text>
    <p:extLst>
      <p:ext uri="{C676402C-5697-4E1C-873F-D02D1690AC5C}">
        <p15:threadingInfo xmlns:p15="http://schemas.microsoft.com/office/powerpoint/2012/main" timeZoneBias="-60"/>
      </p:ext>
    </p:extLst>
  </p:cm>
  <p:cm authorId="2" dt="2023-09-07T16:43:14.423" idx="75">
    <p:pos x="10" y="10"/>
    <p:text>Changes since v1:
a: changed appearance of avgRR lines to differ to model simulation lines c: y axis for SD not so squashed d: only showing BIC for choice rules, and added BIC for softmax fixed model (one beta value across environments) e-f: plotting MVT lines to show overharvesting (think it makes sense being on the same panel rather than separate) </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09-07T16:44:57.842" idx="76">
    <p:pos x="10" y="10"/>
    <p:text>Changes since v1:
a: changed appearance of avgRR lines to differ to model simulation lines c: y axis for SD not so squashed d: only showing BIC for choice rules  e-j: all simulation plots/beta analysis plots are based on the softmax model, not the previously winning softmax+RW model</p:text>
    <p:extLst>
      <p:ext uri="{C676402C-5697-4E1C-873F-D02D1690AC5C}">
        <p15:threadingInfo xmlns:p15="http://schemas.microsoft.com/office/powerpoint/2012/main" timeZoneBias="-60"/>
      </p:ext>
    </p:extLst>
  </p:cm>
  <p:cm authorId="2" dt="2023-09-07T16:47:02.843" idx="78">
    <p:pos x="2648" y="1546"/>
    <p:text>Also show MVT predictions and overharvesting for this task on e-f? </p:text>
    <p:extLst>
      <p:ext uri="{C676402C-5697-4E1C-873F-D02D1690AC5C}">
        <p15:threadingInfo xmlns:p15="http://schemas.microsoft.com/office/powerpoint/2012/main" timeZoneBias="-60"/>
      </p:ext>
    </p:extLst>
  </p:cm>
  <p:cm authorId="2" dt="2023-09-07T16:54:48.730" idx="85">
    <p:pos x="146" y="146"/>
    <p:text>To do: fit to Sebs first dataset too</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3-08-21T12:27:18.854" idx="65">
    <p:pos x="1122" y="644"/>
    <p:text>Need to confirm with authors these MVT optimal reward rates</p:text>
    <p:extLst>
      <p:ext uri="{C676402C-5697-4E1C-873F-D02D1690AC5C}">
        <p15:threadingInfo xmlns:p15="http://schemas.microsoft.com/office/powerpoint/2012/main" timeZoneBias="-60"/>
      </p:ext>
    </p:extLst>
  </p:cm>
  <p:cm authorId="2" dt="2023-09-07T16:45:55.643" idx="77">
    <p:pos x="10" y="10"/>
    <p:text>Changes since v1:
a: changed appearance of avgRR lines to differ to model simulation lines c: y axis for SD not so squashed (could unsquish more)  d: only showing BIC for choice rules  e-j: all simulation plots/beta analysis plots are based on the softmax model, not the previously winning softmax+RW model</p:text>
    <p:extLst>
      <p:ext uri="{C676402C-5697-4E1C-873F-D02D1690AC5C}">
        <p15:threadingInfo xmlns:p15="http://schemas.microsoft.com/office/powerpoint/2012/main" timeZoneBias="-60"/>
      </p:ext>
    </p:extLst>
  </p:cm>
  <p:cm authorId="2" dt="2023-09-07T16:47:33.109" idx="79">
    <p:pos x="2537" y="1496"/>
    <p:text>Also show MVT predictions and overharvesting for this task on e-f? </p:text>
    <p:extLst>
      <p:ext uri="{C676402C-5697-4E1C-873F-D02D1690AC5C}">
        <p15:threadingInfo xmlns:p15="http://schemas.microsoft.com/office/powerpoint/2012/main" timeZoneBias="-60"/>
      </p:ext>
    </p:extLst>
  </p:cm>
  <p:cm authorId="1" dt="2023-09-13T19:43:23.100" idx="14">
    <p:pos x="4187" y="5878"/>
    <p:text>No mention here of main result: that SD order is flipped, just as model predicted!</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09-07T16:48:59.145" idx="81">
    <p:pos x="10" y="10"/>
    <p:text>Changes since v1:
a: only look at model mapping here, not RW models (for supplement)</p:text>
    <p:extLst>
      <p:ext uri="{C676402C-5697-4E1C-873F-D02D1690AC5C}">
        <p15:threadingInfo xmlns:p15="http://schemas.microsoft.com/office/powerpoint/2012/main" timeZoneBias="-60"/>
      </p:ext>
    </p:extLst>
  </p:cm>
  <p:cm authorId="2" dt="2023-09-07T16:54:26.080" idx="84">
    <p:pos x="734" y="375"/>
    <p:text>To do: fit linear/parabolic models too</p:text>
    <p:extLst>
      <p:ext uri="{C676402C-5697-4E1C-873F-D02D1690AC5C}">
        <p15:threadingInfo xmlns:p15="http://schemas.microsoft.com/office/powerpoint/2012/main" timeZoneBias="-6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3-09-07T16:48:37.376" idx="80">
    <p:pos x="10" y="10"/>
    <p:text>Changes since v1:
A-b: only look at model mapping here, not RW f: model SD now looks more similar to the separate beta model in Fig 4</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39B59-0D06-1146-9E1B-F17099F2073F}" type="datetimeFigureOut">
              <a:rPr lang="en-US" smtClean="0"/>
              <a:t>9/13/23</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774CA-907B-0140-B4E5-1419F6050810}" type="slidenum">
              <a:rPr lang="en-US" smtClean="0"/>
              <a:t>‹#›</a:t>
            </a:fld>
            <a:endParaRPr lang="en-US"/>
          </a:p>
        </p:txBody>
      </p:sp>
    </p:spTree>
    <p:extLst>
      <p:ext uri="{BB962C8B-B14F-4D97-AF65-F5344CB8AC3E}">
        <p14:creationId xmlns:p14="http://schemas.microsoft.com/office/powerpoint/2010/main" val="398045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2</a:t>
            </a:fld>
            <a:endParaRPr lang="en-US"/>
          </a:p>
        </p:txBody>
      </p:sp>
    </p:spTree>
    <p:extLst>
      <p:ext uri="{BB962C8B-B14F-4D97-AF65-F5344CB8AC3E}">
        <p14:creationId xmlns:p14="http://schemas.microsoft.com/office/powerpoint/2010/main" val="21782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3</a:t>
            </a:fld>
            <a:endParaRPr lang="en-US"/>
          </a:p>
        </p:txBody>
      </p:sp>
    </p:spTree>
    <p:extLst>
      <p:ext uri="{BB962C8B-B14F-4D97-AF65-F5344CB8AC3E}">
        <p14:creationId xmlns:p14="http://schemas.microsoft.com/office/powerpoint/2010/main" val="190090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5</a:t>
            </a:fld>
            <a:endParaRPr lang="en-US"/>
          </a:p>
        </p:txBody>
      </p:sp>
    </p:spTree>
    <p:extLst>
      <p:ext uri="{BB962C8B-B14F-4D97-AF65-F5344CB8AC3E}">
        <p14:creationId xmlns:p14="http://schemas.microsoft.com/office/powerpoint/2010/main" val="249444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6</a:t>
            </a:fld>
            <a:endParaRPr lang="en-US"/>
          </a:p>
        </p:txBody>
      </p:sp>
    </p:spTree>
    <p:extLst>
      <p:ext uri="{BB962C8B-B14F-4D97-AF65-F5344CB8AC3E}">
        <p14:creationId xmlns:p14="http://schemas.microsoft.com/office/powerpoint/2010/main" val="171979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7</a:t>
            </a:fld>
            <a:endParaRPr lang="en-US"/>
          </a:p>
        </p:txBody>
      </p:sp>
    </p:spTree>
    <p:extLst>
      <p:ext uri="{BB962C8B-B14F-4D97-AF65-F5344CB8AC3E}">
        <p14:creationId xmlns:p14="http://schemas.microsoft.com/office/powerpoint/2010/main" val="4121280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8</a:t>
            </a:fld>
            <a:endParaRPr lang="en-US"/>
          </a:p>
        </p:txBody>
      </p:sp>
    </p:spTree>
    <p:extLst>
      <p:ext uri="{BB962C8B-B14F-4D97-AF65-F5344CB8AC3E}">
        <p14:creationId xmlns:p14="http://schemas.microsoft.com/office/powerpoint/2010/main" val="421642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9</a:t>
            </a:fld>
            <a:endParaRPr lang="en-US"/>
          </a:p>
        </p:txBody>
      </p:sp>
    </p:spTree>
    <p:extLst>
      <p:ext uri="{BB962C8B-B14F-4D97-AF65-F5344CB8AC3E}">
        <p14:creationId xmlns:p14="http://schemas.microsoft.com/office/powerpoint/2010/main" val="221328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10</a:t>
            </a:fld>
            <a:endParaRPr lang="en-US"/>
          </a:p>
        </p:txBody>
      </p:sp>
    </p:spTree>
    <p:extLst>
      <p:ext uri="{BB962C8B-B14F-4D97-AF65-F5344CB8AC3E}">
        <p14:creationId xmlns:p14="http://schemas.microsoft.com/office/powerpoint/2010/main" val="3640100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11</a:t>
            </a:fld>
            <a:endParaRPr lang="en-US"/>
          </a:p>
        </p:txBody>
      </p:sp>
    </p:spTree>
    <p:extLst>
      <p:ext uri="{BB962C8B-B14F-4D97-AF65-F5344CB8AC3E}">
        <p14:creationId xmlns:p14="http://schemas.microsoft.com/office/powerpoint/2010/main" val="2912257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84409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4313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955E0-3E6F-4141-9EF3-F24898B05313}" type="datetimeFigureOut">
              <a:rPr lang="en-US" smtClean="0"/>
              <a:t>9/13/23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6348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0955E0-3E6F-4141-9EF3-F24898B05313}" type="datetimeFigureOut">
              <a:rPr lang="en-US" smtClean="0"/>
              <a:t>9/13/23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969017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0955E0-3E6F-4141-9EF3-F24898B05313}" type="datetimeFigureOut">
              <a:rPr lang="en-US" smtClean="0"/>
              <a:t>9/13/23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80079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0955E0-3E6F-4141-9EF3-F24898B05313}" type="datetimeFigureOut">
              <a:rPr lang="en-US" smtClean="0"/>
              <a:t>9/13/23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55451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955E0-3E6F-4141-9EF3-F24898B05313}" type="datetimeFigureOut">
              <a:rPr lang="en-US" smtClean="0"/>
              <a:t>9/13/23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5302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9/13/23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74462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9/13/23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723310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1866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9/13/23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5115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50955E0-3E6F-4141-9EF3-F24898B05313}" type="datetimeFigureOut">
              <a:rPr lang="en-US" smtClean="0"/>
              <a:t>9/13/23</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246AF69-DE5C-2B49-B80A-58A2E50A5FDF}" type="slidenum">
              <a:rPr lang="en-US" smtClean="0"/>
              <a:t>‹#›</a:t>
            </a:fld>
            <a:endParaRPr lang="en-US"/>
          </a:p>
        </p:txBody>
      </p:sp>
    </p:spTree>
    <p:extLst>
      <p:ext uri="{BB962C8B-B14F-4D97-AF65-F5344CB8AC3E}">
        <p14:creationId xmlns:p14="http://schemas.microsoft.com/office/powerpoint/2010/main" val="56446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comments" Target="../comments/comment1.xml"/><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3.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comments" Target="../comments/comment2.xml"/><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slides/_rels/slide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43.png"/><Relationship Id="rId18" Type="http://schemas.openxmlformats.org/officeDocument/2006/relationships/image" Target="../media/image48.svg"/><Relationship Id="rId3" Type="http://schemas.openxmlformats.org/officeDocument/2006/relationships/image" Target="../media/image37.png"/><Relationship Id="rId21" Type="http://schemas.openxmlformats.org/officeDocument/2006/relationships/image" Target="../media/image51.png"/><Relationship Id="rId7" Type="http://schemas.openxmlformats.org/officeDocument/2006/relationships/image" Target="../media/image1.png"/><Relationship Id="rId12" Type="http://schemas.openxmlformats.org/officeDocument/2006/relationships/image" Target="../media/image42.svg"/><Relationship Id="rId17" Type="http://schemas.openxmlformats.org/officeDocument/2006/relationships/image" Target="../media/image47.png"/><Relationship Id="rId2" Type="http://schemas.openxmlformats.org/officeDocument/2006/relationships/notesSlide" Target="../notesSlides/notesSlide3.xml"/><Relationship Id="rId16" Type="http://schemas.openxmlformats.org/officeDocument/2006/relationships/image" Target="../media/image46.svg"/><Relationship Id="rId20" Type="http://schemas.openxmlformats.org/officeDocument/2006/relationships/image" Target="../media/image50.svg"/><Relationship Id="rId1" Type="http://schemas.openxmlformats.org/officeDocument/2006/relationships/slideLayout" Target="../slideLayouts/slideLayout2.xml"/><Relationship Id="rId6" Type="http://schemas.openxmlformats.org/officeDocument/2006/relationships/image" Target="../media/image40.svg"/><Relationship Id="rId11" Type="http://schemas.openxmlformats.org/officeDocument/2006/relationships/image" Target="../media/image41.png"/><Relationship Id="rId5" Type="http://schemas.openxmlformats.org/officeDocument/2006/relationships/image" Target="../media/image39.png"/><Relationship Id="rId15" Type="http://schemas.openxmlformats.org/officeDocument/2006/relationships/image" Target="../media/image45.png"/><Relationship Id="rId23" Type="http://schemas.openxmlformats.org/officeDocument/2006/relationships/comments" Target="../comments/comment3.xml"/><Relationship Id="rId10" Type="http://schemas.openxmlformats.org/officeDocument/2006/relationships/image" Target="../media/image20.svg"/><Relationship Id="rId19" Type="http://schemas.openxmlformats.org/officeDocument/2006/relationships/image" Target="../media/image49.png"/><Relationship Id="rId4" Type="http://schemas.openxmlformats.org/officeDocument/2006/relationships/image" Target="../media/image38.svg"/><Relationship Id="rId9" Type="http://schemas.openxmlformats.org/officeDocument/2006/relationships/image" Target="../media/image19.png"/><Relationship Id="rId14" Type="http://schemas.openxmlformats.org/officeDocument/2006/relationships/image" Target="../media/image44.svg"/><Relationship Id="rId22" Type="http://schemas.openxmlformats.org/officeDocument/2006/relationships/image" Target="../media/image52.svg"/></Relationships>
</file>

<file path=ppt/slides/_rels/slide6.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63.png"/><Relationship Id="rId18" Type="http://schemas.openxmlformats.org/officeDocument/2006/relationships/image" Target="../media/image68.svg"/><Relationship Id="rId3" Type="http://schemas.openxmlformats.org/officeDocument/2006/relationships/image" Target="../media/image53.png"/><Relationship Id="rId21" Type="http://schemas.openxmlformats.org/officeDocument/2006/relationships/image" Target="../media/image71.png"/><Relationship Id="rId7" Type="http://schemas.openxmlformats.org/officeDocument/2006/relationships/image" Target="../media/image57.png"/><Relationship Id="rId12" Type="http://schemas.openxmlformats.org/officeDocument/2006/relationships/image" Target="../media/image62.svg"/><Relationship Id="rId17" Type="http://schemas.openxmlformats.org/officeDocument/2006/relationships/image" Target="../media/image67.png"/><Relationship Id="rId2" Type="http://schemas.openxmlformats.org/officeDocument/2006/relationships/notesSlide" Target="../notesSlides/notesSlide4.xml"/><Relationship Id="rId16" Type="http://schemas.openxmlformats.org/officeDocument/2006/relationships/image" Target="../media/image66.svg"/><Relationship Id="rId20" Type="http://schemas.openxmlformats.org/officeDocument/2006/relationships/image" Target="../media/image70.svg"/><Relationship Id="rId1" Type="http://schemas.openxmlformats.org/officeDocument/2006/relationships/slideLayout" Target="../slideLayouts/slideLayout2.xml"/><Relationship Id="rId6" Type="http://schemas.openxmlformats.org/officeDocument/2006/relationships/image" Target="../media/image56.sv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23" Type="http://schemas.openxmlformats.org/officeDocument/2006/relationships/comments" Target="../comments/comment4.xml"/><Relationship Id="rId10" Type="http://schemas.openxmlformats.org/officeDocument/2006/relationships/image" Target="../media/image60.svg"/><Relationship Id="rId19" Type="http://schemas.openxmlformats.org/officeDocument/2006/relationships/image" Target="../media/image69.png"/><Relationship Id="rId4" Type="http://schemas.openxmlformats.org/officeDocument/2006/relationships/image" Target="../media/image54.svg"/><Relationship Id="rId9" Type="http://schemas.openxmlformats.org/officeDocument/2006/relationships/image" Target="../media/image59.png"/><Relationship Id="rId14" Type="http://schemas.openxmlformats.org/officeDocument/2006/relationships/image" Target="../media/image64.svg"/><Relationship Id="rId22" Type="http://schemas.openxmlformats.org/officeDocument/2006/relationships/image" Target="../media/image72.svg"/></Relationships>
</file>

<file path=ppt/slides/_rels/slide7.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 Type="http://schemas.openxmlformats.org/officeDocument/2006/relationships/notesSlide" Target="../notesSlides/notesSlide5.xml"/><Relationship Id="rId16" Type="http://schemas.openxmlformats.org/officeDocument/2006/relationships/image" Target="../media/image86.svg"/><Relationship Id="rId20" Type="http://schemas.openxmlformats.org/officeDocument/2006/relationships/image" Target="../media/image90.svg"/><Relationship Id="rId1" Type="http://schemas.openxmlformats.org/officeDocument/2006/relationships/slideLayout" Target="../slideLayouts/slideLayout2.xml"/><Relationship Id="rId6" Type="http://schemas.openxmlformats.org/officeDocument/2006/relationships/image" Target="../media/image76.sv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comments" Target="../comments/comment5.xml"/><Relationship Id="rId10" Type="http://schemas.openxmlformats.org/officeDocument/2006/relationships/image" Target="../media/image80.svg"/><Relationship Id="rId19" Type="http://schemas.openxmlformats.org/officeDocument/2006/relationships/image" Target="../media/image89.png"/><Relationship Id="rId4" Type="http://schemas.openxmlformats.org/officeDocument/2006/relationships/image" Target="../media/image74.svg"/><Relationship Id="rId9" Type="http://schemas.openxmlformats.org/officeDocument/2006/relationships/image" Target="../media/image79.png"/><Relationship Id="rId14" Type="http://schemas.openxmlformats.org/officeDocument/2006/relationships/image" Target="../media/image84.svg"/><Relationship Id="rId22" Type="http://schemas.openxmlformats.org/officeDocument/2006/relationships/image" Target="../media/image92.svg"/></Relationships>
</file>

<file path=ppt/slides/_rels/slide8.xml.rels><?xml version="1.0" encoding="UTF-8" standalone="yes"?>
<Relationships xmlns="http://schemas.openxmlformats.org/package/2006/relationships"><Relationship Id="rId8" Type="http://schemas.openxmlformats.org/officeDocument/2006/relationships/image" Target="../media/image98.svg"/><Relationship Id="rId13" Type="http://schemas.openxmlformats.org/officeDocument/2006/relationships/image" Target="../media/image103.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6.svg"/><Relationship Id="rId11" Type="http://schemas.openxmlformats.org/officeDocument/2006/relationships/image" Target="../media/image101.png"/><Relationship Id="rId5" Type="http://schemas.openxmlformats.org/officeDocument/2006/relationships/image" Target="../media/image95.png"/><Relationship Id="rId10" Type="http://schemas.openxmlformats.org/officeDocument/2006/relationships/image" Target="../media/image100.svg"/><Relationship Id="rId4" Type="http://schemas.openxmlformats.org/officeDocument/2006/relationships/image" Target="../media/image94.svg"/><Relationship Id="rId9" Type="http://schemas.openxmlformats.org/officeDocument/2006/relationships/image" Target="../media/image99.png"/><Relationship Id="rId14" Type="http://schemas.openxmlformats.org/officeDocument/2006/relationships/image" Target="../media/image104.svg"/></Relationships>
</file>

<file path=ppt/slides/_rels/slide9.xml.rels><?xml version="1.0" encoding="UTF-8" standalone="yes"?>
<Relationships xmlns="http://schemas.openxmlformats.org/package/2006/relationships"><Relationship Id="rId8" Type="http://schemas.openxmlformats.org/officeDocument/2006/relationships/image" Target="../media/image110.sv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8.svg"/><Relationship Id="rId11" Type="http://schemas.openxmlformats.org/officeDocument/2006/relationships/comments" Target="../comments/comment6.xml"/><Relationship Id="rId5" Type="http://schemas.openxmlformats.org/officeDocument/2006/relationships/image" Target="../media/image107.png"/><Relationship Id="rId10" Type="http://schemas.openxmlformats.org/officeDocument/2006/relationships/image" Target="../media/image112.svg"/><Relationship Id="rId4" Type="http://schemas.openxmlformats.org/officeDocument/2006/relationships/image" Target="../media/image106.svg"/><Relationship Id="rId9" Type="http://schemas.openxmlformats.org/officeDocument/2006/relationships/image" Target="../media/image111.png"/></Relationships>
</file>

<file path=ppt/slides/_rels/slide10.xml.rels><?xml version="1.0" encoding="UTF-8" standalone="yes"?>
<Relationships xmlns="http://schemas.openxmlformats.org/package/2006/relationships"><Relationship Id="rId8" Type="http://schemas.openxmlformats.org/officeDocument/2006/relationships/image" Target="../media/image118.svg"/><Relationship Id="rId13" Type="http://schemas.openxmlformats.org/officeDocument/2006/relationships/image" Target="../media/image123.png"/><Relationship Id="rId3" Type="http://schemas.openxmlformats.org/officeDocument/2006/relationships/image" Target="../media/image113.png"/><Relationship Id="rId7" Type="http://schemas.openxmlformats.org/officeDocument/2006/relationships/image" Target="../media/image117.png"/><Relationship Id="rId12" Type="http://schemas.openxmlformats.org/officeDocument/2006/relationships/image" Target="../media/image12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6.sv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comments" Target="../comments/comment7.xml"/><Relationship Id="rId10" Type="http://schemas.openxmlformats.org/officeDocument/2006/relationships/image" Target="../media/image120.svg"/><Relationship Id="rId4" Type="http://schemas.openxmlformats.org/officeDocument/2006/relationships/image" Target="../media/image114.svg"/><Relationship Id="rId9" Type="http://schemas.openxmlformats.org/officeDocument/2006/relationships/image" Target="../media/image119.png"/><Relationship Id="rId14" Type="http://schemas.openxmlformats.org/officeDocument/2006/relationships/image" Target="../media/image124.svg"/></Relationships>
</file>

<file path=ppt/slides/_rels/slide11.xml.rels><?xml version="1.0" encoding="UTF-8" standalone="yes"?>
<Relationships xmlns="http://schemas.openxmlformats.org/package/2006/relationships"><Relationship Id="rId8" Type="http://schemas.openxmlformats.org/officeDocument/2006/relationships/image" Target="../media/image130.svg"/><Relationship Id="rId13" Type="http://schemas.openxmlformats.org/officeDocument/2006/relationships/image" Target="../media/image135.png"/><Relationship Id="rId18" Type="http://schemas.openxmlformats.org/officeDocument/2006/relationships/image" Target="../media/image140.svg"/><Relationship Id="rId26" Type="http://schemas.openxmlformats.org/officeDocument/2006/relationships/image" Target="../media/image148.svg"/><Relationship Id="rId3" Type="http://schemas.openxmlformats.org/officeDocument/2006/relationships/image" Target="../media/image125.png"/><Relationship Id="rId21" Type="http://schemas.openxmlformats.org/officeDocument/2006/relationships/image" Target="../media/image143.png"/><Relationship Id="rId7" Type="http://schemas.openxmlformats.org/officeDocument/2006/relationships/image" Target="../media/image129.png"/><Relationship Id="rId12" Type="http://schemas.openxmlformats.org/officeDocument/2006/relationships/image" Target="../media/image134.svg"/><Relationship Id="rId17" Type="http://schemas.openxmlformats.org/officeDocument/2006/relationships/image" Target="../media/image139.png"/><Relationship Id="rId25" Type="http://schemas.openxmlformats.org/officeDocument/2006/relationships/image" Target="../media/image147.png"/><Relationship Id="rId2" Type="http://schemas.openxmlformats.org/officeDocument/2006/relationships/notesSlide" Target="../notesSlides/notesSlide9.xml"/><Relationship Id="rId16" Type="http://schemas.openxmlformats.org/officeDocument/2006/relationships/image" Target="../media/image138.svg"/><Relationship Id="rId20" Type="http://schemas.openxmlformats.org/officeDocument/2006/relationships/image" Target="../media/image142.svg"/><Relationship Id="rId1" Type="http://schemas.openxmlformats.org/officeDocument/2006/relationships/slideLayout" Target="../slideLayouts/slideLayout2.xml"/><Relationship Id="rId6" Type="http://schemas.openxmlformats.org/officeDocument/2006/relationships/image" Target="../media/image128.svg"/><Relationship Id="rId11" Type="http://schemas.openxmlformats.org/officeDocument/2006/relationships/image" Target="../media/image133.png"/><Relationship Id="rId24" Type="http://schemas.openxmlformats.org/officeDocument/2006/relationships/image" Target="../media/image146.svg"/><Relationship Id="rId5" Type="http://schemas.openxmlformats.org/officeDocument/2006/relationships/image" Target="../media/image127.png"/><Relationship Id="rId15" Type="http://schemas.openxmlformats.org/officeDocument/2006/relationships/image" Target="../media/image137.png"/><Relationship Id="rId23" Type="http://schemas.openxmlformats.org/officeDocument/2006/relationships/image" Target="../media/image145.png"/><Relationship Id="rId10" Type="http://schemas.openxmlformats.org/officeDocument/2006/relationships/image" Target="../media/image132.svg"/><Relationship Id="rId19" Type="http://schemas.openxmlformats.org/officeDocument/2006/relationships/image" Target="../media/image141.png"/><Relationship Id="rId4" Type="http://schemas.openxmlformats.org/officeDocument/2006/relationships/image" Target="../media/image126.svg"/><Relationship Id="rId9" Type="http://schemas.openxmlformats.org/officeDocument/2006/relationships/image" Target="../media/image131.png"/><Relationship Id="rId14" Type="http://schemas.openxmlformats.org/officeDocument/2006/relationships/image" Target="../media/image136.svg"/><Relationship Id="rId22" Type="http://schemas.openxmlformats.org/officeDocument/2006/relationships/image" Target="../media/image14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DF7C-1481-45A9-F513-3CFA2850A471}"/>
              </a:ext>
            </a:extLst>
          </p:cNvPr>
          <p:cNvSpPr>
            <a:spLocks noGrp="1"/>
          </p:cNvSpPr>
          <p:nvPr>
            <p:ph type="ctrTitle"/>
          </p:nvPr>
        </p:nvSpPr>
        <p:spPr/>
        <p:txBody>
          <a:bodyPr/>
          <a:lstStyle/>
          <a:p>
            <a:r>
              <a:rPr lang="en-US" dirty="0"/>
              <a:t>Figures for stochastic MVT paper</a:t>
            </a:r>
          </a:p>
        </p:txBody>
      </p:sp>
      <p:sp>
        <p:nvSpPr>
          <p:cNvPr id="3" name="Subtitle 2">
            <a:extLst>
              <a:ext uri="{FF2B5EF4-FFF2-40B4-BE49-F238E27FC236}">
                <a16:creationId xmlns:a16="http://schemas.microsoft.com/office/drawing/2014/main" id="{5F4C099F-8315-331B-FDA4-9C0BA82228D1}"/>
              </a:ext>
            </a:extLst>
          </p:cNvPr>
          <p:cNvSpPr>
            <a:spLocks noGrp="1"/>
          </p:cNvSpPr>
          <p:nvPr>
            <p:ph type="subTitle" idx="1"/>
          </p:nvPr>
        </p:nvSpPr>
        <p:spPr/>
        <p:txBody>
          <a:bodyPr/>
          <a:lstStyle/>
          <a:p>
            <a:r>
              <a:rPr lang="en-US" dirty="0"/>
              <a:t>11 September 2023</a:t>
            </a:r>
          </a:p>
        </p:txBody>
      </p:sp>
    </p:spTree>
    <p:extLst>
      <p:ext uri="{BB962C8B-B14F-4D97-AF65-F5344CB8AC3E}">
        <p14:creationId xmlns:p14="http://schemas.microsoft.com/office/powerpoint/2010/main" val="1215028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DA60EDE9-22E1-504F-1E69-39248DFF38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694" y="2080477"/>
            <a:ext cx="1879600" cy="1879600"/>
          </a:xfrm>
          <a:prstGeom prst="rect">
            <a:avLst/>
          </a:prstGeom>
        </p:spPr>
      </p:pic>
      <p:pic>
        <p:nvPicPr>
          <p:cNvPr id="33" name="Graphic 32">
            <a:extLst>
              <a:ext uri="{FF2B5EF4-FFF2-40B4-BE49-F238E27FC236}">
                <a16:creationId xmlns:a16="http://schemas.microsoft.com/office/drawing/2014/main" id="{4247B923-0418-29FF-5FF8-AE780CEDB5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9808" y="6262124"/>
            <a:ext cx="1879600" cy="1879600"/>
          </a:xfrm>
          <a:prstGeom prst="rect">
            <a:avLst/>
          </a:prstGeom>
        </p:spPr>
      </p:pic>
      <p:pic>
        <p:nvPicPr>
          <p:cNvPr id="135" name="Graphic 134">
            <a:extLst>
              <a:ext uri="{FF2B5EF4-FFF2-40B4-BE49-F238E27FC236}">
                <a16:creationId xmlns:a16="http://schemas.microsoft.com/office/drawing/2014/main" id="{1842D055-8290-27EC-DE0F-8AA8B1F6AC6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68244" y="4294010"/>
            <a:ext cx="1879600" cy="1879600"/>
          </a:xfrm>
          <a:prstGeom prst="rect">
            <a:avLst/>
          </a:prstGeom>
        </p:spPr>
      </p:pic>
      <p:pic>
        <p:nvPicPr>
          <p:cNvPr id="129" name="Graphic 128">
            <a:extLst>
              <a:ext uri="{FF2B5EF4-FFF2-40B4-BE49-F238E27FC236}">
                <a16:creationId xmlns:a16="http://schemas.microsoft.com/office/drawing/2014/main" id="{0A254E89-A245-F3E1-6CCE-E9D4DC9727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5568" y="4166483"/>
            <a:ext cx="1879600" cy="1879600"/>
          </a:xfrm>
          <a:prstGeom prst="rect">
            <a:avLst/>
          </a:prstGeom>
        </p:spPr>
      </p:pic>
      <p:pic>
        <p:nvPicPr>
          <p:cNvPr id="131" name="Graphic 130">
            <a:extLst>
              <a:ext uri="{FF2B5EF4-FFF2-40B4-BE49-F238E27FC236}">
                <a16:creationId xmlns:a16="http://schemas.microsoft.com/office/drawing/2014/main" id="{3803D20C-2E26-4108-0F6E-C36C281FBF6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45556" y="2292637"/>
            <a:ext cx="1879600" cy="1879600"/>
          </a:xfrm>
          <a:prstGeom prst="rect">
            <a:avLst/>
          </a:prstGeom>
        </p:spPr>
      </p:pic>
      <p:pic>
        <p:nvPicPr>
          <p:cNvPr id="133" name="Graphic 132">
            <a:extLst>
              <a:ext uri="{FF2B5EF4-FFF2-40B4-BE49-F238E27FC236}">
                <a16:creationId xmlns:a16="http://schemas.microsoft.com/office/drawing/2014/main" id="{2B46E181-CAE3-45A2-0AC8-638748087F6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01493" y="6245465"/>
            <a:ext cx="1879600" cy="1879600"/>
          </a:xfrm>
          <a:prstGeom prst="rect">
            <a:avLst/>
          </a:prstGeom>
        </p:spPr>
      </p:pic>
      <p:pic>
        <p:nvPicPr>
          <p:cNvPr id="137" name="Graphic 136">
            <a:extLst>
              <a:ext uri="{FF2B5EF4-FFF2-40B4-BE49-F238E27FC236}">
                <a16:creationId xmlns:a16="http://schemas.microsoft.com/office/drawing/2014/main" id="{8CF99917-171B-BCFB-6EC5-CAB3C7E7060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14912" y="2373984"/>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38565" y="8222577"/>
            <a:ext cx="6819435" cy="1785104"/>
          </a:xfrm>
          <a:prstGeom prst="rect">
            <a:avLst/>
          </a:prstGeom>
          <a:noFill/>
        </p:spPr>
        <p:txBody>
          <a:bodyPr wrap="square" rtlCol="0">
            <a:spAutoFit/>
          </a:bodyPr>
          <a:lstStyle/>
          <a:p>
            <a:pPr marL="228600" indent="-228600">
              <a:buAutoNum type="alphaLcParenR"/>
            </a:pPr>
            <a:r>
              <a:rPr lang="en-US" sz="1100" dirty="0"/>
              <a:t>Schematic of patch foraging decision</a:t>
            </a:r>
          </a:p>
          <a:p>
            <a:pPr marL="228600" indent="-228600">
              <a:buAutoNum type="alphaLcParenR"/>
            </a:pPr>
            <a:r>
              <a:rPr lang="en-US" sz="1100" dirty="0"/>
              <a:t>Schematic of model and state space</a:t>
            </a:r>
          </a:p>
          <a:p>
            <a:r>
              <a:rPr lang="en-US" sz="1100" b="1" dirty="0"/>
              <a:t>c) </a:t>
            </a:r>
            <a:r>
              <a:rPr lang="en-US" sz="1100" dirty="0"/>
              <a:t>Introduce deterministic MVT rule: patch reward rate vs average RR in environment </a:t>
            </a:r>
          </a:p>
          <a:p>
            <a:r>
              <a:rPr lang="en-US" sz="1100" b="1" dirty="0"/>
              <a:t>d) </a:t>
            </a:r>
            <a:r>
              <a:rPr lang="en-US" sz="1100" dirty="0"/>
              <a:t>Introduce </a:t>
            </a:r>
            <a:r>
              <a:rPr lang="en-US" sz="1100" dirty="0" err="1"/>
              <a:t>softmax</a:t>
            </a:r>
            <a:r>
              <a:rPr lang="en-US" sz="1100" dirty="0"/>
              <a:t> model – what does it predict? Expected leaving times for </a:t>
            </a:r>
            <a:r>
              <a:rPr lang="en-US" sz="1100" dirty="0" err="1"/>
              <a:t>softmax</a:t>
            </a:r>
            <a:r>
              <a:rPr lang="en-US" sz="1100" dirty="0"/>
              <a:t> model for range of beta</a:t>
            </a:r>
          </a:p>
          <a:p>
            <a:r>
              <a:rPr lang="en-US" sz="1100" b="1" dirty="0"/>
              <a:t>e) </a:t>
            </a:r>
            <a:r>
              <a:rPr lang="en-US" sz="1100" dirty="0" err="1"/>
              <a:t>Softmax</a:t>
            </a:r>
            <a:r>
              <a:rPr lang="en-US" sz="1100" dirty="0"/>
              <a:t> model can reproduce MVT (patch and environment effect) </a:t>
            </a:r>
          </a:p>
          <a:p>
            <a:r>
              <a:rPr lang="en-US" sz="1100" b="1" dirty="0"/>
              <a:t>f) </a:t>
            </a:r>
            <a:r>
              <a:rPr lang="en-US" sz="1100" dirty="0"/>
              <a:t>and</a:t>
            </a:r>
            <a:r>
              <a:rPr lang="en-US" sz="1100" b="1" dirty="0"/>
              <a:t> g) </a:t>
            </a:r>
            <a:r>
              <a:rPr lang="en-US" sz="1100" dirty="0" err="1"/>
              <a:t>Softmax</a:t>
            </a:r>
            <a:r>
              <a:rPr lang="en-US" sz="1100" dirty="0"/>
              <a:t> model could also reproduce overharvesting (increase in leaving times due to increase in inverse temperature (= more exploit))</a:t>
            </a:r>
          </a:p>
          <a:p>
            <a:r>
              <a:rPr lang="en-US" sz="1100" b="1" dirty="0"/>
              <a:t>h) </a:t>
            </a:r>
            <a:r>
              <a:rPr lang="en-US" sz="1100" dirty="0"/>
              <a:t>Assuming betas that would reproduce overharvesting, the </a:t>
            </a:r>
            <a:r>
              <a:rPr lang="en-US" sz="1100" dirty="0" err="1"/>
              <a:t>softmax</a:t>
            </a:r>
            <a:r>
              <a:rPr lang="en-US" sz="1100" dirty="0"/>
              <a:t> model predicts a plateau in the expected SD of leaving times</a:t>
            </a:r>
          </a:p>
          <a:p>
            <a:r>
              <a:rPr lang="en-US" sz="1100" b="1" dirty="0" err="1"/>
              <a:t>i</a:t>
            </a:r>
            <a:r>
              <a:rPr lang="en-US" sz="1100" b="1" dirty="0"/>
              <a:t>) </a:t>
            </a:r>
            <a:r>
              <a:rPr lang="en-US" sz="1100" dirty="0"/>
              <a:t>and</a:t>
            </a:r>
            <a:r>
              <a:rPr lang="en-US" sz="1100" b="1" dirty="0"/>
              <a:t> j) </a:t>
            </a:r>
            <a:r>
              <a:rPr lang="en-US" sz="1100" dirty="0"/>
              <a:t>A model that isn’t reward-aware (i.e. e-greedy) cannot the patch effect of MVT</a:t>
            </a:r>
          </a:p>
        </p:txBody>
      </p:sp>
      <p:sp>
        <p:nvSpPr>
          <p:cNvPr id="88" name="TextBox 87">
            <a:extLst>
              <a:ext uri="{FF2B5EF4-FFF2-40B4-BE49-F238E27FC236}">
                <a16:creationId xmlns:a16="http://schemas.microsoft.com/office/drawing/2014/main" id="{790669AD-18F8-09A4-DD66-6FFFCAFE6BE7}"/>
              </a:ext>
            </a:extLst>
          </p:cNvPr>
          <p:cNvSpPr txBox="1"/>
          <p:nvPr/>
        </p:nvSpPr>
        <p:spPr>
          <a:xfrm>
            <a:off x="261830" y="-7187"/>
            <a:ext cx="5707170" cy="369332"/>
          </a:xfrm>
          <a:prstGeom prst="rect">
            <a:avLst/>
          </a:prstGeom>
          <a:noFill/>
        </p:spPr>
        <p:txBody>
          <a:bodyPr wrap="square" rtlCol="0">
            <a:spAutoFit/>
          </a:bodyPr>
          <a:lstStyle/>
          <a:p>
            <a:r>
              <a:rPr lang="en-US" dirty="0"/>
              <a:t>Figure 1: Model predictions  </a:t>
            </a:r>
          </a:p>
        </p:txBody>
      </p:sp>
      <p:sp>
        <p:nvSpPr>
          <p:cNvPr id="89" name="TextBox 88">
            <a:extLst>
              <a:ext uri="{FF2B5EF4-FFF2-40B4-BE49-F238E27FC236}">
                <a16:creationId xmlns:a16="http://schemas.microsoft.com/office/drawing/2014/main" id="{278A2FB0-6D26-57DE-296F-005756EACA1F}"/>
              </a:ext>
            </a:extLst>
          </p:cNvPr>
          <p:cNvSpPr txBox="1"/>
          <p:nvPr/>
        </p:nvSpPr>
        <p:spPr>
          <a:xfrm>
            <a:off x="596793" y="190500"/>
            <a:ext cx="295274" cy="369332"/>
          </a:xfrm>
          <a:prstGeom prst="rect">
            <a:avLst/>
          </a:prstGeom>
          <a:noFill/>
        </p:spPr>
        <p:txBody>
          <a:bodyPr wrap="none" rtlCol="0">
            <a:spAutoFit/>
          </a:bodyPr>
          <a:lstStyle/>
          <a:p>
            <a:r>
              <a:rPr lang="en-US" dirty="0"/>
              <a:t>a</a:t>
            </a:r>
          </a:p>
        </p:txBody>
      </p:sp>
      <p:sp>
        <p:nvSpPr>
          <p:cNvPr id="90" name="TextBox 89">
            <a:extLst>
              <a:ext uri="{FF2B5EF4-FFF2-40B4-BE49-F238E27FC236}">
                <a16:creationId xmlns:a16="http://schemas.microsoft.com/office/drawing/2014/main" id="{7111B364-FB16-AC81-E91A-AF1028AC2158}"/>
              </a:ext>
            </a:extLst>
          </p:cNvPr>
          <p:cNvSpPr txBox="1"/>
          <p:nvPr/>
        </p:nvSpPr>
        <p:spPr>
          <a:xfrm>
            <a:off x="502558" y="1877439"/>
            <a:ext cx="282450" cy="369332"/>
          </a:xfrm>
          <a:prstGeom prst="rect">
            <a:avLst/>
          </a:prstGeom>
          <a:noFill/>
        </p:spPr>
        <p:txBody>
          <a:bodyPr wrap="none" rtlCol="0">
            <a:spAutoFit/>
          </a:bodyPr>
          <a:lstStyle/>
          <a:p>
            <a:r>
              <a:rPr lang="en-US" dirty="0"/>
              <a:t>c</a:t>
            </a:r>
          </a:p>
        </p:txBody>
      </p:sp>
      <p:sp>
        <p:nvSpPr>
          <p:cNvPr id="91" name="TextBox 90">
            <a:extLst>
              <a:ext uri="{FF2B5EF4-FFF2-40B4-BE49-F238E27FC236}">
                <a16:creationId xmlns:a16="http://schemas.microsoft.com/office/drawing/2014/main" id="{AE72EDE6-B868-3A25-E10D-70509BC15B5F}"/>
              </a:ext>
            </a:extLst>
          </p:cNvPr>
          <p:cNvSpPr txBox="1"/>
          <p:nvPr/>
        </p:nvSpPr>
        <p:spPr>
          <a:xfrm>
            <a:off x="2546090" y="2201108"/>
            <a:ext cx="306494" cy="369332"/>
          </a:xfrm>
          <a:prstGeom prst="rect">
            <a:avLst/>
          </a:prstGeom>
          <a:noFill/>
        </p:spPr>
        <p:txBody>
          <a:bodyPr wrap="square" rtlCol="0">
            <a:spAutoFit/>
          </a:bodyPr>
          <a:lstStyle/>
          <a:p>
            <a:r>
              <a:rPr lang="en-US" dirty="0"/>
              <a:t>d</a:t>
            </a:r>
          </a:p>
        </p:txBody>
      </p:sp>
      <p:sp>
        <p:nvSpPr>
          <p:cNvPr id="92" name="TextBox 91">
            <a:extLst>
              <a:ext uri="{FF2B5EF4-FFF2-40B4-BE49-F238E27FC236}">
                <a16:creationId xmlns:a16="http://schemas.microsoft.com/office/drawing/2014/main" id="{97708272-52DD-F55A-AE29-417EF8D202CB}"/>
              </a:ext>
            </a:extLst>
          </p:cNvPr>
          <p:cNvSpPr txBox="1"/>
          <p:nvPr/>
        </p:nvSpPr>
        <p:spPr>
          <a:xfrm>
            <a:off x="4705747" y="2189318"/>
            <a:ext cx="306494" cy="369332"/>
          </a:xfrm>
          <a:prstGeom prst="rect">
            <a:avLst/>
          </a:prstGeom>
          <a:noFill/>
        </p:spPr>
        <p:txBody>
          <a:bodyPr wrap="square" rtlCol="0">
            <a:spAutoFit/>
          </a:bodyPr>
          <a:lstStyle/>
          <a:p>
            <a:r>
              <a:rPr lang="en-US" dirty="0"/>
              <a:t>e</a:t>
            </a:r>
          </a:p>
        </p:txBody>
      </p:sp>
      <p:sp>
        <p:nvSpPr>
          <p:cNvPr id="93" name="TextBox 92">
            <a:extLst>
              <a:ext uri="{FF2B5EF4-FFF2-40B4-BE49-F238E27FC236}">
                <a16:creationId xmlns:a16="http://schemas.microsoft.com/office/drawing/2014/main" id="{CEC9FA63-C7FB-24C1-2A8E-8CE70FEC83AD}"/>
              </a:ext>
            </a:extLst>
          </p:cNvPr>
          <p:cNvSpPr txBox="1"/>
          <p:nvPr/>
        </p:nvSpPr>
        <p:spPr>
          <a:xfrm>
            <a:off x="412750" y="3852823"/>
            <a:ext cx="255198" cy="369332"/>
          </a:xfrm>
          <a:prstGeom prst="rect">
            <a:avLst/>
          </a:prstGeom>
          <a:noFill/>
        </p:spPr>
        <p:txBody>
          <a:bodyPr wrap="none" rtlCol="0">
            <a:spAutoFit/>
          </a:bodyPr>
          <a:lstStyle/>
          <a:p>
            <a:r>
              <a:rPr lang="en-US" dirty="0"/>
              <a:t>f</a:t>
            </a:r>
          </a:p>
        </p:txBody>
      </p:sp>
      <p:sp>
        <p:nvSpPr>
          <p:cNvPr id="94" name="TextBox 93">
            <a:extLst>
              <a:ext uri="{FF2B5EF4-FFF2-40B4-BE49-F238E27FC236}">
                <a16:creationId xmlns:a16="http://schemas.microsoft.com/office/drawing/2014/main" id="{CC86550A-51AF-905C-0484-AAF37476590E}"/>
              </a:ext>
            </a:extLst>
          </p:cNvPr>
          <p:cNvSpPr txBox="1"/>
          <p:nvPr/>
        </p:nvSpPr>
        <p:spPr>
          <a:xfrm>
            <a:off x="2722410" y="4006334"/>
            <a:ext cx="293670" cy="369332"/>
          </a:xfrm>
          <a:prstGeom prst="rect">
            <a:avLst/>
          </a:prstGeom>
          <a:noFill/>
        </p:spPr>
        <p:txBody>
          <a:bodyPr wrap="none" rtlCol="0">
            <a:spAutoFit/>
          </a:bodyPr>
          <a:lstStyle/>
          <a:p>
            <a:r>
              <a:rPr lang="en-US" dirty="0"/>
              <a:t>g</a:t>
            </a:r>
          </a:p>
        </p:txBody>
      </p:sp>
      <p:sp>
        <p:nvSpPr>
          <p:cNvPr id="95" name="TextBox 94">
            <a:extLst>
              <a:ext uri="{FF2B5EF4-FFF2-40B4-BE49-F238E27FC236}">
                <a16:creationId xmlns:a16="http://schemas.microsoft.com/office/drawing/2014/main" id="{CB9E0D26-AD32-1BF0-F9C8-2B68A0FEAF51}"/>
              </a:ext>
            </a:extLst>
          </p:cNvPr>
          <p:cNvSpPr txBox="1"/>
          <p:nvPr/>
        </p:nvSpPr>
        <p:spPr>
          <a:xfrm>
            <a:off x="4521242" y="4006334"/>
            <a:ext cx="306494" cy="369332"/>
          </a:xfrm>
          <a:prstGeom prst="rect">
            <a:avLst/>
          </a:prstGeom>
          <a:noFill/>
        </p:spPr>
        <p:txBody>
          <a:bodyPr wrap="none" rtlCol="0">
            <a:spAutoFit/>
          </a:bodyPr>
          <a:lstStyle/>
          <a:p>
            <a:r>
              <a:rPr lang="en-US" dirty="0"/>
              <a:t>h</a:t>
            </a:r>
          </a:p>
        </p:txBody>
      </p:sp>
      <p:sp>
        <p:nvSpPr>
          <p:cNvPr id="96" name="TextBox 95">
            <a:extLst>
              <a:ext uri="{FF2B5EF4-FFF2-40B4-BE49-F238E27FC236}">
                <a16:creationId xmlns:a16="http://schemas.microsoft.com/office/drawing/2014/main" id="{0D279662-672B-A465-C85F-4BD0AED5CE35}"/>
              </a:ext>
            </a:extLst>
          </p:cNvPr>
          <p:cNvSpPr txBox="1"/>
          <p:nvPr/>
        </p:nvSpPr>
        <p:spPr>
          <a:xfrm>
            <a:off x="425459" y="6026662"/>
            <a:ext cx="237566" cy="369332"/>
          </a:xfrm>
          <a:prstGeom prst="rect">
            <a:avLst/>
          </a:prstGeom>
          <a:noFill/>
        </p:spPr>
        <p:txBody>
          <a:bodyPr wrap="none" rtlCol="0">
            <a:spAutoFit/>
          </a:bodyPr>
          <a:lstStyle/>
          <a:p>
            <a:r>
              <a:rPr lang="en-US" dirty="0" err="1"/>
              <a:t>i</a:t>
            </a:r>
            <a:endParaRPr lang="en-US" dirty="0"/>
          </a:p>
        </p:txBody>
      </p:sp>
      <p:sp>
        <p:nvSpPr>
          <p:cNvPr id="97" name="TextBox 96">
            <a:extLst>
              <a:ext uri="{FF2B5EF4-FFF2-40B4-BE49-F238E27FC236}">
                <a16:creationId xmlns:a16="http://schemas.microsoft.com/office/drawing/2014/main" id="{4D5055E1-189B-D640-540E-995D012459E6}"/>
              </a:ext>
            </a:extLst>
          </p:cNvPr>
          <p:cNvSpPr txBox="1"/>
          <p:nvPr/>
        </p:nvSpPr>
        <p:spPr>
          <a:xfrm>
            <a:off x="2701493" y="5958522"/>
            <a:ext cx="237566" cy="369332"/>
          </a:xfrm>
          <a:prstGeom prst="rect">
            <a:avLst/>
          </a:prstGeom>
          <a:noFill/>
        </p:spPr>
        <p:txBody>
          <a:bodyPr wrap="none" rtlCol="0">
            <a:spAutoFit/>
          </a:bodyPr>
          <a:lstStyle/>
          <a:p>
            <a:r>
              <a:rPr lang="en-US" dirty="0"/>
              <a:t>j</a:t>
            </a:r>
          </a:p>
        </p:txBody>
      </p:sp>
      <p:grpSp>
        <p:nvGrpSpPr>
          <p:cNvPr id="31" name="Group 30">
            <a:extLst>
              <a:ext uri="{FF2B5EF4-FFF2-40B4-BE49-F238E27FC236}">
                <a16:creationId xmlns:a16="http://schemas.microsoft.com/office/drawing/2014/main" id="{1D126996-FFC8-5DBA-5016-64E8B14E1B84}"/>
              </a:ext>
            </a:extLst>
          </p:cNvPr>
          <p:cNvGrpSpPr>
            <a:grpSpLocks noChangeAspect="1"/>
          </p:cNvGrpSpPr>
          <p:nvPr/>
        </p:nvGrpSpPr>
        <p:grpSpPr>
          <a:xfrm>
            <a:off x="655805" y="425403"/>
            <a:ext cx="1602890" cy="1583583"/>
            <a:chOff x="4285404" y="1610386"/>
            <a:chExt cx="2158391" cy="2132392"/>
          </a:xfrm>
        </p:grpSpPr>
        <p:sp>
          <p:nvSpPr>
            <p:cNvPr id="2" name="Oval 1">
              <a:extLst>
                <a:ext uri="{FF2B5EF4-FFF2-40B4-BE49-F238E27FC236}">
                  <a16:creationId xmlns:a16="http://schemas.microsoft.com/office/drawing/2014/main" id="{4696CD2E-3691-8A26-D7D3-77DC443FBD37}"/>
                </a:ext>
              </a:extLst>
            </p:cNvPr>
            <p:cNvSpPr/>
            <p:nvPr/>
          </p:nvSpPr>
          <p:spPr>
            <a:xfrm>
              <a:off x="4490320" y="2233711"/>
              <a:ext cx="770764" cy="819229"/>
            </a:xfrm>
            <a:prstGeom prst="ellipse">
              <a:avLst/>
            </a:prstGeom>
            <a:solidFill>
              <a:srgbClr val="E655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32D86F8-1A7B-3AC9-8132-2DB150CAF5F8}"/>
                </a:ext>
              </a:extLst>
            </p:cNvPr>
            <p:cNvSpPr/>
            <p:nvPr/>
          </p:nvSpPr>
          <p:spPr>
            <a:xfrm rot="19590038">
              <a:off x="5803582" y="2291357"/>
              <a:ext cx="640213" cy="819229"/>
            </a:xfrm>
            <a:prstGeom prst="ellipse">
              <a:avLst/>
            </a:prstGeom>
            <a:solidFill>
              <a:srgbClr val="FDAE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5BD8975-5648-6D1B-0F18-DD09EE0EBA4A}"/>
                </a:ext>
              </a:extLst>
            </p:cNvPr>
            <p:cNvSpPr/>
            <p:nvPr/>
          </p:nvSpPr>
          <p:spPr>
            <a:xfrm rot="1142781">
              <a:off x="4948476" y="3203171"/>
              <a:ext cx="680512" cy="539607"/>
            </a:xfrm>
            <a:prstGeom prst="ellipse">
              <a:avLst/>
            </a:prstGeom>
            <a:solidFill>
              <a:srgbClr val="FFE7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Man with solid fill">
              <a:extLst>
                <a:ext uri="{FF2B5EF4-FFF2-40B4-BE49-F238E27FC236}">
                  <a16:creationId xmlns:a16="http://schemas.microsoft.com/office/drawing/2014/main" id="{ADBDB2FF-850E-EC9E-F600-808A6A156A2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85485" y="1610386"/>
              <a:ext cx="914400" cy="914400"/>
            </a:xfrm>
            <a:prstGeom prst="rect">
              <a:avLst/>
            </a:prstGeom>
          </p:spPr>
        </p:pic>
        <p:sp>
          <p:nvSpPr>
            <p:cNvPr id="15" name="Diamond 14">
              <a:extLst>
                <a:ext uri="{FF2B5EF4-FFF2-40B4-BE49-F238E27FC236}">
                  <a16:creationId xmlns:a16="http://schemas.microsoft.com/office/drawing/2014/main" id="{04EC9B40-EAB0-C8AE-8922-3BBFAB535753}"/>
                </a:ext>
              </a:extLst>
            </p:cNvPr>
            <p:cNvSpPr>
              <a:spLocks noChangeAspect="1"/>
            </p:cNvSpPr>
            <p:nvPr/>
          </p:nvSpPr>
          <p:spPr>
            <a:xfrm>
              <a:off x="4635695" y="2564376"/>
              <a:ext cx="140400" cy="144014"/>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iamond 15">
              <a:extLst>
                <a:ext uri="{FF2B5EF4-FFF2-40B4-BE49-F238E27FC236}">
                  <a16:creationId xmlns:a16="http://schemas.microsoft.com/office/drawing/2014/main" id="{8ADC4606-9FA3-30DE-C442-638BBDC1BA45}"/>
                </a:ext>
              </a:extLst>
            </p:cNvPr>
            <p:cNvSpPr/>
            <p:nvPr/>
          </p:nvSpPr>
          <p:spPr>
            <a:xfrm>
              <a:off x="5234101" y="3307776"/>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iamond 16">
              <a:extLst>
                <a:ext uri="{FF2B5EF4-FFF2-40B4-BE49-F238E27FC236}">
                  <a16:creationId xmlns:a16="http://schemas.microsoft.com/office/drawing/2014/main" id="{089EDFCE-D269-A670-AAB1-954A894F7E74}"/>
                </a:ext>
              </a:extLst>
            </p:cNvPr>
            <p:cNvSpPr/>
            <p:nvPr/>
          </p:nvSpPr>
          <p:spPr>
            <a:xfrm>
              <a:off x="5336732" y="346990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iamond 17">
              <a:extLst>
                <a:ext uri="{FF2B5EF4-FFF2-40B4-BE49-F238E27FC236}">
                  <a16:creationId xmlns:a16="http://schemas.microsoft.com/office/drawing/2014/main" id="{13F0E58B-0242-EEAB-1D13-7A9E9D0C7A96}"/>
                </a:ext>
              </a:extLst>
            </p:cNvPr>
            <p:cNvSpPr/>
            <p:nvPr/>
          </p:nvSpPr>
          <p:spPr>
            <a:xfrm>
              <a:off x="5107597" y="343427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mond 18">
              <a:extLst>
                <a:ext uri="{FF2B5EF4-FFF2-40B4-BE49-F238E27FC236}">
                  <a16:creationId xmlns:a16="http://schemas.microsoft.com/office/drawing/2014/main" id="{4696D57E-9932-EE43-FC89-25AACD03190B}"/>
                </a:ext>
              </a:extLst>
            </p:cNvPr>
            <p:cNvSpPr/>
            <p:nvPr/>
          </p:nvSpPr>
          <p:spPr>
            <a:xfrm>
              <a:off x="5983453" y="2452786"/>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mond 19">
              <a:extLst>
                <a:ext uri="{FF2B5EF4-FFF2-40B4-BE49-F238E27FC236}">
                  <a16:creationId xmlns:a16="http://schemas.microsoft.com/office/drawing/2014/main" id="{8C02A24C-0E6B-F030-B9F0-B7FB07E7CB0B}"/>
                </a:ext>
              </a:extLst>
            </p:cNvPr>
            <p:cNvSpPr/>
            <p:nvPr/>
          </p:nvSpPr>
          <p:spPr>
            <a:xfrm>
              <a:off x="6123688" y="264332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mond 20">
              <a:extLst>
                <a:ext uri="{FF2B5EF4-FFF2-40B4-BE49-F238E27FC236}">
                  <a16:creationId xmlns:a16="http://schemas.microsoft.com/office/drawing/2014/main" id="{92501346-F149-9368-883C-927AB6F7EA35}"/>
                </a:ext>
              </a:extLst>
            </p:cNvPr>
            <p:cNvSpPr/>
            <p:nvPr/>
          </p:nvSpPr>
          <p:spPr>
            <a:xfrm>
              <a:off x="5907688" y="261429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a:extLst>
                <a:ext uri="{FF2B5EF4-FFF2-40B4-BE49-F238E27FC236}">
                  <a16:creationId xmlns:a16="http://schemas.microsoft.com/office/drawing/2014/main" id="{8D930724-99D6-F2E5-42E5-25EA24908C34}"/>
                </a:ext>
              </a:extLst>
            </p:cNvPr>
            <p:cNvSpPr/>
            <p:nvPr/>
          </p:nvSpPr>
          <p:spPr>
            <a:xfrm>
              <a:off x="5979688" y="2819365"/>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a:extLst>
                <a:ext uri="{FF2B5EF4-FFF2-40B4-BE49-F238E27FC236}">
                  <a16:creationId xmlns:a16="http://schemas.microsoft.com/office/drawing/2014/main" id="{89B8F40D-6DA4-4074-13DC-A00499BDB90F}"/>
                </a:ext>
              </a:extLst>
            </p:cNvPr>
            <p:cNvSpPr/>
            <p:nvPr/>
          </p:nvSpPr>
          <p:spPr>
            <a:xfrm>
              <a:off x="6158130" y="2833864"/>
              <a:ext cx="144000" cy="144000"/>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a:extLst>
                <a:ext uri="{FF2B5EF4-FFF2-40B4-BE49-F238E27FC236}">
                  <a16:creationId xmlns:a16="http://schemas.microsoft.com/office/drawing/2014/main" id="{A553FDD1-08DD-6CDB-C0DF-1249E617D16B}"/>
                </a:ext>
              </a:extLst>
            </p:cNvPr>
            <p:cNvSpPr>
              <a:spLocks noChangeAspect="1"/>
            </p:cNvSpPr>
            <p:nvPr/>
          </p:nvSpPr>
          <p:spPr>
            <a:xfrm>
              <a:off x="4838325" y="2700971"/>
              <a:ext cx="140400" cy="144014"/>
            </a:xfrm>
            <a:prstGeom prst="diamond">
              <a:avLst/>
            </a:prstGeom>
            <a:solidFill>
              <a:srgbClr val="970D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1C4A6BCF-8E9F-A311-42CE-E397F8752602}"/>
                </a:ext>
              </a:extLst>
            </p:cNvPr>
            <p:cNvPicPr>
              <a:picLocks noChangeAspect="1"/>
            </p:cNvPicPr>
            <p:nvPr/>
          </p:nvPicPr>
          <p:blipFill>
            <a:blip r:embed="rId19"/>
            <a:stretch>
              <a:fillRect/>
            </a:stretch>
          </p:blipFill>
          <p:spPr>
            <a:xfrm rot="17135085">
              <a:off x="4347089" y="2007139"/>
              <a:ext cx="346001" cy="289833"/>
            </a:xfrm>
            <a:prstGeom prst="rect">
              <a:avLst/>
            </a:prstGeom>
          </p:spPr>
        </p:pic>
        <p:pic>
          <p:nvPicPr>
            <p:cNvPr id="27" name="Picture 26">
              <a:extLst>
                <a:ext uri="{FF2B5EF4-FFF2-40B4-BE49-F238E27FC236}">
                  <a16:creationId xmlns:a16="http://schemas.microsoft.com/office/drawing/2014/main" id="{21E72834-ACFA-0C47-150A-AD45169D37A3}"/>
                </a:ext>
              </a:extLst>
            </p:cNvPr>
            <p:cNvPicPr>
              <a:picLocks noChangeAspect="1"/>
            </p:cNvPicPr>
            <p:nvPr/>
          </p:nvPicPr>
          <p:blipFill>
            <a:blip r:embed="rId20"/>
            <a:stretch>
              <a:fillRect/>
            </a:stretch>
          </p:blipFill>
          <p:spPr>
            <a:xfrm>
              <a:off x="5255236" y="2860721"/>
              <a:ext cx="515216" cy="228054"/>
            </a:xfrm>
            <a:prstGeom prst="rect">
              <a:avLst/>
            </a:prstGeom>
          </p:spPr>
        </p:pic>
        <p:sp>
          <p:nvSpPr>
            <p:cNvPr id="28" name="TextBox 27">
              <a:extLst>
                <a:ext uri="{FF2B5EF4-FFF2-40B4-BE49-F238E27FC236}">
                  <a16:creationId xmlns:a16="http://schemas.microsoft.com/office/drawing/2014/main" id="{2BB0EB72-9490-0780-8F8F-362A66443E96}"/>
                </a:ext>
              </a:extLst>
            </p:cNvPr>
            <p:cNvSpPr txBox="1"/>
            <p:nvPr/>
          </p:nvSpPr>
          <p:spPr>
            <a:xfrm>
              <a:off x="4285404" y="1634085"/>
              <a:ext cx="513282"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stay</a:t>
              </a:r>
            </a:p>
          </p:txBody>
        </p:sp>
        <p:sp>
          <p:nvSpPr>
            <p:cNvPr id="29" name="TextBox 28">
              <a:extLst>
                <a:ext uri="{FF2B5EF4-FFF2-40B4-BE49-F238E27FC236}">
                  <a16:creationId xmlns:a16="http://schemas.microsoft.com/office/drawing/2014/main" id="{9ACB2468-2229-86E0-F749-FECDBB7AC682}"/>
                </a:ext>
              </a:extLst>
            </p:cNvPr>
            <p:cNvSpPr txBox="1"/>
            <p:nvPr/>
          </p:nvSpPr>
          <p:spPr>
            <a:xfrm>
              <a:off x="5513685" y="3024403"/>
              <a:ext cx="61266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leave</a:t>
              </a:r>
            </a:p>
          </p:txBody>
        </p:sp>
      </p:grpSp>
      <p:pic>
        <p:nvPicPr>
          <p:cNvPr id="38" name="Graphic 37">
            <a:extLst>
              <a:ext uri="{FF2B5EF4-FFF2-40B4-BE49-F238E27FC236}">
                <a16:creationId xmlns:a16="http://schemas.microsoft.com/office/drawing/2014/main" id="{838A2DD0-67D3-27C2-8B4F-6FDD7C60F070}"/>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814912" y="4294010"/>
            <a:ext cx="1879600" cy="1879600"/>
          </a:xfrm>
          <a:prstGeom prst="rect">
            <a:avLst/>
          </a:prstGeom>
        </p:spPr>
      </p:pic>
      <p:pic>
        <p:nvPicPr>
          <p:cNvPr id="41" name="Picture 40">
            <a:extLst>
              <a:ext uri="{FF2B5EF4-FFF2-40B4-BE49-F238E27FC236}">
                <a16:creationId xmlns:a16="http://schemas.microsoft.com/office/drawing/2014/main" id="{502646EA-8082-DAB6-266E-E2CD7966A1FD}"/>
              </a:ext>
            </a:extLst>
          </p:cNvPr>
          <p:cNvPicPr>
            <a:picLocks noChangeAspect="1"/>
          </p:cNvPicPr>
          <p:nvPr/>
        </p:nvPicPr>
        <p:blipFill>
          <a:blip r:embed="rId23"/>
          <a:stretch>
            <a:fillRect/>
          </a:stretch>
        </p:blipFill>
        <p:spPr>
          <a:xfrm>
            <a:off x="5417724" y="2975428"/>
            <a:ext cx="2002665" cy="514017"/>
          </a:xfrm>
          <a:prstGeom prst="rect">
            <a:avLst/>
          </a:prstGeom>
        </p:spPr>
      </p:pic>
      <p:pic>
        <p:nvPicPr>
          <p:cNvPr id="44" name="Picture 43">
            <a:extLst>
              <a:ext uri="{FF2B5EF4-FFF2-40B4-BE49-F238E27FC236}">
                <a16:creationId xmlns:a16="http://schemas.microsoft.com/office/drawing/2014/main" id="{93DA7372-9A90-0E81-3A32-CE876365CFC4}"/>
              </a:ext>
            </a:extLst>
          </p:cNvPr>
          <p:cNvPicPr>
            <a:picLocks noChangeAspect="1"/>
          </p:cNvPicPr>
          <p:nvPr/>
        </p:nvPicPr>
        <p:blipFill>
          <a:blip r:embed="rId24"/>
          <a:stretch>
            <a:fillRect/>
          </a:stretch>
        </p:blipFill>
        <p:spPr>
          <a:xfrm>
            <a:off x="3750140" y="4918325"/>
            <a:ext cx="829915" cy="351775"/>
          </a:xfrm>
          <a:prstGeom prst="rect">
            <a:avLst/>
          </a:prstGeom>
        </p:spPr>
      </p:pic>
      <p:sp>
        <p:nvSpPr>
          <p:cNvPr id="5" name="TextBox 4">
            <a:extLst>
              <a:ext uri="{FF2B5EF4-FFF2-40B4-BE49-F238E27FC236}">
                <a16:creationId xmlns:a16="http://schemas.microsoft.com/office/drawing/2014/main" id="{E511C188-A215-5F2E-5D3C-3106B858883E}"/>
              </a:ext>
            </a:extLst>
          </p:cNvPr>
          <p:cNvSpPr txBox="1"/>
          <p:nvPr/>
        </p:nvSpPr>
        <p:spPr>
          <a:xfrm>
            <a:off x="2933483" y="190500"/>
            <a:ext cx="306494" cy="369332"/>
          </a:xfrm>
          <a:prstGeom prst="rect">
            <a:avLst/>
          </a:prstGeom>
          <a:noFill/>
        </p:spPr>
        <p:txBody>
          <a:bodyPr wrap="square" rtlCol="0">
            <a:spAutoFit/>
          </a:bodyPr>
          <a:lstStyle/>
          <a:p>
            <a:r>
              <a:rPr lang="en-US" dirty="0"/>
              <a:t>b</a:t>
            </a:r>
          </a:p>
        </p:txBody>
      </p:sp>
      <p:sp>
        <p:nvSpPr>
          <p:cNvPr id="6" name="Rounded Rectangle 5">
            <a:extLst>
              <a:ext uri="{FF2B5EF4-FFF2-40B4-BE49-F238E27FC236}">
                <a16:creationId xmlns:a16="http://schemas.microsoft.com/office/drawing/2014/main" id="{28002405-3500-7D44-3B7E-C828B44B0B62}"/>
              </a:ext>
            </a:extLst>
          </p:cNvPr>
          <p:cNvSpPr>
            <a:spLocks noChangeAspect="1"/>
          </p:cNvSpPr>
          <p:nvPr/>
        </p:nvSpPr>
        <p:spPr>
          <a:xfrm>
            <a:off x="3122094" y="715106"/>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r(1)</a:t>
            </a:r>
          </a:p>
        </p:txBody>
      </p:sp>
      <p:sp>
        <p:nvSpPr>
          <p:cNvPr id="12" name="Rounded Rectangle 11">
            <a:extLst>
              <a:ext uri="{FF2B5EF4-FFF2-40B4-BE49-F238E27FC236}">
                <a16:creationId xmlns:a16="http://schemas.microsoft.com/office/drawing/2014/main" id="{C06BB94A-9F79-66C4-8B26-E3A68BAF7695}"/>
              </a:ext>
            </a:extLst>
          </p:cNvPr>
          <p:cNvSpPr>
            <a:spLocks noChangeAspect="1"/>
          </p:cNvSpPr>
          <p:nvPr/>
        </p:nvSpPr>
        <p:spPr>
          <a:xfrm>
            <a:off x="3835787" y="71985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r(2)</a:t>
            </a:r>
          </a:p>
        </p:txBody>
      </p:sp>
      <p:sp>
        <p:nvSpPr>
          <p:cNvPr id="13" name="Rounded Rectangle 12">
            <a:extLst>
              <a:ext uri="{FF2B5EF4-FFF2-40B4-BE49-F238E27FC236}">
                <a16:creationId xmlns:a16="http://schemas.microsoft.com/office/drawing/2014/main" id="{0341036B-63DD-10F1-75F5-C81C674B2D71}"/>
              </a:ext>
            </a:extLst>
          </p:cNvPr>
          <p:cNvSpPr>
            <a:spLocks noChangeAspect="1"/>
          </p:cNvSpPr>
          <p:nvPr/>
        </p:nvSpPr>
        <p:spPr>
          <a:xfrm>
            <a:off x="4549480" y="71301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r(3)</a:t>
            </a:r>
          </a:p>
        </p:txBody>
      </p:sp>
      <p:sp>
        <p:nvSpPr>
          <p:cNvPr id="14" name="Rounded Rectangle 13">
            <a:extLst>
              <a:ext uri="{FF2B5EF4-FFF2-40B4-BE49-F238E27FC236}">
                <a16:creationId xmlns:a16="http://schemas.microsoft.com/office/drawing/2014/main" id="{04006607-2031-0759-9935-C904B6B84169}"/>
              </a:ext>
            </a:extLst>
          </p:cNvPr>
          <p:cNvSpPr>
            <a:spLocks noChangeAspect="1"/>
          </p:cNvSpPr>
          <p:nvPr/>
        </p:nvSpPr>
        <p:spPr>
          <a:xfrm>
            <a:off x="5413292" y="713011"/>
            <a:ext cx="360000" cy="360000"/>
          </a:xfrm>
          <a:prstGeom prst="roundRect">
            <a:avLst/>
          </a:prstGeom>
          <a:noFill/>
          <a:ln w="38100">
            <a:solidFill>
              <a:srgbClr val="970D53"/>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rtlCol="0" anchor="t"/>
          <a:lstStyle/>
          <a:p>
            <a:pPr algn="ctr"/>
            <a:r>
              <a:rPr lang="en-US" sz="1000" dirty="0">
                <a:solidFill>
                  <a:srgbClr val="970D53"/>
                </a:solidFill>
                <a:latin typeface="Arial" panose="020B0604020202020204" pitchFamily="34" charset="0"/>
                <a:cs typeface="Arial" panose="020B0604020202020204" pitchFamily="34" charset="0"/>
              </a:rPr>
              <a:t>r(n)</a:t>
            </a:r>
          </a:p>
        </p:txBody>
      </p:sp>
      <p:cxnSp>
        <p:nvCxnSpPr>
          <p:cNvPr id="30" name="Straight Arrow Connector 29">
            <a:extLst>
              <a:ext uri="{FF2B5EF4-FFF2-40B4-BE49-F238E27FC236}">
                <a16:creationId xmlns:a16="http://schemas.microsoft.com/office/drawing/2014/main" id="{CC2397D5-695E-7AA7-FFD9-1F0C99A90353}"/>
              </a:ext>
            </a:extLst>
          </p:cNvPr>
          <p:cNvCxnSpPr>
            <a:cxnSpLocks/>
          </p:cNvCxnSpPr>
          <p:nvPr/>
        </p:nvCxnSpPr>
        <p:spPr>
          <a:xfrm>
            <a:off x="3561104" y="899851"/>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AA79E5B-E3C0-3D6B-BA6A-81C219906DBF}"/>
              </a:ext>
            </a:extLst>
          </p:cNvPr>
          <p:cNvCxnSpPr>
            <a:cxnSpLocks/>
          </p:cNvCxnSpPr>
          <p:nvPr/>
        </p:nvCxnSpPr>
        <p:spPr>
          <a:xfrm>
            <a:off x="4273586" y="908123"/>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3123BF3-2BE2-BBC8-09EE-D2A777473C2F}"/>
              </a:ext>
            </a:extLst>
          </p:cNvPr>
          <p:cNvCxnSpPr>
            <a:cxnSpLocks/>
          </p:cNvCxnSpPr>
          <p:nvPr/>
        </p:nvCxnSpPr>
        <p:spPr>
          <a:xfrm>
            <a:off x="4971474" y="899851"/>
            <a:ext cx="215799" cy="0"/>
          </a:xfrm>
          <a:prstGeom prst="straightConnector1">
            <a:avLst/>
          </a:prstGeom>
          <a:ln w="28575">
            <a:solidFill>
              <a:srgbClr val="970D53"/>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71F554C-F97D-BFCE-4B2D-4B9C0CAC6697}"/>
              </a:ext>
            </a:extLst>
          </p:cNvPr>
          <p:cNvSpPr txBox="1"/>
          <p:nvPr/>
        </p:nvSpPr>
        <p:spPr>
          <a:xfrm>
            <a:off x="3459652" y="648329"/>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0" name="TextBox 39">
            <a:extLst>
              <a:ext uri="{FF2B5EF4-FFF2-40B4-BE49-F238E27FC236}">
                <a16:creationId xmlns:a16="http://schemas.microsoft.com/office/drawing/2014/main" id="{B64EC33B-0EE3-9EE2-9B90-CA713139864A}"/>
              </a:ext>
            </a:extLst>
          </p:cNvPr>
          <p:cNvSpPr txBox="1"/>
          <p:nvPr/>
        </p:nvSpPr>
        <p:spPr>
          <a:xfrm>
            <a:off x="4172133" y="650022"/>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2" name="TextBox 41">
            <a:extLst>
              <a:ext uri="{FF2B5EF4-FFF2-40B4-BE49-F238E27FC236}">
                <a16:creationId xmlns:a16="http://schemas.microsoft.com/office/drawing/2014/main" id="{95A1B480-24F9-6610-8DCB-29941C717FA3}"/>
              </a:ext>
            </a:extLst>
          </p:cNvPr>
          <p:cNvSpPr txBox="1"/>
          <p:nvPr/>
        </p:nvSpPr>
        <p:spPr>
          <a:xfrm>
            <a:off x="4888071" y="646533"/>
            <a:ext cx="418704" cy="246221"/>
          </a:xfrm>
          <a:prstGeom prst="rect">
            <a:avLst/>
          </a:prstGeom>
          <a:noFill/>
        </p:spPr>
        <p:txBody>
          <a:bodyPr wrap="square" rtlCol="0">
            <a:spAutoFit/>
          </a:bodyPr>
          <a:lstStyle/>
          <a:p>
            <a:r>
              <a:rPr lang="en-US" sz="1000" dirty="0">
                <a:solidFill>
                  <a:srgbClr val="970D53"/>
                </a:solidFill>
                <a:latin typeface="Arial" panose="020B0604020202020204" pitchFamily="34" charset="0"/>
                <a:cs typeface="Arial" panose="020B0604020202020204" pitchFamily="34" charset="0"/>
              </a:rPr>
              <a:t>stay</a:t>
            </a:r>
          </a:p>
        </p:txBody>
      </p:sp>
      <p:sp>
        <p:nvSpPr>
          <p:cNvPr id="46" name="TextBox 45">
            <a:extLst>
              <a:ext uri="{FF2B5EF4-FFF2-40B4-BE49-F238E27FC236}">
                <a16:creationId xmlns:a16="http://schemas.microsoft.com/office/drawing/2014/main" id="{2486A221-E868-83FE-B161-D61FD939AD8C}"/>
              </a:ext>
            </a:extLst>
          </p:cNvPr>
          <p:cNvSpPr txBox="1"/>
          <p:nvPr/>
        </p:nvSpPr>
        <p:spPr>
          <a:xfrm>
            <a:off x="5135631" y="720803"/>
            <a:ext cx="338554" cy="276999"/>
          </a:xfrm>
          <a:prstGeom prst="rect">
            <a:avLst/>
          </a:prstGeom>
          <a:noFill/>
        </p:spPr>
        <p:txBody>
          <a:bodyPr wrap="square" rtlCol="0">
            <a:spAutoFit/>
          </a:bodyPr>
          <a:lstStyle/>
          <a:p>
            <a:r>
              <a:rPr lang="en-US" sz="1200" dirty="0">
                <a:solidFill>
                  <a:srgbClr val="970D53"/>
                </a:solidFill>
                <a:latin typeface="Arial" panose="020B0604020202020204" pitchFamily="34" charset="0"/>
                <a:cs typeface="Arial" panose="020B0604020202020204" pitchFamily="34" charset="0"/>
              </a:rPr>
              <a:t>…</a:t>
            </a:r>
          </a:p>
        </p:txBody>
      </p:sp>
      <p:sp>
        <p:nvSpPr>
          <p:cNvPr id="47" name="Rounded Rectangle 46">
            <a:extLst>
              <a:ext uri="{FF2B5EF4-FFF2-40B4-BE49-F238E27FC236}">
                <a16:creationId xmlns:a16="http://schemas.microsoft.com/office/drawing/2014/main" id="{D5CA2A84-6793-A04D-5A75-3B4371522AFB}"/>
              </a:ext>
            </a:extLst>
          </p:cNvPr>
          <p:cNvSpPr>
            <a:spLocks noChangeAspect="1"/>
          </p:cNvSpPr>
          <p:nvPr/>
        </p:nvSpPr>
        <p:spPr>
          <a:xfrm>
            <a:off x="3459652" y="161567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3</a:t>
            </a:r>
          </a:p>
        </p:txBody>
      </p:sp>
      <p:sp>
        <p:nvSpPr>
          <p:cNvPr id="48" name="Rounded Rectangle 47">
            <a:extLst>
              <a:ext uri="{FF2B5EF4-FFF2-40B4-BE49-F238E27FC236}">
                <a16:creationId xmlns:a16="http://schemas.microsoft.com/office/drawing/2014/main" id="{7FB9A0A7-6004-3D43-58CF-FC20EA96ADFB}"/>
              </a:ext>
            </a:extLst>
          </p:cNvPr>
          <p:cNvSpPr>
            <a:spLocks noChangeAspect="1"/>
          </p:cNvSpPr>
          <p:nvPr/>
        </p:nvSpPr>
        <p:spPr>
          <a:xfrm>
            <a:off x="4173345" y="160883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2</a:t>
            </a:r>
          </a:p>
        </p:txBody>
      </p:sp>
      <p:sp>
        <p:nvSpPr>
          <p:cNvPr id="49" name="Rounded Rectangle 48">
            <a:extLst>
              <a:ext uri="{FF2B5EF4-FFF2-40B4-BE49-F238E27FC236}">
                <a16:creationId xmlns:a16="http://schemas.microsoft.com/office/drawing/2014/main" id="{E1917DCC-2B54-25DD-A04D-77BA083312E2}"/>
              </a:ext>
            </a:extLst>
          </p:cNvPr>
          <p:cNvSpPr>
            <a:spLocks noChangeAspect="1"/>
          </p:cNvSpPr>
          <p:nvPr/>
        </p:nvSpPr>
        <p:spPr>
          <a:xfrm>
            <a:off x="4887038" y="1608830"/>
            <a:ext cx="360000" cy="360000"/>
          </a:xfrm>
          <a:prstGeom prst="roundRect">
            <a:avLst/>
          </a:prstGeom>
          <a:no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0" rtlCol="0" anchor="t"/>
          <a:lstStyle/>
          <a:p>
            <a:pPr algn="ctr"/>
            <a:r>
              <a:rPr lang="en-US" sz="1000" dirty="0">
                <a:solidFill>
                  <a:schemeClr val="tx1">
                    <a:lumMod val="75000"/>
                    <a:lumOff val="25000"/>
                  </a:schemeClr>
                </a:solidFill>
                <a:latin typeface="Arial" panose="020B0604020202020204" pitchFamily="34" charset="0"/>
                <a:cs typeface="Arial" panose="020B0604020202020204" pitchFamily="34" charset="0"/>
              </a:rPr>
              <a:t>1</a:t>
            </a:r>
          </a:p>
        </p:txBody>
      </p:sp>
      <p:cxnSp>
        <p:nvCxnSpPr>
          <p:cNvPr id="51" name="Straight Arrow Connector 50">
            <a:extLst>
              <a:ext uri="{FF2B5EF4-FFF2-40B4-BE49-F238E27FC236}">
                <a16:creationId xmlns:a16="http://schemas.microsoft.com/office/drawing/2014/main" id="{B960592E-2596-E306-E52E-00D00C745B33}"/>
              </a:ext>
            </a:extLst>
          </p:cNvPr>
          <p:cNvCxnSpPr>
            <a:cxnSpLocks/>
          </p:cNvCxnSpPr>
          <p:nvPr/>
        </p:nvCxnSpPr>
        <p:spPr>
          <a:xfrm flipH="1">
            <a:off x="4600278" y="1780861"/>
            <a:ext cx="217236" cy="0"/>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D7419DA-E14B-43DB-EF59-8BC9DF463D8A}"/>
              </a:ext>
            </a:extLst>
          </p:cNvPr>
          <p:cNvSpPr txBox="1"/>
          <p:nvPr/>
        </p:nvSpPr>
        <p:spPr>
          <a:xfrm>
            <a:off x="5306775" y="1203552"/>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sp>
        <p:nvSpPr>
          <p:cNvPr id="53" name="TextBox 52">
            <a:extLst>
              <a:ext uri="{FF2B5EF4-FFF2-40B4-BE49-F238E27FC236}">
                <a16:creationId xmlns:a16="http://schemas.microsoft.com/office/drawing/2014/main" id="{C256627C-9E71-F210-BC89-651A06EA45DD}"/>
              </a:ext>
            </a:extLst>
          </p:cNvPr>
          <p:cNvSpPr txBox="1"/>
          <p:nvPr/>
        </p:nvSpPr>
        <p:spPr>
          <a:xfrm>
            <a:off x="4848978" y="1080442"/>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sp>
        <p:nvSpPr>
          <p:cNvPr id="55" name="TextBox 54">
            <a:extLst>
              <a:ext uri="{FF2B5EF4-FFF2-40B4-BE49-F238E27FC236}">
                <a16:creationId xmlns:a16="http://schemas.microsoft.com/office/drawing/2014/main" id="{00A6B753-9FF2-D479-8895-E962F10F815D}"/>
              </a:ext>
            </a:extLst>
          </p:cNvPr>
          <p:cNvSpPr txBox="1"/>
          <p:nvPr/>
        </p:nvSpPr>
        <p:spPr>
          <a:xfrm>
            <a:off x="3821054" y="1085400"/>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cxnSp>
        <p:nvCxnSpPr>
          <p:cNvPr id="58" name="Curved Connector 57">
            <a:extLst>
              <a:ext uri="{FF2B5EF4-FFF2-40B4-BE49-F238E27FC236}">
                <a16:creationId xmlns:a16="http://schemas.microsoft.com/office/drawing/2014/main" id="{C873F6B3-BF2C-55BA-7CBF-0B40767B6EF8}"/>
              </a:ext>
            </a:extLst>
          </p:cNvPr>
          <p:cNvCxnSpPr>
            <a:cxnSpLocks/>
          </p:cNvCxnSpPr>
          <p:nvPr/>
        </p:nvCxnSpPr>
        <p:spPr>
          <a:xfrm rot="10800000">
            <a:off x="3294765" y="1156335"/>
            <a:ext cx="84663" cy="652598"/>
          </a:xfrm>
          <a:prstGeom prst="curvedConnector2">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1B16FE8-7DE8-F407-EDC8-25CFD8EF250D}"/>
              </a:ext>
            </a:extLst>
          </p:cNvPr>
          <p:cNvCxnSpPr>
            <a:cxnSpLocks/>
          </p:cNvCxnSpPr>
          <p:nvPr/>
        </p:nvCxnSpPr>
        <p:spPr>
          <a:xfrm flipH="1">
            <a:off x="3887797" y="1795670"/>
            <a:ext cx="217236" cy="0"/>
          </a:xfrm>
          <a:prstGeom prst="straightConnector1">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893D8961-FD7B-646E-2FBB-8CCA4CE32D2B}"/>
              </a:ext>
            </a:extLst>
          </p:cNvPr>
          <p:cNvCxnSpPr>
            <a:cxnSpLocks/>
          </p:cNvCxnSpPr>
          <p:nvPr/>
        </p:nvCxnSpPr>
        <p:spPr>
          <a:xfrm>
            <a:off x="3514769" y="1129305"/>
            <a:ext cx="1302745" cy="506368"/>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B90F06C0-A11D-76E3-1545-F7EF83A995B2}"/>
              </a:ext>
            </a:extLst>
          </p:cNvPr>
          <p:cNvCxnSpPr>
            <a:cxnSpLocks/>
          </p:cNvCxnSpPr>
          <p:nvPr/>
        </p:nvCxnSpPr>
        <p:spPr>
          <a:xfrm>
            <a:off x="4220470" y="1111997"/>
            <a:ext cx="647560" cy="446871"/>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F50FB54D-1BBF-A214-49ED-2472D306804E}"/>
              </a:ext>
            </a:extLst>
          </p:cNvPr>
          <p:cNvCxnSpPr>
            <a:cxnSpLocks/>
          </p:cNvCxnSpPr>
          <p:nvPr/>
        </p:nvCxnSpPr>
        <p:spPr>
          <a:xfrm>
            <a:off x="4866903" y="1110756"/>
            <a:ext cx="112028" cy="431815"/>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062B7E03-AF57-A7D8-37C3-E9788426696E}"/>
              </a:ext>
            </a:extLst>
          </p:cNvPr>
          <p:cNvCxnSpPr>
            <a:cxnSpLocks/>
          </p:cNvCxnSpPr>
          <p:nvPr/>
        </p:nvCxnSpPr>
        <p:spPr>
          <a:xfrm flipH="1">
            <a:off x="5126156" y="1119859"/>
            <a:ext cx="315794" cy="435243"/>
          </a:xfrm>
          <a:prstGeom prst="straightConnector1">
            <a:avLst/>
          </a:prstGeom>
          <a:ln w="12700">
            <a:solidFill>
              <a:schemeClr val="tx1">
                <a:lumMod val="65000"/>
                <a:lumOff val="35000"/>
              </a:schemeClr>
            </a:solidFill>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D3889A16-0DF0-5ACD-F6F5-B45781D888E6}"/>
              </a:ext>
            </a:extLst>
          </p:cNvPr>
          <p:cNvSpPr txBox="1"/>
          <p:nvPr/>
        </p:nvSpPr>
        <p:spPr>
          <a:xfrm>
            <a:off x="4383395" y="1085401"/>
            <a:ext cx="489236" cy="246221"/>
          </a:xfrm>
          <a:prstGeom prst="rect">
            <a:avLst/>
          </a:prstGeom>
          <a:noFill/>
        </p:spPr>
        <p:txBody>
          <a:bodyPr wrap="square" rtlCol="0">
            <a:spAutoFit/>
          </a:bodyPr>
          <a:lstStyle/>
          <a:p>
            <a:r>
              <a:rPr lang="en-US" sz="1000" dirty="0">
                <a:solidFill>
                  <a:schemeClr val="tx1">
                    <a:lumMod val="75000"/>
                    <a:lumOff val="25000"/>
                  </a:schemeClr>
                </a:solidFill>
                <a:latin typeface="Arial" panose="020B0604020202020204" pitchFamily="34" charset="0"/>
                <a:cs typeface="Arial" panose="020B0604020202020204" pitchFamily="34" charset="0"/>
              </a:rPr>
              <a:t>leave</a:t>
            </a:r>
          </a:p>
        </p:txBody>
      </p:sp>
      <p:cxnSp>
        <p:nvCxnSpPr>
          <p:cNvPr id="119" name="Straight Connector 118">
            <a:extLst>
              <a:ext uri="{FF2B5EF4-FFF2-40B4-BE49-F238E27FC236}">
                <a16:creationId xmlns:a16="http://schemas.microsoft.com/office/drawing/2014/main" id="{965E4A07-60AA-A096-BD77-329FD28B6E93}"/>
              </a:ext>
            </a:extLst>
          </p:cNvPr>
          <p:cNvCxnSpPr>
            <a:cxnSpLocks/>
          </p:cNvCxnSpPr>
          <p:nvPr/>
        </p:nvCxnSpPr>
        <p:spPr>
          <a:xfrm flipH="1" flipV="1">
            <a:off x="5023565" y="467209"/>
            <a:ext cx="569727" cy="245802"/>
          </a:xfrm>
          <a:prstGeom prst="line">
            <a:avLst/>
          </a:prstGeom>
          <a:ln w="12700">
            <a:solidFill>
              <a:srgbClr val="970D53">
                <a:alpha val="40000"/>
              </a:srgbClr>
            </a:solidFill>
            <a:prstDash val="sysDash"/>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F02D274-D82E-2B3D-42F0-E526CA14CA9B}"/>
              </a:ext>
            </a:extLst>
          </p:cNvPr>
          <p:cNvCxnSpPr>
            <a:cxnSpLocks/>
          </p:cNvCxnSpPr>
          <p:nvPr/>
        </p:nvCxnSpPr>
        <p:spPr>
          <a:xfrm flipV="1">
            <a:off x="5593292" y="503963"/>
            <a:ext cx="1129616" cy="209048"/>
          </a:xfrm>
          <a:prstGeom prst="line">
            <a:avLst/>
          </a:prstGeom>
          <a:ln w="12700">
            <a:solidFill>
              <a:srgbClr val="970D53">
                <a:alpha val="40000"/>
              </a:srgb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DC8CF38D-2A6A-5DC6-FB31-7B255628D312}"/>
                  </a:ext>
                </a:extLst>
              </p:cNvPr>
              <p:cNvSpPr txBox="1"/>
              <p:nvPr/>
            </p:nvSpPr>
            <p:spPr>
              <a:xfrm>
                <a:off x="5009373" y="46817"/>
                <a:ext cx="1752879" cy="457146"/>
              </a:xfrm>
              <a:prstGeom prst="roundRect">
                <a:avLst/>
              </a:prstGeom>
              <a:solidFill>
                <a:srgbClr val="970D53">
                  <a:alpha val="29804"/>
                </a:srgbClr>
              </a:solidFill>
              <a:ln>
                <a:noFill/>
              </a:ln>
            </p:spPr>
            <p:txBody>
              <a:bodyPr wrap="square" lIns="90000" rtlCol="0">
                <a:spAutoFit/>
              </a:bodyPr>
              <a:lstStyle/>
              <a:p>
                <a:pPr/>
                <a14:m>
                  <m:oMathPara xmlns:m="http://schemas.openxmlformats.org/officeDocument/2006/math">
                    <m:oMathParaPr>
                      <m:jc m:val="centerGroup"/>
                    </m:oMathParaPr>
                    <m:oMath xmlns:m="http://schemas.openxmlformats.org/officeDocument/2006/math">
                      <m:r>
                        <m:rPr>
                          <m:nor/>
                        </m:rPr>
                        <a:rPr lang="en-GB" sz="1000" b="0" i="0" smtClean="0">
                          <a:latin typeface="Arial" panose="020B0604020202020204" pitchFamily="34" charset="0"/>
                          <a:cs typeface="Arial" panose="020B0604020202020204" pitchFamily="34" charset="0"/>
                        </a:rPr>
                        <m:t>p</m:t>
                      </m:r>
                      <m:d>
                        <m:dPr>
                          <m:ctrlPr>
                            <a:rPr lang="en-GB" sz="1000" b="0" i="1" smtClean="0">
                              <a:latin typeface="Cambria Math" panose="02040503050406030204" pitchFamily="18" charset="0"/>
                            </a:rPr>
                          </m:ctrlPr>
                        </m:dPr>
                        <m:e>
                          <m:r>
                            <m:rPr>
                              <m:nor/>
                            </m:rPr>
                            <a:rPr lang="en-GB" sz="1000" b="0" i="0" smtClean="0">
                              <a:latin typeface="Arial" panose="020B0604020202020204" pitchFamily="34" charset="0"/>
                              <a:cs typeface="Arial" panose="020B0604020202020204" pitchFamily="34" charset="0"/>
                            </a:rPr>
                            <m:t>leave</m:t>
                          </m:r>
                        </m:e>
                        <m:e>
                          <m:r>
                            <m:rPr>
                              <m:nor/>
                            </m:rPr>
                            <a:rPr lang="en-GB" sz="1000" b="0" i="0" smtClean="0">
                              <a:latin typeface="Arial" panose="020B0604020202020204" pitchFamily="34" charset="0"/>
                              <a:cs typeface="Arial" panose="020B0604020202020204" pitchFamily="34" charset="0"/>
                            </a:rPr>
                            <m:t>n</m:t>
                          </m:r>
                        </m:e>
                      </m:d>
                      <m:r>
                        <m:rPr>
                          <m:nor/>
                        </m:rPr>
                        <a:rPr lang="en-GB" sz="1000" b="0" i="0" smtClean="0">
                          <a:latin typeface="Cambria Math" panose="02040503050406030204" pitchFamily="18" charset="0"/>
                        </a:rPr>
                        <m:t> </m:t>
                      </m:r>
                      <m:r>
                        <m:rPr>
                          <m:nor/>
                        </m:rPr>
                        <a:rPr lang="en-GB" sz="1000" b="0" i="0" smtClean="0">
                          <a:latin typeface="Arial" panose="020B0604020202020204" pitchFamily="34" charset="0"/>
                          <a:cs typeface="Arial" panose="020B0604020202020204" pitchFamily="34" charset="0"/>
                        </a:rPr>
                        <m:t>=</m:t>
                      </m:r>
                      <m:f>
                        <m:fPr>
                          <m:ctrlPr>
                            <a:rPr lang="en-GB" sz="1000" b="0" i="1" smtClean="0">
                              <a:latin typeface="Cambria Math" panose="02040503050406030204" pitchFamily="18" charset="0"/>
                            </a:rPr>
                          </m:ctrlPr>
                        </m:fPr>
                        <m:num>
                          <m:r>
                            <m:rPr>
                              <m:nor/>
                            </m:rPr>
                            <a:rPr lang="en-GB" sz="1000" b="0" i="0" smtClean="0">
                              <a:latin typeface="Arial" panose="020B0604020202020204" pitchFamily="34" charset="0"/>
                              <a:cs typeface="Arial" panose="020B0604020202020204" pitchFamily="34" charset="0"/>
                            </a:rPr>
                            <m:t>1</m:t>
                          </m:r>
                        </m:num>
                        <m:den>
                          <m:r>
                            <a:rPr lang="en-GB" sz="1000" b="0" i="1" smtClean="0">
                              <a:latin typeface="Cambria Math" panose="02040503050406030204" pitchFamily="18" charset="0"/>
                            </a:rPr>
                            <m:t> </m:t>
                          </m:r>
                          <m:r>
                            <m:rPr>
                              <m:nor/>
                            </m:rPr>
                            <a:rPr lang="en-GB" sz="1000" b="0" i="0" smtClean="0">
                              <a:latin typeface="Arial" panose="020B0604020202020204" pitchFamily="34" charset="0"/>
                              <a:cs typeface="Arial" panose="020B0604020202020204" pitchFamily="34" charset="0"/>
                            </a:rPr>
                            <m:t>1 + </m:t>
                          </m:r>
                          <m:r>
                            <m:rPr>
                              <m:nor/>
                            </m:rPr>
                            <a:rPr lang="en-GB" sz="1000" b="0" i="0" smtClean="0">
                              <a:latin typeface="Arial" panose="020B0604020202020204" pitchFamily="34" charset="0"/>
                              <a:cs typeface="Arial" panose="020B0604020202020204" pitchFamily="34" charset="0"/>
                            </a:rPr>
                            <m:t>exp</m:t>
                          </m:r>
                          <m:r>
                            <m:rPr>
                              <m:nor/>
                            </m:rPr>
                            <a:rPr lang="en-GB" sz="1000" b="0" i="0" smtClean="0">
                              <a:latin typeface="Arial" panose="020B0604020202020204" pitchFamily="34" charset="0"/>
                              <a:cs typeface="Arial" panose="020B0604020202020204" pitchFamily="34" charset="0"/>
                            </a:rPr>
                            <m:t>(</m:t>
                          </m:r>
                          <m:r>
                            <m:rPr>
                              <m:nor/>
                            </m:rPr>
                            <a:rPr lang="en-GB" sz="1000" b="0" i="0" smtClean="0">
                              <a:latin typeface="Arial" panose="020B0604020202020204" pitchFamily="34" charset="0"/>
                              <a:ea typeface="Cambria Math" panose="02040503050406030204" pitchFamily="18" charset="0"/>
                              <a:cs typeface="Arial" panose="020B0604020202020204" pitchFamily="34" charset="0"/>
                            </a:rPr>
                            <m:t>βr</m:t>
                          </m:r>
                          <m:d>
                            <m:dPr>
                              <m:ctrlPr>
                                <a:rPr lang="en-GB" sz="1000" b="0" i="1" smtClean="0">
                                  <a:latin typeface="Cambria Math" panose="02040503050406030204" pitchFamily="18" charset="0"/>
                                  <a:ea typeface="Cambria Math" panose="02040503050406030204" pitchFamily="18" charset="0"/>
                                </a:rPr>
                              </m:ctrlPr>
                            </m:dPr>
                            <m:e>
                              <m:r>
                                <m:rPr>
                                  <m:nor/>
                                </m:rPr>
                                <a:rPr lang="en-GB" sz="1000" b="0" i="0" smtClean="0">
                                  <a:latin typeface="Arial" panose="020B0604020202020204" pitchFamily="34" charset="0"/>
                                  <a:ea typeface="Cambria Math" panose="02040503050406030204" pitchFamily="18" charset="0"/>
                                  <a:cs typeface="Arial" panose="020B0604020202020204" pitchFamily="34" charset="0"/>
                                </a:rPr>
                                <m:t>n</m:t>
                              </m:r>
                            </m:e>
                          </m:d>
                          <m:r>
                            <m:rPr>
                              <m:nor/>
                            </m:rPr>
                            <a:rPr lang="en-GB" sz="1000" b="0" i="0" smtClean="0">
                              <a:latin typeface="Arial" panose="020B0604020202020204" pitchFamily="34" charset="0"/>
                              <a:ea typeface="Cambria Math" panose="02040503050406030204" pitchFamily="18" charset="0"/>
                              <a:cs typeface="Arial" panose="020B0604020202020204" pitchFamily="34" charset="0"/>
                            </a:rPr>
                            <m:t>)</m:t>
                          </m:r>
                        </m:den>
                      </m:f>
                      <m:r>
                        <m:rPr>
                          <m:nor/>
                        </m:rPr>
                        <a:rPr lang="en-GB" sz="1000" b="0" i="0" smtClean="0">
                          <a:latin typeface="Arial" panose="020B0604020202020204" pitchFamily="34" charset="0"/>
                          <a:cs typeface="Arial" panose="020B0604020202020204" pitchFamily="34" charset="0"/>
                        </a:rPr>
                        <m:t> </m:t>
                      </m:r>
                    </m:oMath>
                  </m:oMathPara>
                </a14:m>
                <a:endParaRPr lang="en-US" sz="1000" dirty="0">
                  <a:latin typeface="Arial" panose="020B0604020202020204" pitchFamily="34" charset="0"/>
                  <a:cs typeface="Arial" panose="020B0604020202020204" pitchFamily="34" charset="0"/>
                </a:endParaRPr>
              </a:p>
            </p:txBody>
          </p:sp>
        </mc:Choice>
        <mc:Fallback xmlns="">
          <p:sp>
            <p:nvSpPr>
              <p:cNvPr id="124" name="TextBox 123">
                <a:extLst>
                  <a:ext uri="{FF2B5EF4-FFF2-40B4-BE49-F238E27FC236}">
                    <a16:creationId xmlns:a16="http://schemas.microsoft.com/office/drawing/2014/main" id="{DC8CF38D-2A6A-5DC6-FB31-7B255628D312}"/>
                  </a:ext>
                </a:extLst>
              </p:cNvPr>
              <p:cNvSpPr txBox="1">
                <a:spLocks noRot="1" noChangeAspect="1" noMove="1" noResize="1" noEditPoints="1" noAdjustHandles="1" noChangeArrowheads="1" noChangeShapeType="1" noTextEdit="1"/>
              </p:cNvSpPr>
              <p:nvPr/>
            </p:nvSpPr>
            <p:spPr>
              <a:xfrm>
                <a:off x="5009373" y="46817"/>
                <a:ext cx="1752879" cy="457146"/>
              </a:xfrm>
              <a:prstGeom prst="roundRect">
                <a:avLst/>
              </a:prstGeom>
              <a:blipFill>
                <a:blip r:embed="rId25"/>
                <a:stretch>
                  <a:fillRect r="-719"/>
                </a:stretch>
              </a:blipFill>
              <a:ln>
                <a:noFill/>
              </a:ln>
            </p:spPr>
            <p:txBody>
              <a:bodyPr/>
              <a:lstStyle/>
              <a:p>
                <a:r>
                  <a:rPr lang="en-US">
                    <a:noFill/>
                  </a:rPr>
                  <a:t> </a:t>
                </a:r>
              </a:p>
            </p:txBody>
          </p:sp>
        </mc:Fallback>
      </mc:AlternateContent>
      <p:sp>
        <p:nvSpPr>
          <p:cNvPr id="138" name="TextBox 137">
            <a:extLst>
              <a:ext uri="{FF2B5EF4-FFF2-40B4-BE49-F238E27FC236}">
                <a16:creationId xmlns:a16="http://schemas.microsoft.com/office/drawing/2014/main" id="{483A38F3-B8EA-48CC-5C69-0B04A7099C68}"/>
              </a:ext>
            </a:extLst>
          </p:cNvPr>
          <p:cNvSpPr txBox="1"/>
          <p:nvPr/>
        </p:nvSpPr>
        <p:spPr>
          <a:xfrm>
            <a:off x="3078401" y="409946"/>
            <a:ext cx="577402" cy="246221"/>
          </a:xfrm>
          <a:prstGeom prst="rect">
            <a:avLst/>
          </a:prstGeom>
          <a:noFill/>
        </p:spPr>
        <p:txBody>
          <a:bodyPr wrap="square" rtlCol="0">
            <a:spAutoFit/>
          </a:bodyPr>
          <a:lstStyle/>
          <a:p>
            <a:r>
              <a:rPr lang="en-US" sz="1000" b="1" dirty="0">
                <a:solidFill>
                  <a:srgbClr val="970D53"/>
                </a:solidFill>
                <a:latin typeface="Arial" panose="020B0604020202020204" pitchFamily="34" charset="0"/>
                <a:cs typeface="Arial" panose="020B0604020202020204" pitchFamily="34" charset="0"/>
              </a:rPr>
              <a:t>Patch</a:t>
            </a:r>
          </a:p>
        </p:txBody>
      </p:sp>
      <p:sp>
        <p:nvSpPr>
          <p:cNvPr id="139" name="TextBox 138">
            <a:extLst>
              <a:ext uri="{FF2B5EF4-FFF2-40B4-BE49-F238E27FC236}">
                <a16:creationId xmlns:a16="http://schemas.microsoft.com/office/drawing/2014/main" id="{F74A5A75-A07D-3F5A-11AB-E15988AB0009}"/>
              </a:ext>
            </a:extLst>
          </p:cNvPr>
          <p:cNvSpPr txBox="1"/>
          <p:nvPr/>
        </p:nvSpPr>
        <p:spPr>
          <a:xfrm>
            <a:off x="3429000" y="2073182"/>
            <a:ext cx="605359" cy="246221"/>
          </a:xfrm>
          <a:prstGeom prst="rect">
            <a:avLst/>
          </a:prstGeom>
          <a:noFill/>
        </p:spPr>
        <p:txBody>
          <a:bodyPr wrap="square" rtlCol="0">
            <a:spAutoFit/>
          </a:bodyPr>
          <a:lstStyle/>
          <a:p>
            <a:r>
              <a:rPr lang="en-US" sz="1000" b="1" dirty="0">
                <a:solidFill>
                  <a:schemeClr val="tx1">
                    <a:lumMod val="75000"/>
                    <a:lumOff val="25000"/>
                  </a:schemeClr>
                </a:solidFill>
                <a:latin typeface="Arial" panose="020B0604020202020204" pitchFamily="34" charset="0"/>
                <a:cs typeface="Arial" panose="020B0604020202020204" pitchFamily="34" charset="0"/>
              </a:rPr>
              <a:t>Travel</a:t>
            </a:r>
          </a:p>
        </p:txBody>
      </p:sp>
      <p:sp>
        <p:nvSpPr>
          <p:cNvPr id="152" name="Left Bracket 151">
            <a:extLst>
              <a:ext uri="{FF2B5EF4-FFF2-40B4-BE49-F238E27FC236}">
                <a16:creationId xmlns:a16="http://schemas.microsoft.com/office/drawing/2014/main" id="{769A9F7B-D879-1985-E77C-1AFD112E9D83}"/>
              </a:ext>
            </a:extLst>
          </p:cNvPr>
          <p:cNvSpPr/>
          <p:nvPr/>
        </p:nvSpPr>
        <p:spPr>
          <a:xfrm rot="5400000">
            <a:off x="3987448" y="-230789"/>
            <a:ext cx="67763" cy="1791437"/>
          </a:xfrm>
          <a:prstGeom prst="leftBracket">
            <a:avLst/>
          </a:prstGeom>
          <a:ln w="12700">
            <a:solidFill>
              <a:srgbClr val="970D5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3" name="Left Bracket 152">
            <a:extLst>
              <a:ext uri="{FF2B5EF4-FFF2-40B4-BE49-F238E27FC236}">
                <a16:creationId xmlns:a16="http://schemas.microsoft.com/office/drawing/2014/main" id="{F90536CE-4C18-022A-94E0-AD47B2A9F7ED}"/>
              </a:ext>
            </a:extLst>
          </p:cNvPr>
          <p:cNvSpPr/>
          <p:nvPr/>
        </p:nvSpPr>
        <p:spPr>
          <a:xfrm rot="16200000">
            <a:off x="4321672" y="1165204"/>
            <a:ext cx="67763" cy="1791437"/>
          </a:xfrm>
          <a:prstGeom prst="leftBracket">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7975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a:extLst>
              <a:ext uri="{FF2B5EF4-FFF2-40B4-BE49-F238E27FC236}">
                <a16:creationId xmlns:a16="http://schemas.microsoft.com/office/drawing/2014/main" id="{48AB627D-D99B-75D4-B278-722995E71B6C}"/>
              </a:ext>
            </a:extLst>
          </p:cNvPr>
          <p:cNvSpPr txBox="1"/>
          <p:nvPr/>
        </p:nvSpPr>
        <p:spPr>
          <a:xfrm>
            <a:off x="723900" y="5247163"/>
            <a:ext cx="6134100" cy="430887"/>
          </a:xfrm>
          <a:prstGeom prst="rect">
            <a:avLst/>
          </a:prstGeom>
          <a:noFill/>
        </p:spPr>
        <p:txBody>
          <a:bodyPr wrap="square" rtlCol="0">
            <a:spAutoFit/>
          </a:bodyPr>
          <a:lstStyle/>
          <a:p>
            <a:r>
              <a:rPr lang="en-US" sz="1100" b="1" dirty="0"/>
              <a:t>a-c</a:t>
            </a:r>
            <a:r>
              <a:rPr lang="en-US" sz="1100" dirty="0"/>
              <a:t> Expected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a:p>
            <a:r>
              <a:rPr lang="en-US" sz="1100" b="1" dirty="0"/>
              <a:t>d-f</a:t>
            </a:r>
            <a:r>
              <a:rPr lang="en-US" sz="1100" dirty="0"/>
              <a:t> SD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p:txBody>
      </p:sp>
      <p:sp>
        <p:nvSpPr>
          <p:cNvPr id="88" name="TextBox 87">
            <a:extLst>
              <a:ext uri="{FF2B5EF4-FFF2-40B4-BE49-F238E27FC236}">
                <a16:creationId xmlns:a16="http://schemas.microsoft.com/office/drawing/2014/main" id="{790669AD-18F8-09A4-DD66-6FFFCAFE6BE7}"/>
              </a:ext>
            </a:extLst>
          </p:cNvPr>
          <p:cNvSpPr txBox="1"/>
          <p:nvPr/>
        </p:nvSpPr>
        <p:spPr>
          <a:xfrm>
            <a:off x="526698" y="147251"/>
            <a:ext cx="5540147" cy="369332"/>
          </a:xfrm>
          <a:prstGeom prst="rect">
            <a:avLst/>
          </a:prstGeom>
          <a:noFill/>
        </p:spPr>
        <p:txBody>
          <a:bodyPr wrap="square" rtlCol="0">
            <a:spAutoFit/>
          </a:bodyPr>
          <a:lstStyle/>
          <a:p>
            <a:r>
              <a:rPr lang="en-US" b="1" dirty="0"/>
              <a:t>Supplementary</a:t>
            </a:r>
            <a:r>
              <a:rPr lang="en-US" dirty="0"/>
              <a:t> Figure 1: Model predictions  </a:t>
            </a:r>
          </a:p>
        </p:txBody>
      </p:sp>
      <p:pic>
        <p:nvPicPr>
          <p:cNvPr id="19" name="Graphic 18">
            <a:extLst>
              <a:ext uri="{FF2B5EF4-FFF2-40B4-BE49-F238E27FC236}">
                <a16:creationId xmlns:a16="http://schemas.microsoft.com/office/drawing/2014/main" id="{3E63BA05-1459-C323-8414-877E6743D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449" y="912191"/>
            <a:ext cx="1879600" cy="1879600"/>
          </a:xfrm>
          <a:prstGeom prst="rect">
            <a:avLst/>
          </a:prstGeom>
        </p:spPr>
      </p:pic>
      <p:pic>
        <p:nvPicPr>
          <p:cNvPr id="21" name="Graphic 20">
            <a:extLst>
              <a:ext uri="{FF2B5EF4-FFF2-40B4-BE49-F238E27FC236}">
                <a16:creationId xmlns:a16="http://schemas.microsoft.com/office/drawing/2014/main" id="{7B804826-F6AD-79D6-F35A-A52EBD663F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19788" y="912191"/>
            <a:ext cx="1879600" cy="1879600"/>
          </a:xfrm>
          <a:prstGeom prst="rect">
            <a:avLst/>
          </a:prstGeom>
        </p:spPr>
      </p:pic>
      <p:pic>
        <p:nvPicPr>
          <p:cNvPr id="23" name="Graphic 22">
            <a:extLst>
              <a:ext uri="{FF2B5EF4-FFF2-40B4-BE49-F238E27FC236}">
                <a16:creationId xmlns:a16="http://schemas.microsoft.com/office/drawing/2014/main" id="{9493110D-728D-1693-20F2-66937DACFF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7127" y="840630"/>
            <a:ext cx="1879600" cy="1879600"/>
          </a:xfrm>
          <a:prstGeom prst="rect">
            <a:avLst/>
          </a:prstGeom>
        </p:spPr>
      </p:pic>
      <p:pic>
        <p:nvPicPr>
          <p:cNvPr id="33" name="Graphic 32">
            <a:extLst>
              <a:ext uri="{FF2B5EF4-FFF2-40B4-BE49-F238E27FC236}">
                <a16:creationId xmlns:a16="http://schemas.microsoft.com/office/drawing/2014/main" id="{DC08BFD2-1F73-F5DE-E215-E8D2949E4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19788" y="3187399"/>
            <a:ext cx="1879600" cy="1879600"/>
          </a:xfrm>
          <a:prstGeom prst="rect">
            <a:avLst/>
          </a:prstGeom>
        </p:spPr>
      </p:pic>
      <p:pic>
        <p:nvPicPr>
          <p:cNvPr id="35" name="Graphic 34">
            <a:extLst>
              <a:ext uri="{FF2B5EF4-FFF2-40B4-BE49-F238E27FC236}">
                <a16:creationId xmlns:a16="http://schemas.microsoft.com/office/drawing/2014/main" id="{957CE53A-E03D-B0DC-BCD7-2FD09039A2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7127" y="3225358"/>
            <a:ext cx="1879600" cy="1879600"/>
          </a:xfrm>
          <a:prstGeom prst="rect">
            <a:avLst/>
          </a:prstGeom>
        </p:spPr>
      </p:pic>
      <p:pic>
        <p:nvPicPr>
          <p:cNvPr id="37" name="Graphic 36">
            <a:extLst>
              <a:ext uri="{FF2B5EF4-FFF2-40B4-BE49-F238E27FC236}">
                <a16:creationId xmlns:a16="http://schemas.microsoft.com/office/drawing/2014/main" id="{A4CC35F2-45A0-EDCA-E1B5-0883BECF940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2449" y="3187399"/>
            <a:ext cx="1879600" cy="1879600"/>
          </a:xfrm>
          <a:prstGeom prst="rect">
            <a:avLst/>
          </a:prstGeom>
        </p:spPr>
      </p:pic>
      <p:sp>
        <p:nvSpPr>
          <p:cNvPr id="38" name="TextBox 37">
            <a:extLst>
              <a:ext uri="{FF2B5EF4-FFF2-40B4-BE49-F238E27FC236}">
                <a16:creationId xmlns:a16="http://schemas.microsoft.com/office/drawing/2014/main" id="{5710D652-9A46-F948-4F45-BCBA26BBE6A5}"/>
              </a:ext>
            </a:extLst>
          </p:cNvPr>
          <p:cNvSpPr txBox="1"/>
          <p:nvPr/>
        </p:nvSpPr>
        <p:spPr>
          <a:xfrm>
            <a:off x="1144972" y="634475"/>
            <a:ext cx="1050288" cy="369332"/>
          </a:xfrm>
          <a:prstGeom prst="rect">
            <a:avLst/>
          </a:prstGeom>
          <a:noFill/>
        </p:spPr>
        <p:txBody>
          <a:bodyPr wrap="none" rtlCol="0">
            <a:spAutoFit/>
          </a:bodyPr>
          <a:lstStyle/>
          <a:p>
            <a:r>
              <a:rPr lang="en-US" dirty="0"/>
              <a:t>𝜺 = 0.001</a:t>
            </a:r>
          </a:p>
        </p:txBody>
      </p:sp>
      <p:sp>
        <p:nvSpPr>
          <p:cNvPr id="39" name="TextBox 38">
            <a:extLst>
              <a:ext uri="{FF2B5EF4-FFF2-40B4-BE49-F238E27FC236}">
                <a16:creationId xmlns:a16="http://schemas.microsoft.com/office/drawing/2014/main" id="{3785D0D0-E534-59D2-2ED2-5CFEDD02AD75}"/>
              </a:ext>
            </a:extLst>
          </p:cNvPr>
          <p:cNvSpPr txBox="1"/>
          <p:nvPr/>
        </p:nvSpPr>
        <p:spPr>
          <a:xfrm>
            <a:off x="3324315" y="634475"/>
            <a:ext cx="933269" cy="369332"/>
          </a:xfrm>
          <a:prstGeom prst="rect">
            <a:avLst/>
          </a:prstGeom>
          <a:noFill/>
        </p:spPr>
        <p:txBody>
          <a:bodyPr wrap="none" rtlCol="0">
            <a:spAutoFit/>
          </a:bodyPr>
          <a:lstStyle/>
          <a:p>
            <a:r>
              <a:rPr lang="en-US" dirty="0"/>
              <a:t>𝜺 = 0.01</a:t>
            </a:r>
          </a:p>
        </p:txBody>
      </p:sp>
      <p:sp>
        <p:nvSpPr>
          <p:cNvPr id="40" name="TextBox 39">
            <a:extLst>
              <a:ext uri="{FF2B5EF4-FFF2-40B4-BE49-F238E27FC236}">
                <a16:creationId xmlns:a16="http://schemas.microsoft.com/office/drawing/2014/main" id="{EFDBD082-D664-31E6-1416-6D7E3B163159}"/>
              </a:ext>
            </a:extLst>
          </p:cNvPr>
          <p:cNvSpPr txBox="1"/>
          <p:nvPr/>
        </p:nvSpPr>
        <p:spPr>
          <a:xfrm>
            <a:off x="5386639" y="627484"/>
            <a:ext cx="933269" cy="369332"/>
          </a:xfrm>
          <a:prstGeom prst="rect">
            <a:avLst/>
          </a:prstGeom>
          <a:noFill/>
        </p:spPr>
        <p:txBody>
          <a:bodyPr wrap="none" rtlCol="0">
            <a:spAutoFit/>
          </a:bodyPr>
          <a:lstStyle/>
          <a:p>
            <a:r>
              <a:rPr lang="en-US" dirty="0"/>
              <a:t>𝜺 = 0.04</a:t>
            </a:r>
          </a:p>
        </p:txBody>
      </p:sp>
      <p:sp>
        <p:nvSpPr>
          <p:cNvPr id="2" name="TextBox 1">
            <a:extLst>
              <a:ext uri="{FF2B5EF4-FFF2-40B4-BE49-F238E27FC236}">
                <a16:creationId xmlns:a16="http://schemas.microsoft.com/office/drawing/2014/main" id="{E1722649-8B0D-70AC-A6F8-B8E24BD9FECF}"/>
              </a:ext>
            </a:extLst>
          </p:cNvPr>
          <p:cNvSpPr txBox="1"/>
          <p:nvPr/>
        </p:nvSpPr>
        <p:spPr>
          <a:xfrm>
            <a:off x="639097" y="6341806"/>
            <a:ext cx="4624086" cy="369332"/>
          </a:xfrm>
          <a:prstGeom prst="rect">
            <a:avLst/>
          </a:prstGeom>
          <a:noFill/>
        </p:spPr>
        <p:txBody>
          <a:bodyPr wrap="none" rtlCol="0">
            <a:spAutoFit/>
          </a:bodyPr>
          <a:lstStyle/>
          <a:p>
            <a:r>
              <a:rPr lang="en-US" dirty="0"/>
              <a:t>To do: reward rate predictions for each dataset </a:t>
            </a:r>
          </a:p>
        </p:txBody>
      </p:sp>
    </p:spTree>
    <p:extLst>
      <p:ext uri="{BB962C8B-B14F-4D97-AF65-F5344CB8AC3E}">
        <p14:creationId xmlns:p14="http://schemas.microsoft.com/office/powerpoint/2010/main" val="342613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48A07-F88B-C006-FA46-0BB44CA9A224}"/>
              </a:ext>
            </a:extLst>
          </p:cNvPr>
          <p:cNvSpPr txBox="1"/>
          <p:nvPr/>
        </p:nvSpPr>
        <p:spPr>
          <a:xfrm>
            <a:off x="421419" y="970059"/>
            <a:ext cx="3386248" cy="369332"/>
          </a:xfrm>
          <a:prstGeom prst="rect">
            <a:avLst/>
          </a:prstGeom>
          <a:noFill/>
        </p:spPr>
        <p:txBody>
          <a:bodyPr wrap="none" rtlCol="0">
            <a:spAutoFit/>
          </a:bodyPr>
          <a:lstStyle/>
          <a:p>
            <a:r>
              <a:rPr lang="en-US" dirty="0"/>
              <a:t>T1 – details of replication datasets</a:t>
            </a:r>
          </a:p>
        </p:txBody>
      </p:sp>
      <p:pic>
        <p:nvPicPr>
          <p:cNvPr id="3" name="Picture 2" descr="A screenshot of a table&#10;&#10;Description automatically generated">
            <a:extLst>
              <a:ext uri="{FF2B5EF4-FFF2-40B4-BE49-F238E27FC236}">
                <a16:creationId xmlns:a16="http://schemas.microsoft.com/office/drawing/2014/main" id="{4C27CB3C-15A8-5F21-E150-E3D671784753}"/>
              </a:ext>
            </a:extLst>
          </p:cNvPr>
          <p:cNvPicPr>
            <a:picLocks noChangeAspect="1"/>
          </p:cNvPicPr>
          <p:nvPr/>
        </p:nvPicPr>
        <p:blipFill>
          <a:blip r:embed="rId2"/>
          <a:stretch>
            <a:fillRect/>
          </a:stretch>
        </p:blipFill>
        <p:spPr>
          <a:xfrm>
            <a:off x="-4916" y="1542973"/>
            <a:ext cx="6858000" cy="2387539"/>
          </a:xfrm>
          <a:prstGeom prst="rect">
            <a:avLst/>
          </a:prstGeom>
        </p:spPr>
      </p:pic>
    </p:spTree>
    <p:extLst>
      <p:ext uri="{BB962C8B-B14F-4D97-AF65-F5344CB8AC3E}">
        <p14:creationId xmlns:p14="http://schemas.microsoft.com/office/powerpoint/2010/main" val="410802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1224FA35-74CB-C6DF-B060-56FA4C77F5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1405" y="2379864"/>
            <a:ext cx="1879600" cy="1879600"/>
          </a:xfrm>
          <a:prstGeom prst="rect">
            <a:avLst/>
          </a:prstGeom>
        </p:spPr>
      </p:pic>
      <p:pic>
        <p:nvPicPr>
          <p:cNvPr id="11" name="Graphic 10">
            <a:extLst>
              <a:ext uri="{FF2B5EF4-FFF2-40B4-BE49-F238E27FC236}">
                <a16:creationId xmlns:a16="http://schemas.microsoft.com/office/drawing/2014/main" id="{9740BBB4-97E8-745A-8659-5D0A2C6CEF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78400" y="2350524"/>
            <a:ext cx="1879600" cy="1879600"/>
          </a:xfrm>
          <a:prstGeom prst="rect">
            <a:avLst/>
          </a:prstGeom>
        </p:spPr>
      </p:pic>
      <p:pic>
        <p:nvPicPr>
          <p:cNvPr id="7" name="Graphic 6">
            <a:extLst>
              <a:ext uri="{FF2B5EF4-FFF2-40B4-BE49-F238E27FC236}">
                <a16:creationId xmlns:a16="http://schemas.microsoft.com/office/drawing/2014/main" id="{4434B7A3-4ACD-32AC-910A-5D13EF6443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0310" y="355804"/>
            <a:ext cx="1879600" cy="1879600"/>
          </a:xfrm>
          <a:prstGeom prst="rect">
            <a:avLst/>
          </a:prstGeom>
        </p:spPr>
      </p:pic>
      <p:pic>
        <p:nvPicPr>
          <p:cNvPr id="3" name="Graphic 2">
            <a:extLst>
              <a:ext uri="{FF2B5EF4-FFF2-40B4-BE49-F238E27FC236}">
                <a16:creationId xmlns:a16="http://schemas.microsoft.com/office/drawing/2014/main" id="{7E233CE2-FC0F-2B4E-A983-920E8840A31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57520" y="203736"/>
            <a:ext cx="1879600" cy="1879600"/>
          </a:xfrm>
          <a:prstGeom prst="rect">
            <a:avLst/>
          </a:prstGeom>
        </p:spPr>
      </p:pic>
      <p:pic>
        <p:nvPicPr>
          <p:cNvPr id="47" name="Graphic 46">
            <a:extLst>
              <a:ext uri="{FF2B5EF4-FFF2-40B4-BE49-F238E27FC236}">
                <a16:creationId xmlns:a16="http://schemas.microsoft.com/office/drawing/2014/main" id="{335A75C6-D40D-8DD7-1E3B-7CEE1D33549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1730" y="6465636"/>
            <a:ext cx="1879600" cy="1879600"/>
          </a:xfrm>
          <a:prstGeom prst="rect">
            <a:avLst/>
          </a:prstGeom>
        </p:spPr>
      </p:pic>
      <p:pic>
        <p:nvPicPr>
          <p:cNvPr id="35" name="Graphic 34">
            <a:extLst>
              <a:ext uri="{FF2B5EF4-FFF2-40B4-BE49-F238E27FC236}">
                <a16:creationId xmlns:a16="http://schemas.microsoft.com/office/drawing/2014/main" id="{5C3584CC-44A7-BDB8-BB04-7FC49A61DD3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26914" y="251734"/>
            <a:ext cx="1879600" cy="1879600"/>
          </a:xfrm>
          <a:prstGeom prst="rect">
            <a:avLst/>
          </a:prstGeom>
        </p:spPr>
      </p:pic>
      <p:pic>
        <p:nvPicPr>
          <p:cNvPr id="103" name="Graphic 102">
            <a:extLst>
              <a:ext uri="{FF2B5EF4-FFF2-40B4-BE49-F238E27FC236}">
                <a16:creationId xmlns:a16="http://schemas.microsoft.com/office/drawing/2014/main" id="{FFE71F4F-4C40-41C8-538B-F928A9E6426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14416" y="4425382"/>
            <a:ext cx="1879600" cy="1879600"/>
          </a:xfrm>
          <a:prstGeom prst="rect">
            <a:avLst/>
          </a:prstGeom>
        </p:spPr>
      </p:pic>
      <p:pic>
        <p:nvPicPr>
          <p:cNvPr id="105" name="Graphic 104">
            <a:extLst>
              <a:ext uri="{FF2B5EF4-FFF2-40B4-BE49-F238E27FC236}">
                <a16:creationId xmlns:a16="http://schemas.microsoft.com/office/drawing/2014/main" id="{B22B54A7-3ECD-3642-E148-49CF02BD0C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2988" y="4333840"/>
            <a:ext cx="1879600" cy="1879600"/>
          </a:xfrm>
          <a:prstGeom prst="rect">
            <a:avLst/>
          </a:prstGeom>
        </p:spPr>
      </p:pic>
      <p:pic>
        <p:nvPicPr>
          <p:cNvPr id="109" name="Graphic 108">
            <a:extLst>
              <a:ext uri="{FF2B5EF4-FFF2-40B4-BE49-F238E27FC236}">
                <a16:creationId xmlns:a16="http://schemas.microsoft.com/office/drawing/2014/main" id="{C4B68216-32A7-8BFE-0FFE-16759FC2334D}"/>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053797" y="6589442"/>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433504"/>
            <a:ext cx="6699250" cy="2462213"/>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t>
            </a:r>
            <a:r>
              <a:rPr lang="en-US" sz="1100" dirty="0"/>
              <a:t> model is better than different choice policies and learning rules)</a:t>
            </a:r>
          </a:p>
          <a:p>
            <a:r>
              <a:rPr lang="en-US" sz="1100" b="1" dirty="0"/>
              <a:t>e) </a:t>
            </a:r>
            <a:r>
              <a:rPr lang="en-US" sz="1100" dirty="0"/>
              <a:t>Participant leave times compared to MVT vs </a:t>
            </a:r>
            <a:r>
              <a:rPr lang="en-US" sz="1100" b="1" dirty="0"/>
              <a:t>(f) </a:t>
            </a:r>
            <a:r>
              <a:rPr lang="en-US" sz="1100" dirty="0"/>
              <a:t>simulated leave times from best model (compared to MVT)</a:t>
            </a:r>
          </a:p>
          <a:p>
            <a:r>
              <a:rPr lang="en-US" sz="1100" b="1" dirty="0"/>
              <a:t>g) </a:t>
            </a:r>
            <a:r>
              <a:rPr lang="en-US" sz="1100" dirty="0"/>
              <a:t>Fit beta is significantly lower in rich compared to poor environment  [</a:t>
            </a:r>
            <a:r>
              <a:rPr lang="en-US" sz="1100" i="1" dirty="0"/>
              <a:t>t</a:t>
            </a:r>
            <a:r>
              <a:rPr lang="en-US" sz="1100" dirty="0"/>
              <a:t>(38) = -5.0, </a:t>
            </a:r>
            <a:r>
              <a:rPr lang="en-US" sz="1100" i="1" dirty="0"/>
              <a:t>p</a:t>
            </a:r>
            <a:r>
              <a:rPr lang="en-US" sz="1100" dirty="0"/>
              <a:t> &lt; .001]</a:t>
            </a:r>
          </a:p>
          <a:p>
            <a:r>
              <a:rPr lang="en-US" sz="1100" b="1" dirty="0"/>
              <a:t>h) </a:t>
            </a:r>
            <a:r>
              <a:rPr lang="en-US" sz="1100" dirty="0"/>
              <a:t>Correlation of participant beta fits with participant mean leaving times across environments [</a:t>
            </a:r>
            <a:r>
              <a:rPr lang="en-US" sz="1100" i="1" dirty="0"/>
              <a:t>r</a:t>
            </a:r>
            <a:r>
              <a:rPr lang="en-US" sz="1100" dirty="0"/>
              <a:t>(76) = 0.99,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(2,228) = 1.77, </a:t>
            </a:r>
            <a:r>
              <a:rPr lang="en-US" sz="1100" i="1" dirty="0"/>
              <a:t>p</a:t>
            </a:r>
            <a:r>
              <a:rPr lang="en-US" sz="1100" dirty="0"/>
              <a:t> = 0.17; Environment: </a:t>
            </a:r>
            <a:r>
              <a:rPr lang="en-US" sz="1100" i="1" dirty="0"/>
              <a:t>F</a:t>
            </a:r>
            <a:r>
              <a:rPr lang="en-US" sz="1100" dirty="0"/>
              <a:t>(1,228) = 1.03, </a:t>
            </a:r>
            <a:r>
              <a:rPr lang="en-US" sz="1100" i="1" dirty="0"/>
              <a:t>p</a:t>
            </a:r>
            <a:r>
              <a:rPr lang="en-US" sz="1100" dirty="0"/>
              <a:t> = 0.31; Interaction: </a:t>
            </a:r>
            <a:r>
              <a:rPr lang="en-US" sz="1100" i="1" dirty="0"/>
              <a:t>F</a:t>
            </a:r>
            <a:r>
              <a:rPr lang="en-US" sz="1100" dirty="0"/>
              <a:t>(2,228) = 0.29, </a:t>
            </a:r>
            <a:r>
              <a:rPr lang="en-US" sz="1100" i="1" dirty="0"/>
              <a:t>p</a:t>
            </a:r>
            <a:r>
              <a:rPr lang="en-US" sz="1100" dirty="0"/>
              <a:t> = 0.75],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(2,228) = 1.13, </a:t>
            </a:r>
            <a:r>
              <a:rPr lang="en-US" sz="1100" i="1" dirty="0"/>
              <a:t>p</a:t>
            </a:r>
            <a:r>
              <a:rPr lang="en-US" sz="1100" dirty="0"/>
              <a:t> = 0.32; Environment: </a:t>
            </a:r>
            <a:r>
              <a:rPr lang="en-US" sz="1100" i="1" dirty="0"/>
              <a:t>F</a:t>
            </a:r>
            <a:r>
              <a:rPr lang="en-US" sz="1100" dirty="0"/>
              <a:t>(1,228) = 0, </a:t>
            </a:r>
            <a:r>
              <a:rPr lang="en-US" sz="1100" i="1" dirty="0"/>
              <a:t>p</a:t>
            </a:r>
            <a:r>
              <a:rPr lang="en-US" sz="1100" dirty="0"/>
              <a:t> = 0.96; Interaction: </a:t>
            </a:r>
            <a:r>
              <a:rPr lang="en-US" sz="1100" i="1" dirty="0"/>
              <a:t>F</a:t>
            </a:r>
            <a:r>
              <a:rPr lang="en-US" sz="1100" dirty="0"/>
              <a:t>(2,228) = 1.55, </a:t>
            </a:r>
            <a:r>
              <a:rPr lang="en-US" sz="1100" i="1" dirty="0"/>
              <a:t>p</a:t>
            </a:r>
            <a:r>
              <a:rPr lang="en-US" sz="1100" dirty="0"/>
              <a:t> = 0.21] </a:t>
            </a:r>
          </a:p>
          <a:p>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2: Le Heron fitting </a:t>
            </a:r>
          </a:p>
        </p:txBody>
      </p:sp>
      <p:sp>
        <p:nvSpPr>
          <p:cNvPr id="21" name="TextBox 20">
            <a:extLst>
              <a:ext uri="{FF2B5EF4-FFF2-40B4-BE49-F238E27FC236}">
                <a16:creationId xmlns:a16="http://schemas.microsoft.com/office/drawing/2014/main" id="{B50B514A-2D8F-A2E0-8BD8-9073B50A4BD2}"/>
              </a:ext>
            </a:extLst>
          </p:cNvPr>
          <p:cNvSpPr txBox="1"/>
          <p:nvPr/>
        </p:nvSpPr>
        <p:spPr>
          <a:xfrm>
            <a:off x="541979" y="222502"/>
            <a:ext cx="295274" cy="369332"/>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1A991E31-4539-0E2F-7B47-26765A2F9566}"/>
              </a:ext>
            </a:extLst>
          </p:cNvPr>
          <p:cNvSpPr txBox="1"/>
          <p:nvPr/>
        </p:nvSpPr>
        <p:spPr>
          <a:xfrm>
            <a:off x="2494911" y="312090"/>
            <a:ext cx="306494" cy="369332"/>
          </a:xfrm>
          <a:prstGeom prst="rect">
            <a:avLst/>
          </a:prstGeom>
          <a:noFill/>
        </p:spPr>
        <p:txBody>
          <a:bodyPr wrap="none" rtlCol="0">
            <a:spAutoFit/>
          </a:bodyPr>
          <a:lstStyle/>
          <a:p>
            <a:r>
              <a:rPr lang="en-US" dirty="0"/>
              <a:t>b</a:t>
            </a:r>
          </a:p>
        </p:txBody>
      </p:sp>
      <p:sp>
        <p:nvSpPr>
          <p:cNvPr id="23" name="TextBox 22">
            <a:extLst>
              <a:ext uri="{FF2B5EF4-FFF2-40B4-BE49-F238E27FC236}">
                <a16:creationId xmlns:a16="http://schemas.microsoft.com/office/drawing/2014/main" id="{E59304AD-B36C-41A8-BA77-367E804D9FF3}"/>
              </a:ext>
            </a:extLst>
          </p:cNvPr>
          <p:cNvSpPr txBox="1"/>
          <p:nvPr/>
        </p:nvSpPr>
        <p:spPr>
          <a:xfrm>
            <a:off x="4532023" y="151940"/>
            <a:ext cx="282450" cy="369332"/>
          </a:xfrm>
          <a:prstGeom prst="rect">
            <a:avLst/>
          </a:prstGeom>
          <a:noFill/>
        </p:spPr>
        <p:txBody>
          <a:bodyPr wrap="none" rtlCol="0">
            <a:spAutoFit/>
          </a:bodyPr>
          <a:lstStyle/>
          <a:p>
            <a:r>
              <a:rPr lang="en-US" dirty="0"/>
              <a:t>c</a:t>
            </a:r>
          </a:p>
        </p:txBody>
      </p:sp>
      <p:sp>
        <p:nvSpPr>
          <p:cNvPr id="24" name="TextBox 23">
            <a:extLst>
              <a:ext uri="{FF2B5EF4-FFF2-40B4-BE49-F238E27FC236}">
                <a16:creationId xmlns:a16="http://schemas.microsoft.com/office/drawing/2014/main" id="{35F40932-45E0-3FE4-A8A0-C10517016401}"/>
              </a:ext>
            </a:extLst>
          </p:cNvPr>
          <p:cNvSpPr txBox="1"/>
          <p:nvPr/>
        </p:nvSpPr>
        <p:spPr>
          <a:xfrm>
            <a:off x="473783" y="2147638"/>
            <a:ext cx="306494" cy="369332"/>
          </a:xfrm>
          <a:prstGeom prst="rect">
            <a:avLst/>
          </a:prstGeom>
          <a:noFill/>
        </p:spPr>
        <p:txBody>
          <a:bodyPr wrap="none" rtlCol="0">
            <a:spAutoFit/>
          </a:bodyPr>
          <a:lstStyle/>
          <a:p>
            <a:r>
              <a:rPr lang="en-US" dirty="0"/>
              <a:t>d</a:t>
            </a:r>
          </a:p>
        </p:txBody>
      </p:sp>
      <p:sp>
        <p:nvSpPr>
          <p:cNvPr id="25" name="TextBox 24">
            <a:extLst>
              <a:ext uri="{FF2B5EF4-FFF2-40B4-BE49-F238E27FC236}">
                <a16:creationId xmlns:a16="http://schemas.microsoft.com/office/drawing/2014/main" id="{B10C5A7C-74EC-1E6B-7B6D-E7EAE255EB8A}"/>
              </a:ext>
            </a:extLst>
          </p:cNvPr>
          <p:cNvSpPr txBox="1"/>
          <p:nvPr/>
        </p:nvSpPr>
        <p:spPr>
          <a:xfrm>
            <a:off x="2637434" y="2215692"/>
            <a:ext cx="300082" cy="369332"/>
          </a:xfrm>
          <a:prstGeom prst="rect">
            <a:avLst/>
          </a:prstGeom>
          <a:noFill/>
        </p:spPr>
        <p:txBody>
          <a:bodyPr wrap="none" rtlCol="0">
            <a:spAutoFit/>
          </a:bodyPr>
          <a:lstStyle/>
          <a:p>
            <a:r>
              <a:rPr lang="en-US" dirty="0"/>
              <a:t>e</a:t>
            </a:r>
          </a:p>
        </p:txBody>
      </p:sp>
      <p:sp>
        <p:nvSpPr>
          <p:cNvPr id="26" name="TextBox 25">
            <a:extLst>
              <a:ext uri="{FF2B5EF4-FFF2-40B4-BE49-F238E27FC236}">
                <a16:creationId xmlns:a16="http://schemas.microsoft.com/office/drawing/2014/main" id="{EC1ECFD3-40FE-93C3-70EC-F11F3A7B428C}"/>
              </a:ext>
            </a:extLst>
          </p:cNvPr>
          <p:cNvSpPr txBox="1"/>
          <p:nvPr/>
        </p:nvSpPr>
        <p:spPr>
          <a:xfrm>
            <a:off x="4729921" y="2213100"/>
            <a:ext cx="255198" cy="369332"/>
          </a:xfrm>
          <a:prstGeom prst="rect">
            <a:avLst/>
          </a:prstGeom>
          <a:noFill/>
        </p:spPr>
        <p:txBody>
          <a:bodyPr wrap="none" rtlCol="0">
            <a:spAutoFit/>
          </a:bodyPr>
          <a:lstStyle/>
          <a:p>
            <a:r>
              <a:rPr lang="en-US" dirty="0"/>
              <a:t>f</a:t>
            </a:r>
          </a:p>
        </p:txBody>
      </p:sp>
      <p:sp>
        <p:nvSpPr>
          <p:cNvPr id="27" name="TextBox 26">
            <a:extLst>
              <a:ext uri="{FF2B5EF4-FFF2-40B4-BE49-F238E27FC236}">
                <a16:creationId xmlns:a16="http://schemas.microsoft.com/office/drawing/2014/main" id="{745854FD-DB30-936D-46FC-B83868798CCE}"/>
              </a:ext>
            </a:extLst>
          </p:cNvPr>
          <p:cNvSpPr txBox="1"/>
          <p:nvPr/>
        </p:nvSpPr>
        <p:spPr>
          <a:xfrm>
            <a:off x="523275" y="4165854"/>
            <a:ext cx="293670" cy="369332"/>
          </a:xfrm>
          <a:prstGeom prst="rect">
            <a:avLst/>
          </a:prstGeom>
          <a:noFill/>
        </p:spPr>
        <p:txBody>
          <a:bodyPr wrap="none" rtlCol="0">
            <a:spAutoFit/>
          </a:bodyPr>
          <a:lstStyle/>
          <a:p>
            <a:r>
              <a:rPr lang="en-US" dirty="0"/>
              <a:t>g</a:t>
            </a:r>
          </a:p>
        </p:txBody>
      </p:sp>
      <p:sp>
        <p:nvSpPr>
          <p:cNvPr id="57" name="TextBox 56">
            <a:extLst>
              <a:ext uri="{FF2B5EF4-FFF2-40B4-BE49-F238E27FC236}">
                <a16:creationId xmlns:a16="http://schemas.microsoft.com/office/drawing/2014/main" id="{F12DA955-B54A-D8E3-CCD5-A87AD1066C86}"/>
              </a:ext>
            </a:extLst>
          </p:cNvPr>
          <p:cNvSpPr txBox="1"/>
          <p:nvPr/>
        </p:nvSpPr>
        <p:spPr>
          <a:xfrm>
            <a:off x="2743878" y="4230124"/>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A31C5699-3414-079E-5B56-0DD1E1436BC9}"/>
              </a:ext>
            </a:extLst>
          </p:cNvPr>
          <p:cNvSpPr txBox="1"/>
          <p:nvPr/>
        </p:nvSpPr>
        <p:spPr>
          <a:xfrm>
            <a:off x="340802" y="625564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B93F08DA-4644-454D-5522-86590BC84A11}"/>
              </a:ext>
            </a:extLst>
          </p:cNvPr>
          <p:cNvSpPr txBox="1"/>
          <p:nvPr/>
        </p:nvSpPr>
        <p:spPr>
          <a:xfrm>
            <a:off x="2613958" y="6259220"/>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4A0DF9D7-9836-3F2A-3667-BF342CBD1B92}"/>
              </a:ext>
            </a:extLst>
          </p:cNvPr>
          <p:cNvSpPr txBox="1"/>
          <p:nvPr/>
        </p:nvSpPr>
        <p:spPr>
          <a:xfrm>
            <a:off x="1538620" y="4599456"/>
            <a:ext cx="530915"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B046C600-E33B-5BD2-B557-869934E3C3EF}"/>
              </a:ext>
            </a:extLst>
          </p:cNvPr>
          <p:cNvSpPr txBox="1"/>
          <p:nvPr/>
        </p:nvSpPr>
        <p:spPr>
          <a:xfrm>
            <a:off x="1454301" y="6802060"/>
            <a:ext cx="349776" cy="307777"/>
          </a:xfrm>
          <a:prstGeom prst="rect">
            <a:avLst/>
          </a:prstGeom>
          <a:noFill/>
        </p:spPr>
        <p:txBody>
          <a:bodyPr wrap="none" rtlCol="0">
            <a:spAutoFit/>
          </a:bodyPr>
          <a:lstStyle/>
          <a:p>
            <a:r>
              <a:rPr lang="en-US" sz="1400" dirty="0"/>
              <a:t>ns</a:t>
            </a:r>
            <a:endParaRPr lang="en-US" dirty="0"/>
          </a:p>
        </p:txBody>
      </p:sp>
      <p:sp>
        <p:nvSpPr>
          <p:cNvPr id="62" name="TextBox 61">
            <a:extLst>
              <a:ext uri="{FF2B5EF4-FFF2-40B4-BE49-F238E27FC236}">
                <a16:creationId xmlns:a16="http://schemas.microsoft.com/office/drawing/2014/main" id="{478575A5-391B-FB4A-83CA-B49CF92F272F}"/>
              </a:ext>
            </a:extLst>
          </p:cNvPr>
          <p:cNvSpPr txBox="1"/>
          <p:nvPr/>
        </p:nvSpPr>
        <p:spPr>
          <a:xfrm>
            <a:off x="3643821" y="6686417"/>
            <a:ext cx="349776" cy="307777"/>
          </a:xfrm>
          <a:prstGeom prst="rect">
            <a:avLst/>
          </a:prstGeom>
          <a:noFill/>
        </p:spPr>
        <p:txBody>
          <a:bodyPr wrap="none" rtlCol="0">
            <a:spAutoFit/>
          </a:bodyPr>
          <a:lstStyle/>
          <a:p>
            <a:r>
              <a:rPr lang="en-US" sz="1400" dirty="0"/>
              <a:t>ns</a:t>
            </a:r>
            <a:endParaRPr lang="en-US" dirty="0"/>
          </a:p>
        </p:txBody>
      </p:sp>
      <p:pic>
        <p:nvPicPr>
          <p:cNvPr id="5" name="Graphic 4">
            <a:extLst>
              <a:ext uri="{FF2B5EF4-FFF2-40B4-BE49-F238E27FC236}">
                <a16:creationId xmlns:a16="http://schemas.microsoft.com/office/drawing/2014/main" id="{848ECD1B-6440-D343-8197-FC193CE5281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07831" y="2375842"/>
            <a:ext cx="1879600" cy="1879600"/>
          </a:xfrm>
          <a:prstGeom prst="rect">
            <a:avLst/>
          </a:prstGeom>
        </p:spPr>
      </p:pic>
    </p:spTree>
    <p:extLst>
      <p:ext uri="{BB962C8B-B14F-4D97-AF65-F5344CB8AC3E}">
        <p14:creationId xmlns:p14="http://schemas.microsoft.com/office/powerpoint/2010/main" val="118626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D8E9DE2B-F2EC-9542-69A2-030BE32188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8199" y="6303071"/>
            <a:ext cx="1879600" cy="1879600"/>
          </a:xfrm>
          <a:prstGeom prst="rect">
            <a:avLst/>
          </a:prstGeom>
        </p:spPr>
      </p:pic>
      <p:pic>
        <p:nvPicPr>
          <p:cNvPr id="9" name="Graphic 8">
            <a:extLst>
              <a:ext uri="{FF2B5EF4-FFF2-40B4-BE49-F238E27FC236}">
                <a16:creationId xmlns:a16="http://schemas.microsoft.com/office/drawing/2014/main" id="{72A652DB-CF44-6192-B262-DCF6D6ED3A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29301" y="4356928"/>
            <a:ext cx="1879600" cy="1879600"/>
          </a:xfrm>
          <a:prstGeom prst="rect">
            <a:avLst/>
          </a:prstGeom>
        </p:spPr>
      </p:pic>
      <p:pic>
        <p:nvPicPr>
          <p:cNvPr id="11" name="Graphic 10">
            <a:extLst>
              <a:ext uri="{FF2B5EF4-FFF2-40B4-BE49-F238E27FC236}">
                <a16:creationId xmlns:a16="http://schemas.microsoft.com/office/drawing/2014/main" id="{FBBDC51E-54CC-29B9-52DF-380480362C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1788" y="4202220"/>
            <a:ext cx="1879600" cy="1879600"/>
          </a:xfrm>
          <a:prstGeom prst="rect">
            <a:avLst/>
          </a:prstGeom>
        </p:spPr>
      </p:pic>
      <p:pic>
        <p:nvPicPr>
          <p:cNvPr id="3" name="Graphic 2">
            <a:extLst>
              <a:ext uri="{FF2B5EF4-FFF2-40B4-BE49-F238E27FC236}">
                <a16:creationId xmlns:a16="http://schemas.microsoft.com/office/drawing/2014/main" id="{57DA1594-CCE3-2E64-F472-572B8625EC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211" y="2342413"/>
            <a:ext cx="1879600" cy="1879600"/>
          </a:xfrm>
          <a:prstGeom prst="rect">
            <a:avLst/>
          </a:prstGeom>
        </p:spPr>
      </p:pic>
      <p:pic>
        <p:nvPicPr>
          <p:cNvPr id="5" name="Graphic 4">
            <a:extLst>
              <a:ext uri="{FF2B5EF4-FFF2-40B4-BE49-F238E27FC236}">
                <a16:creationId xmlns:a16="http://schemas.microsoft.com/office/drawing/2014/main" id="{06EB80B1-B0F3-AB6D-66D5-34E7E18EC7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92336" y="297826"/>
            <a:ext cx="1879600" cy="1879600"/>
          </a:xfrm>
          <a:prstGeom prst="rect">
            <a:avLst/>
          </a:prstGeom>
        </p:spPr>
      </p:pic>
      <p:pic>
        <p:nvPicPr>
          <p:cNvPr id="7" name="Graphic 6">
            <a:extLst>
              <a:ext uri="{FF2B5EF4-FFF2-40B4-BE49-F238E27FC236}">
                <a16:creationId xmlns:a16="http://schemas.microsoft.com/office/drawing/2014/main" id="{FA817C8D-57EB-DD44-B5DE-E0200990DFE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04790" y="474830"/>
            <a:ext cx="1879600" cy="1879600"/>
          </a:xfrm>
          <a:prstGeom prst="rect">
            <a:avLst/>
          </a:prstGeom>
        </p:spPr>
      </p:pic>
      <p:pic>
        <p:nvPicPr>
          <p:cNvPr id="53" name="Graphic 52">
            <a:extLst>
              <a:ext uri="{FF2B5EF4-FFF2-40B4-BE49-F238E27FC236}">
                <a16:creationId xmlns:a16="http://schemas.microsoft.com/office/drawing/2014/main" id="{BB8A616A-962D-1592-8F14-5FE7F070DC2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7253" y="6339219"/>
            <a:ext cx="1879600" cy="1879600"/>
          </a:xfrm>
          <a:prstGeom prst="rect">
            <a:avLst/>
          </a:prstGeom>
        </p:spPr>
      </p:pic>
      <p:pic>
        <p:nvPicPr>
          <p:cNvPr id="55" name="Graphic 54">
            <a:extLst>
              <a:ext uri="{FF2B5EF4-FFF2-40B4-BE49-F238E27FC236}">
                <a16:creationId xmlns:a16="http://schemas.microsoft.com/office/drawing/2014/main" id="{073BF4A1-65AC-C6AB-B203-900757B2EB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71145" y="2443123"/>
            <a:ext cx="1879600" cy="1879600"/>
          </a:xfrm>
          <a:prstGeom prst="rect">
            <a:avLst/>
          </a:prstGeom>
        </p:spPr>
      </p:pic>
      <p:pic>
        <p:nvPicPr>
          <p:cNvPr id="94" name="Graphic 93">
            <a:extLst>
              <a:ext uri="{FF2B5EF4-FFF2-40B4-BE49-F238E27FC236}">
                <a16:creationId xmlns:a16="http://schemas.microsoft.com/office/drawing/2014/main" id="{41917078-DEC0-A5AE-FA91-5E236389FE4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883526" y="2328474"/>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3: Contreras-Huerta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11084" y="3968891"/>
            <a:ext cx="293670" cy="369332"/>
          </a:xfrm>
          <a:prstGeom prst="rect">
            <a:avLst/>
          </a:prstGeom>
          <a:noFill/>
        </p:spPr>
        <p:txBody>
          <a:bodyPr wrap="none" rtlCol="0">
            <a:spAutoFit/>
          </a:bodyPr>
          <a:lstStyle/>
          <a:p>
            <a:r>
              <a:rPr lang="en-US" dirty="0"/>
              <a:t>g</a:t>
            </a:r>
          </a:p>
        </p:txBody>
      </p:sp>
      <p:sp>
        <p:nvSpPr>
          <p:cNvPr id="35" name="TextBox 34">
            <a:extLst>
              <a:ext uri="{FF2B5EF4-FFF2-40B4-BE49-F238E27FC236}">
                <a16:creationId xmlns:a16="http://schemas.microsoft.com/office/drawing/2014/main" id="{C9483B18-9BAB-3E02-9546-7945910CD7A0}"/>
              </a:ext>
            </a:extLst>
          </p:cNvPr>
          <p:cNvSpPr txBox="1"/>
          <p:nvPr/>
        </p:nvSpPr>
        <p:spPr>
          <a:xfrm>
            <a:off x="79375" y="8433504"/>
            <a:ext cx="6699250" cy="2123658"/>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(28) = -3.12, </a:t>
            </a:r>
            <a:r>
              <a:rPr lang="en-US" sz="1100" i="1" dirty="0"/>
              <a:t>p</a:t>
            </a:r>
            <a:r>
              <a:rPr lang="en-US" sz="1100" dirty="0"/>
              <a:t> = 0.004]</a:t>
            </a:r>
          </a:p>
          <a:p>
            <a:r>
              <a:rPr lang="en-US" sz="1100" b="1" dirty="0"/>
              <a:t>h) </a:t>
            </a:r>
            <a:r>
              <a:rPr lang="en-US" sz="1100" dirty="0"/>
              <a:t>Correlation of participant beta fits with participant mean leaving times  [</a:t>
            </a:r>
            <a:r>
              <a:rPr lang="en-US" sz="1100" i="1" dirty="0"/>
              <a:t>r</a:t>
            </a:r>
            <a:r>
              <a:rPr lang="en-US" sz="1100" dirty="0"/>
              <a:t>(56) = 0.64,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(1,112) = 0.53, </a:t>
            </a:r>
            <a:r>
              <a:rPr lang="en-US" sz="1100" i="1" dirty="0"/>
              <a:t>p</a:t>
            </a:r>
            <a:r>
              <a:rPr lang="en-US" sz="1100" dirty="0"/>
              <a:t> = 0.47; Environment: </a:t>
            </a:r>
            <a:r>
              <a:rPr lang="en-US" sz="1100" i="1" dirty="0"/>
              <a:t>F</a:t>
            </a:r>
            <a:r>
              <a:rPr lang="en-US" sz="1100" dirty="0"/>
              <a:t>(1,112) = 2.39, </a:t>
            </a:r>
            <a:r>
              <a:rPr lang="en-US" sz="1100" i="1" dirty="0"/>
              <a:t>p</a:t>
            </a:r>
            <a:r>
              <a:rPr lang="en-US" sz="1100" dirty="0"/>
              <a:t> = 0.13; Interaction: </a:t>
            </a:r>
            <a:r>
              <a:rPr lang="en-US" sz="1100" i="1" dirty="0"/>
              <a:t>F</a:t>
            </a:r>
            <a:r>
              <a:rPr lang="en-US" sz="1100" dirty="0"/>
              <a:t>(1,112) = 0.01, </a:t>
            </a:r>
            <a:r>
              <a:rPr lang="en-US" sz="1100" i="1" dirty="0"/>
              <a:t>p</a:t>
            </a:r>
            <a:r>
              <a:rPr lang="en-US" sz="1100" dirty="0"/>
              <a:t> = 0.91],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(1,112) = 0.83, </a:t>
            </a:r>
            <a:r>
              <a:rPr lang="en-US" sz="1100" i="1" dirty="0"/>
              <a:t>p</a:t>
            </a:r>
            <a:r>
              <a:rPr lang="en-US" sz="1100" dirty="0"/>
              <a:t> = 0.37; Environment: </a:t>
            </a:r>
            <a:r>
              <a:rPr lang="en-US" sz="1100" i="1" dirty="0"/>
              <a:t>F</a:t>
            </a:r>
            <a:r>
              <a:rPr lang="en-US" sz="1100" dirty="0"/>
              <a:t>(1,112) = 1.41, </a:t>
            </a:r>
            <a:r>
              <a:rPr lang="en-US" sz="1100" i="1" dirty="0"/>
              <a:t>p</a:t>
            </a:r>
            <a:r>
              <a:rPr lang="en-US" sz="1100" dirty="0"/>
              <a:t> = 0.24; Interaction: </a:t>
            </a:r>
            <a:r>
              <a:rPr lang="en-US" sz="1100" i="1" dirty="0"/>
              <a:t>F</a:t>
            </a:r>
            <a:r>
              <a:rPr lang="en-US" sz="1100" dirty="0"/>
              <a:t>(1,112) = 1.64, </a:t>
            </a:r>
            <a:r>
              <a:rPr lang="en-US" sz="1100" i="1" dirty="0"/>
              <a:t>p</a:t>
            </a:r>
            <a:r>
              <a:rPr lang="en-US" sz="1100" dirty="0"/>
              <a:t> = 0.20] </a:t>
            </a:r>
          </a:p>
        </p:txBody>
      </p:sp>
      <p:pic>
        <p:nvPicPr>
          <p:cNvPr id="39" name="Graphic 38">
            <a:extLst>
              <a:ext uri="{FF2B5EF4-FFF2-40B4-BE49-F238E27FC236}">
                <a16:creationId xmlns:a16="http://schemas.microsoft.com/office/drawing/2014/main" id="{83F0FA93-AC7C-F316-BE70-E6A131AB0B69}"/>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868805" y="407467"/>
            <a:ext cx="1879600" cy="1879600"/>
          </a:xfrm>
          <a:prstGeom prst="rect">
            <a:avLst/>
          </a:prstGeom>
        </p:spPr>
      </p:pic>
      <p:sp>
        <p:nvSpPr>
          <p:cNvPr id="56" name="TextBox 55">
            <a:extLst>
              <a:ext uri="{FF2B5EF4-FFF2-40B4-BE49-F238E27FC236}">
                <a16:creationId xmlns:a16="http://schemas.microsoft.com/office/drawing/2014/main" id="{C7196864-C4BD-B737-F4EA-2D5D179687FB}"/>
              </a:ext>
            </a:extLst>
          </p:cNvPr>
          <p:cNvSpPr txBox="1"/>
          <p:nvPr/>
        </p:nvSpPr>
        <p:spPr>
          <a:xfrm>
            <a:off x="4747499" y="2214371"/>
            <a:ext cx="255198" cy="369332"/>
          </a:xfrm>
          <a:prstGeom prst="rect">
            <a:avLst/>
          </a:prstGeom>
          <a:noFill/>
        </p:spPr>
        <p:txBody>
          <a:bodyPr wrap="none" rtlCol="0">
            <a:spAutoFit/>
          </a:bodyPr>
          <a:lstStyle/>
          <a:p>
            <a:r>
              <a:rPr lang="en-US" dirty="0"/>
              <a:t>f</a:t>
            </a:r>
          </a:p>
        </p:txBody>
      </p:sp>
      <p:sp>
        <p:nvSpPr>
          <p:cNvPr id="57" name="TextBox 56">
            <a:extLst>
              <a:ext uri="{FF2B5EF4-FFF2-40B4-BE49-F238E27FC236}">
                <a16:creationId xmlns:a16="http://schemas.microsoft.com/office/drawing/2014/main" id="{0655A7AC-A36D-A1A4-6641-E4699DB05CD5}"/>
              </a:ext>
            </a:extLst>
          </p:cNvPr>
          <p:cNvSpPr txBox="1"/>
          <p:nvPr/>
        </p:nvSpPr>
        <p:spPr>
          <a:xfrm>
            <a:off x="2615809" y="4209436"/>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B77E6725-712E-7B0E-7037-37898DAE3396}"/>
              </a:ext>
            </a:extLst>
          </p:cNvPr>
          <p:cNvSpPr txBox="1"/>
          <p:nvPr/>
        </p:nvSpPr>
        <p:spPr>
          <a:xfrm>
            <a:off x="443125" y="623652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DE1B824C-570B-1450-1B69-94FC25077550}"/>
              </a:ext>
            </a:extLst>
          </p:cNvPr>
          <p:cNvSpPr txBox="1"/>
          <p:nvPr/>
        </p:nvSpPr>
        <p:spPr>
          <a:xfrm>
            <a:off x="2505195" y="6075635"/>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816A1363-C7E9-D88C-9884-B6ACC19E4214}"/>
              </a:ext>
            </a:extLst>
          </p:cNvPr>
          <p:cNvSpPr txBox="1"/>
          <p:nvPr/>
        </p:nvSpPr>
        <p:spPr>
          <a:xfrm>
            <a:off x="1569304" y="4343761"/>
            <a:ext cx="415498"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63D3C839-7F18-FB86-86CD-421588ADCF9C}"/>
              </a:ext>
            </a:extLst>
          </p:cNvPr>
          <p:cNvSpPr txBox="1"/>
          <p:nvPr/>
        </p:nvSpPr>
        <p:spPr>
          <a:xfrm>
            <a:off x="1624861" y="6745344"/>
            <a:ext cx="325730" cy="276999"/>
          </a:xfrm>
          <a:prstGeom prst="rect">
            <a:avLst/>
          </a:prstGeom>
          <a:noFill/>
        </p:spPr>
        <p:txBody>
          <a:bodyPr wrap="none" rtlCol="0">
            <a:spAutoFit/>
          </a:bodyPr>
          <a:lstStyle/>
          <a:p>
            <a:r>
              <a:rPr lang="en-US" sz="1200" dirty="0"/>
              <a:t>ns</a:t>
            </a:r>
            <a:endParaRPr lang="en-US" dirty="0"/>
          </a:p>
        </p:txBody>
      </p:sp>
      <p:sp>
        <p:nvSpPr>
          <p:cNvPr id="62" name="TextBox 61">
            <a:extLst>
              <a:ext uri="{FF2B5EF4-FFF2-40B4-BE49-F238E27FC236}">
                <a16:creationId xmlns:a16="http://schemas.microsoft.com/office/drawing/2014/main" id="{BA86BEB0-3403-2F37-4178-E0EE43F59D69}"/>
              </a:ext>
            </a:extLst>
          </p:cNvPr>
          <p:cNvSpPr txBox="1"/>
          <p:nvPr/>
        </p:nvSpPr>
        <p:spPr>
          <a:xfrm>
            <a:off x="3572392" y="6721933"/>
            <a:ext cx="325730" cy="276999"/>
          </a:xfrm>
          <a:prstGeom prst="rect">
            <a:avLst/>
          </a:prstGeom>
          <a:noFill/>
        </p:spPr>
        <p:txBody>
          <a:bodyPr wrap="none" rtlCol="0">
            <a:spAutoFit/>
          </a:bodyPr>
          <a:lstStyle/>
          <a:p>
            <a:r>
              <a:rPr lang="en-US" sz="1200" dirty="0"/>
              <a:t>ns</a:t>
            </a:r>
          </a:p>
        </p:txBody>
      </p:sp>
    </p:spTree>
    <p:extLst>
      <p:ext uri="{BB962C8B-B14F-4D97-AF65-F5344CB8AC3E}">
        <p14:creationId xmlns:p14="http://schemas.microsoft.com/office/powerpoint/2010/main" val="2096831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3F1AE1C3-5BB5-116D-140E-6102E0A129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31512" y="2265544"/>
            <a:ext cx="1879600" cy="1879600"/>
          </a:xfrm>
          <a:prstGeom prst="rect">
            <a:avLst/>
          </a:prstGeom>
        </p:spPr>
      </p:pic>
      <p:pic>
        <p:nvPicPr>
          <p:cNvPr id="14" name="Graphic 13">
            <a:extLst>
              <a:ext uri="{FF2B5EF4-FFF2-40B4-BE49-F238E27FC236}">
                <a16:creationId xmlns:a16="http://schemas.microsoft.com/office/drawing/2014/main" id="{6FA3B33D-9E29-0C26-6403-28D3E6C912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92829" y="6186063"/>
            <a:ext cx="1879600" cy="1879600"/>
          </a:xfrm>
          <a:prstGeom prst="rect">
            <a:avLst/>
          </a:prstGeom>
        </p:spPr>
      </p:pic>
      <p:pic>
        <p:nvPicPr>
          <p:cNvPr id="12" name="Graphic 11">
            <a:extLst>
              <a:ext uri="{FF2B5EF4-FFF2-40B4-BE49-F238E27FC236}">
                <a16:creationId xmlns:a16="http://schemas.microsoft.com/office/drawing/2014/main" id="{8AFC7EA8-268A-D43E-A8FF-9158C9C5824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7389" y="385944"/>
            <a:ext cx="1879600" cy="1879600"/>
          </a:xfrm>
          <a:prstGeom prst="rect">
            <a:avLst/>
          </a:prstGeom>
        </p:spPr>
      </p:pic>
      <p:pic>
        <p:nvPicPr>
          <p:cNvPr id="10" name="Graphic 9">
            <a:extLst>
              <a:ext uri="{FF2B5EF4-FFF2-40B4-BE49-F238E27FC236}">
                <a16:creationId xmlns:a16="http://schemas.microsoft.com/office/drawing/2014/main" id="{FBE169A5-1260-49FA-2E82-BEA8033BB7C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0518" y="425423"/>
            <a:ext cx="1879600" cy="1879600"/>
          </a:xfrm>
          <a:prstGeom prst="rect">
            <a:avLst/>
          </a:prstGeom>
        </p:spPr>
      </p:pic>
      <p:pic>
        <p:nvPicPr>
          <p:cNvPr id="8" name="Graphic 7">
            <a:extLst>
              <a:ext uri="{FF2B5EF4-FFF2-40B4-BE49-F238E27FC236}">
                <a16:creationId xmlns:a16="http://schemas.microsoft.com/office/drawing/2014/main" id="{84070C0A-64F2-347D-B9DB-55797B8AC3E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9018" y="4274267"/>
            <a:ext cx="1879600" cy="1879600"/>
          </a:xfrm>
          <a:prstGeom prst="rect">
            <a:avLst/>
          </a:prstGeom>
        </p:spPr>
      </p:pic>
      <p:pic>
        <p:nvPicPr>
          <p:cNvPr id="6" name="Graphic 5">
            <a:extLst>
              <a:ext uri="{FF2B5EF4-FFF2-40B4-BE49-F238E27FC236}">
                <a16:creationId xmlns:a16="http://schemas.microsoft.com/office/drawing/2014/main" id="{25CB54BB-833B-1294-3264-EBB104F3D76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00362" y="4246956"/>
            <a:ext cx="1879600" cy="1879600"/>
          </a:xfrm>
          <a:prstGeom prst="rect">
            <a:avLst/>
          </a:prstGeom>
        </p:spPr>
      </p:pic>
      <p:pic>
        <p:nvPicPr>
          <p:cNvPr id="4" name="Graphic 3">
            <a:extLst>
              <a:ext uri="{FF2B5EF4-FFF2-40B4-BE49-F238E27FC236}">
                <a16:creationId xmlns:a16="http://schemas.microsoft.com/office/drawing/2014/main" id="{5C217944-8A73-C99E-295F-05CD48F9AA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69130" y="2301938"/>
            <a:ext cx="1879600" cy="1879600"/>
          </a:xfrm>
          <a:prstGeom prst="rect">
            <a:avLst/>
          </a:prstGeom>
        </p:spPr>
      </p:pic>
      <p:pic>
        <p:nvPicPr>
          <p:cNvPr id="71" name="Graphic 70">
            <a:extLst>
              <a:ext uri="{FF2B5EF4-FFF2-40B4-BE49-F238E27FC236}">
                <a16:creationId xmlns:a16="http://schemas.microsoft.com/office/drawing/2014/main" id="{7279808C-2986-AD22-AA8E-A9DF8D4EB79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43945" y="6140306"/>
            <a:ext cx="1879600" cy="1879600"/>
          </a:xfrm>
          <a:prstGeom prst="rect">
            <a:avLst/>
          </a:prstGeom>
        </p:spPr>
      </p:pic>
      <p:pic>
        <p:nvPicPr>
          <p:cNvPr id="42" name="Graphic 41">
            <a:extLst>
              <a:ext uri="{FF2B5EF4-FFF2-40B4-BE49-F238E27FC236}">
                <a16:creationId xmlns:a16="http://schemas.microsoft.com/office/drawing/2014/main" id="{A9F18589-8B3F-BF1D-037F-D251CD5B696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946076" y="364027"/>
            <a:ext cx="1879600" cy="1879600"/>
          </a:xfrm>
          <a:prstGeom prst="rect">
            <a:avLst/>
          </a:prstGeom>
        </p:spPr>
      </p:pic>
      <p:pic>
        <p:nvPicPr>
          <p:cNvPr id="58" name="Graphic 57">
            <a:extLst>
              <a:ext uri="{FF2B5EF4-FFF2-40B4-BE49-F238E27FC236}">
                <a16:creationId xmlns:a16="http://schemas.microsoft.com/office/drawing/2014/main" id="{BF5C920D-3F23-46CD-CA6F-B20A00FA379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946076" y="2301938"/>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116128"/>
            <a:ext cx="6699250" cy="2292935"/>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(7) = -7.88, </a:t>
            </a:r>
            <a:r>
              <a:rPr lang="en-US" sz="1100" i="1" dirty="0"/>
              <a:t>p</a:t>
            </a:r>
            <a:r>
              <a:rPr lang="en-US" sz="1100" dirty="0"/>
              <a:t> &lt; .001]</a:t>
            </a:r>
          </a:p>
          <a:p>
            <a:r>
              <a:rPr lang="en-US" sz="1100" b="1" dirty="0"/>
              <a:t>h) </a:t>
            </a:r>
            <a:r>
              <a:rPr lang="en-US" sz="1100" dirty="0"/>
              <a:t>Correlation of participant beta fits with participant mean leaving times  [</a:t>
            </a:r>
            <a:r>
              <a:rPr lang="en-US" sz="1100" i="1" dirty="0"/>
              <a:t>r</a:t>
            </a:r>
            <a:r>
              <a:rPr lang="en-US" sz="1100" dirty="0"/>
              <a:t>(14) = 0.94,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significantly different for patch [Patch yield: </a:t>
            </a:r>
            <a:r>
              <a:rPr lang="en-US" sz="1100" i="1" dirty="0"/>
              <a:t>F</a:t>
            </a:r>
            <a:r>
              <a:rPr lang="en-US" sz="1100" dirty="0"/>
              <a:t>(2,42) = 10.76, </a:t>
            </a:r>
            <a:r>
              <a:rPr lang="en-US" sz="1100" i="1" dirty="0"/>
              <a:t>p</a:t>
            </a:r>
            <a:r>
              <a:rPr lang="en-US" sz="1100" dirty="0"/>
              <a:t> &lt; .001] and environment [Environment: </a:t>
            </a:r>
            <a:r>
              <a:rPr lang="en-US" sz="1100" i="1" dirty="0"/>
              <a:t>F</a:t>
            </a:r>
            <a:r>
              <a:rPr lang="en-US" sz="1100" dirty="0"/>
              <a:t>(1,42) = 29.41, </a:t>
            </a:r>
            <a:r>
              <a:rPr lang="en-US" sz="1100" i="1" dirty="0"/>
              <a:t>p</a:t>
            </a:r>
            <a:r>
              <a:rPr lang="en-US" sz="1100" dirty="0"/>
              <a:t> &lt; .001] but not for patch x environment interaction [Interaction: </a:t>
            </a:r>
            <a:r>
              <a:rPr lang="en-US" sz="1100" i="1" dirty="0"/>
              <a:t>F</a:t>
            </a:r>
            <a:r>
              <a:rPr lang="en-US" sz="1100" dirty="0"/>
              <a:t>(2,42) = 0.66, </a:t>
            </a:r>
            <a:r>
              <a:rPr lang="en-US" sz="1100" i="1" dirty="0"/>
              <a:t>p</a:t>
            </a:r>
            <a:r>
              <a:rPr lang="en-US" sz="1100" dirty="0"/>
              <a:t> = 0.52] </a:t>
            </a:r>
            <a:r>
              <a:rPr lang="en-US" sz="1100" b="1" dirty="0"/>
              <a:t>(j) </a:t>
            </a:r>
            <a:r>
              <a:rPr lang="en-US" sz="1100" dirty="0"/>
              <a:t>Consistent with participants, SD of </a:t>
            </a:r>
            <a:r>
              <a:rPr lang="en-US" sz="1100" b="1" dirty="0"/>
              <a:t>simulated </a:t>
            </a:r>
            <a:r>
              <a:rPr lang="en-US" sz="1100" dirty="0"/>
              <a:t>leaving times was significantly different across patch [Patch yield: </a:t>
            </a:r>
            <a:r>
              <a:rPr lang="en-US" sz="1100" i="1" dirty="0"/>
              <a:t>F</a:t>
            </a:r>
            <a:r>
              <a:rPr lang="en-US" sz="1100" dirty="0"/>
              <a:t>(2,42) = 14.4, </a:t>
            </a:r>
            <a:r>
              <a:rPr lang="en-US" sz="1100" i="1" dirty="0"/>
              <a:t>p</a:t>
            </a:r>
            <a:r>
              <a:rPr lang="en-US" sz="1100" dirty="0"/>
              <a:t> &lt; .001], and environment [Environment: </a:t>
            </a:r>
            <a:r>
              <a:rPr lang="en-US" sz="1100" i="1" dirty="0"/>
              <a:t>F</a:t>
            </a:r>
            <a:r>
              <a:rPr lang="en-US" sz="1100" dirty="0"/>
              <a:t>(1,42) = 31.76, </a:t>
            </a:r>
            <a:r>
              <a:rPr lang="en-US" sz="1100" i="1" dirty="0"/>
              <a:t>p</a:t>
            </a:r>
            <a:r>
              <a:rPr lang="en-US" sz="1100" dirty="0"/>
              <a:t> &lt; .001] , but predicted significant patch x environment interaction [Interaction: </a:t>
            </a:r>
            <a:r>
              <a:rPr lang="en-US" sz="1100" i="1" dirty="0"/>
              <a:t>F</a:t>
            </a:r>
            <a:r>
              <a:rPr lang="en-US" sz="1100" dirty="0"/>
              <a:t>(2,42) = 7.96, </a:t>
            </a:r>
            <a:r>
              <a:rPr lang="en-US" sz="1100" i="1" dirty="0"/>
              <a:t>p</a:t>
            </a:r>
            <a:r>
              <a:rPr lang="en-US" sz="1100" dirty="0"/>
              <a:t> = .001], which was not observed in participant data</a:t>
            </a:r>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4: Kane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1" name="TextBox 30">
            <a:extLst>
              <a:ext uri="{FF2B5EF4-FFF2-40B4-BE49-F238E27FC236}">
                <a16:creationId xmlns:a16="http://schemas.microsoft.com/office/drawing/2014/main" id="{8E666C51-6D9F-5126-FCD9-BA61B36A4AD2}"/>
              </a:ext>
            </a:extLst>
          </p:cNvPr>
          <p:cNvSpPr txBox="1"/>
          <p:nvPr/>
        </p:nvSpPr>
        <p:spPr>
          <a:xfrm>
            <a:off x="4620501" y="2274411"/>
            <a:ext cx="255198" cy="369332"/>
          </a:xfrm>
          <a:prstGeom prst="rect">
            <a:avLst/>
          </a:prstGeom>
          <a:noFill/>
        </p:spPr>
        <p:txBody>
          <a:bodyPr wrap="none" rtlCol="0">
            <a:spAutoFit/>
          </a:bodyPr>
          <a:lstStyle/>
          <a:p>
            <a:r>
              <a:rPr lang="en-US" dirty="0"/>
              <a:t>f</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43583" y="4079557"/>
            <a:ext cx="293670" cy="369332"/>
          </a:xfrm>
          <a:prstGeom prst="rect">
            <a:avLst/>
          </a:prstGeom>
          <a:noFill/>
        </p:spPr>
        <p:txBody>
          <a:bodyPr wrap="none" rtlCol="0">
            <a:spAutoFit/>
          </a:bodyPr>
          <a:lstStyle/>
          <a:p>
            <a:r>
              <a:rPr lang="en-US" dirty="0"/>
              <a:t>g</a:t>
            </a:r>
          </a:p>
        </p:txBody>
      </p:sp>
      <p:sp>
        <p:nvSpPr>
          <p:cNvPr id="60" name="TextBox 59">
            <a:extLst>
              <a:ext uri="{FF2B5EF4-FFF2-40B4-BE49-F238E27FC236}">
                <a16:creationId xmlns:a16="http://schemas.microsoft.com/office/drawing/2014/main" id="{ECFD63B8-302E-2BC6-8BE6-28427CD2FABB}"/>
              </a:ext>
            </a:extLst>
          </p:cNvPr>
          <p:cNvSpPr txBox="1"/>
          <p:nvPr/>
        </p:nvSpPr>
        <p:spPr>
          <a:xfrm>
            <a:off x="2896053" y="4128499"/>
            <a:ext cx="306494" cy="369332"/>
          </a:xfrm>
          <a:prstGeom prst="rect">
            <a:avLst/>
          </a:prstGeom>
          <a:noFill/>
        </p:spPr>
        <p:txBody>
          <a:bodyPr wrap="none" rtlCol="0">
            <a:spAutoFit/>
          </a:bodyPr>
          <a:lstStyle/>
          <a:p>
            <a:r>
              <a:rPr lang="en-US" dirty="0"/>
              <a:t>h</a:t>
            </a:r>
          </a:p>
        </p:txBody>
      </p:sp>
      <p:sp>
        <p:nvSpPr>
          <p:cNvPr id="61" name="TextBox 60">
            <a:extLst>
              <a:ext uri="{FF2B5EF4-FFF2-40B4-BE49-F238E27FC236}">
                <a16:creationId xmlns:a16="http://schemas.microsoft.com/office/drawing/2014/main" id="{4684A61C-57A7-6265-05AB-8D20A274BA42}"/>
              </a:ext>
            </a:extLst>
          </p:cNvPr>
          <p:cNvSpPr txBox="1"/>
          <p:nvPr/>
        </p:nvSpPr>
        <p:spPr>
          <a:xfrm>
            <a:off x="643763" y="6129404"/>
            <a:ext cx="237566" cy="369332"/>
          </a:xfrm>
          <a:prstGeom prst="rect">
            <a:avLst/>
          </a:prstGeom>
          <a:noFill/>
        </p:spPr>
        <p:txBody>
          <a:bodyPr wrap="none" rtlCol="0">
            <a:spAutoFit/>
          </a:bodyPr>
          <a:lstStyle/>
          <a:p>
            <a:r>
              <a:rPr lang="en-US" dirty="0" err="1"/>
              <a:t>i</a:t>
            </a:r>
            <a:endParaRPr lang="en-US" dirty="0"/>
          </a:p>
        </p:txBody>
      </p:sp>
      <p:sp>
        <p:nvSpPr>
          <p:cNvPr id="62" name="TextBox 61">
            <a:extLst>
              <a:ext uri="{FF2B5EF4-FFF2-40B4-BE49-F238E27FC236}">
                <a16:creationId xmlns:a16="http://schemas.microsoft.com/office/drawing/2014/main" id="{55421733-A64B-CBB3-FB09-8F31C37351DE}"/>
              </a:ext>
            </a:extLst>
          </p:cNvPr>
          <p:cNvSpPr txBox="1"/>
          <p:nvPr/>
        </p:nvSpPr>
        <p:spPr>
          <a:xfrm>
            <a:off x="2474021" y="6182086"/>
            <a:ext cx="239168" cy="369332"/>
          </a:xfrm>
          <a:prstGeom prst="rect">
            <a:avLst/>
          </a:prstGeom>
          <a:noFill/>
        </p:spPr>
        <p:txBody>
          <a:bodyPr wrap="none" rtlCol="0">
            <a:spAutoFit/>
          </a:bodyPr>
          <a:lstStyle/>
          <a:p>
            <a:r>
              <a:rPr lang="en-US" dirty="0"/>
              <a:t>j</a:t>
            </a:r>
          </a:p>
        </p:txBody>
      </p:sp>
      <p:sp>
        <p:nvSpPr>
          <p:cNvPr id="63" name="TextBox 62">
            <a:extLst>
              <a:ext uri="{FF2B5EF4-FFF2-40B4-BE49-F238E27FC236}">
                <a16:creationId xmlns:a16="http://schemas.microsoft.com/office/drawing/2014/main" id="{A96AFC87-F092-9A4E-B21C-BEEA780E1241}"/>
              </a:ext>
            </a:extLst>
          </p:cNvPr>
          <p:cNvSpPr txBox="1"/>
          <p:nvPr/>
        </p:nvSpPr>
        <p:spPr>
          <a:xfrm>
            <a:off x="1413817" y="4784715"/>
            <a:ext cx="530915" cy="369332"/>
          </a:xfrm>
          <a:prstGeom prst="rect">
            <a:avLst/>
          </a:prstGeom>
          <a:noFill/>
        </p:spPr>
        <p:txBody>
          <a:bodyPr wrap="none" rtlCol="0">
            <a:spAutoFit/>
          </a:bodyPr>
          <a:lstStyle/>
          <a:p>
            <a:r>
              <a:rPr lang="en-US" dirty="0"/>
              <a:t>***</a:t>
            </a:r>
          </a:p>
        </p:txBody>
      </p:sp>
      <p:sp>
        <p:nvSpPr>
          <p:cNvPr id="64" name="TextBox 63">
            <a:extLst>
              <a:ext uri="{FF2B5EF4-FFF2-40B4-BE49-F238E27FC236}">
                <a16:creationId xmlns:a16="http://schemas.microsoft.com/office/drawing/2014/main" id="{33030694-0C0F-7DDB-9F45-2C50F00C1995}"/>
              </a:ext>
            </a:extLst>
          </p:cNvPr>
          <p:cNvSpPr txBox="1"/>
          <p:nvPr/>
        </p:nvSpPr>
        <p:spPr>
          <a:xfrm>
            <a:off x="1510620" y="6566076"/>
            <a:ext cx="530915" cy="369332"/>
          </a:xfrm>
          <a:prstGeom prst="rect">
            <a:avLst/>
          </a:prstGeom>
          <a:noFill/>
        </p:spPr>
        <p:txBody>
          <a:bodyPr wrap="none" rtlCol="0">
            <a:spAutoFit/>
          </a:bodyPr>
          <a:lstStyle/>
          <a:p>
            <a:r>
              <a:rPr lang="en-US" dirty="0"/>
              <a:t>***</a:t>
            </a:r>
          </a:p>
        </p:txBody>
      </p:sp>
      <p:sp>
        <p:nvSpPr>
          <p:cNvPr id="65" name="TextBox 64">
            <a:extLst>
              <a:ext uri="{FF2B5EF4-FFF2-40B4-BE49-F238E27FC236}">
                <a16:creationId xmlns:a16="http://schemas.microsoft.com/office/drawing/2014/main" id="{5CA50DF1-8A64-2986-5330-654C81E2AF0B}"/>
              </a:ext>
            </a:extLst>
          </p:cNvPr>
          <p:cNvSpPr txBox="1"/>
          <p:nvPr/>
        </p:nvSpPr>
        <p:spPr>
          <a:xfrm>
            <a:off x="3550977" y="6391882"/>
            <a:ext cx="530915"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97194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b="1" dirty="0"/>
              <a:t>Supplementary</a:t>
            </a:r>
            <a:r>
              <a:rPr lang="en-US" dirty="0"/>
              <a:t> Figure 2-4</a:t>
            </a:r>
          </a:p>
        </p:txBody>
      </p:sp>
      <p:sp>
        <p:nvSpPr>
          <p:cNvPr id="2" name="TextBox 1">
            <a:extLst>
              <a:ext uri="{FF2B5EF4-FFF2-40B4-BE49-F238E27FC236}">
                <a16:creationId xmlns:a16="http://schemas.microsoft.com/office/drawing/2014/main" id="{8959E745-D52C-D627-E308-72711DE7B5D2}"/>
              </a:ext>
            </a:extLst>
          </p:cNvPr>
          <p:cNvSpPr txBox="1"/>
          <p:nvPr/>
        </p:nvSpPr>
        <p:spPr>
          <a:xfrm>
            <a:off x="340802" y="3539932"/>
            <a:ext cx="3133999" cy="369332"/>
          </a:xfrm>
          <a:prstGeom prst="rect">
            <a:avLst/>
          </a:prstGeom>
          <a:noFill/>
        </p:spPr>
        <p:txBody>
          <a:bodyPr wrap="none" rtlCol="0">
            <a:spAutoFit/>
          </a:bodyPr>
          <a:lstStyle/>
          <a:p>
            <a:r>
              <a:rPr lang="en-US" dirty="0"/>
              <a:t>Model recovery matrix – to do  </a:t>
            </a:r>
          </a:p>
        </p:txBody>
      </p:sp>
      <p:sp>
        <p:nvSpPr>
          <p:cNvPr id="4" name="TextBox 3">
            <a:extLst>
              <a:ext uri="{FF2B5EF4-FFF2-40B4-BE49-F238E27FC236}">
                <a16:creationId xmlns:a16="http://schemas.microsoft.com/office/drawing/2014/main" id="{66462979-B6DA-0E43-C4CB-604BAB876E7F}"/>
              </a:ext>
            </a:extLst>
          </p:cNvPr>
          <p:cNvSpPr txBox="1"/>
          <p:nvPr/>
        </p:nvSpPr>
        <p:spPr>
          <a:xfrm>
            <a:off x="195022" y="462116"/>
            <a:ext cx="5327677" cy="369332"/>
          </a:xfrm>
          <a:prstGeom prst="rect">
            <a:avLst/>
          </a:prstGeom>
          <a:noFill/>
        </p:spPr>
        <p:txBody>
          <a:bodyPr wrap="none" rtlCol="0">
            <a:spAutoFit/>
          </a:bodyPr>
          <a:lstStyle/>
          <a:p>
            <a:r>
              <a:rPr lang="en-US" dirty="0"/>
              <a:t>Parameter recovery for winning models (each dataset) </a:t>
            </a:r>
          </a:p>
        </p:txBody>
      </p:sp>
      <p:graphicFrame>
        <p:nvGraphicFramePr>
          <p:cNvPr id="5" name="Table 4">
            <a:extLst>
              <a:ext uri="{FF2B5EF4-FFF2-40B4-BE49-F238E27FC236}">
                <a16:creationId xmlns:a16="http://schemas.microsoft.com/office/drawing/2014/main" id="{83CFF4BC-A50A-B012-0E33-A4B68A45EA04}"/>
              </a:ext>
            </a:extLst>
          </p:cNvPr>
          <p:cNvGraphicFramePr>
            <a:graphicFrameLocks noGrp="1"/>
          </p:cNvGraphicFramePr>
          <p:nvPr>
            <p:extLst>
              <p:ext uri="{D42A27DB-BD31-4B8C-83A1-F6EECF244321}">
                <p14:modId xmlns:p14="http://schemas.microsoft.com/office/powerpoint/2010/main" val="3700356932"/>
              </p:ext>
            </p:extLst>
          </p:nvPr>
        </p:nvGraphicFramePr>
        <p:xfrm>
          <a:off x="932055" y="1307642"/>
          <a:ext cx="2805693" cy="2032000"/>
        </p:xfrm>
        <a:graphic>
          <a:graphicData uri="http://schemas.openxmlformats.org/drawingml/2006/table">
            <a:tbl>
              <a:tblPr>
                <a:tableStyleId>{5C22544A-7EE6-4342-B048-85BDC9FD1C3A}</a:tableStyleId>
              </a:tblPr>
              <a:tblGrid>
                <a:gridCol w="1152677">
                  <a:extLst>
                    <a:ext uri="{9D8B030D-6E8A-4147-A177-3AD203B41FA5}">
                      <a16:colId xmlns:a16="http://schemas.microsoft.com/office/drawing/2014/main" val="2619168398"/>
                    </a:ext>
                  </a:extLst>
                </a:gridCol>
                <a:gridCol w="826508">
                  <a:extLst>
                    <a:ext uri="{9D8B030D-6E8A-4147-A177-3AD203B41FA5}">
                      <a16:colId xmlns:a16="http://schemas.microsoft.com/office/drawing/2014/main" val="1400378939"/>
                    </a:ext>
                  </a:extLst>
                </a:gridCol>
                <a:gridCol w="826508">
                  <a:extLst>
                    <a:ext uri="{9D8B030D-6E8A-4147-A177-3AD203B41FA5}">
                      <a16:colId xmlns:a16="http://schemas.microsoft.com/office/drawing/2014/main" val="1026345803"/>
                    </a:ext>
                  </a:extLst>
                </a:gridCol>
              </a:tblGrid>
              <a:tr h="203200">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Beta</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Lambda</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6695869"/>
                  </a:ext>
                </a:extLst>
              </a:tr>
              <a:tr h="203200">
                <a:tc>
                  <a:txBody>
                    <a:bodyPr/>
                    <a:lstStyle/>
                    <a:p>
                      <a:pPr algn="l" fontAlgn="b"/>
                      <a:r>
                        <a:rPr lang="en-GB" sz="1200" u="none" strike="noStrike">
                          <a:effectLst/>
                        </a:rPr>
                        <a:t>M1 LeHeron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5964230"/>
                  </a:ext>
                </a:extLst>
              </a:tr>
              <a:tr h="203200">
                <a:tc>
                  <a:txBody>
                    <a:bodyPr/>
                    <a:lstStyle/>
                    <a:p>
                      <a:pPr algn="l" fontAlgn="b"/>
                      <a:r>
                        <a:rPr lang="en-GB" sz="1200" u="none" strike="noStrike">
                          <a:effectLst/>
                        </a:rPr>
                        <a:t>M1 LeHeron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02698368"/>
                  </a:ext>
                </a:extLst>
              </a:tr>
              <a:tr h="203200">
                <a:tc>
                  <a:txBody>
                    <a:bodyPr/>
                    <a:lstStyle/>
                    <a:p>
                      <a:pPr algn="l" fontAlgn="b"/>
                      <a:r>
                        <a:rPr lang="en-GB" sz="1200" u="none" strike="noStrike">
                          <a:effectLst/>
                        </a:rPr>
                        <a:t>M5 CH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0.926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8093686"/>
                  </a:ext>
                </a:extLst>
              </a:tr>
              <a:tr h="203200">
                <a:tc>
                  <a:txBody>
                    <a:bodyPr/>
                    <a:lstStyle/>
                    <a:p>
                      <a:pPr algn="l" fontAlgn="b"/>
                      <a:r>
                        <a:rPr lang="en-GB" sz="1200" u="none" strike="noStrike">
                          <a:effectLst/>
                        </a:rPr>
                        <a:t>M5 CH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0.707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2195576"/>
                  </a:ext>
                </a:extLst>
              </a:tr>
              <a:tr h="203200">
                <a:tc>
                  <a:txBody>
                    <a:bodyPr/>
                    <a:lstStyle/>
                    <a:p>
                      <a:pPr algn="l" fontAlgn="b"/>
                      <a:r>
                        <a:rPr lang="en-GB" sz="1200" u="none" strike="noStrike">
                          <a:effectLst/>
                        </a:rPr>
                        <a:t>M5 Kane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0.872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1366203"/>
                  </a:ext>
                </a:extLst>
              </a:tr>
              <a:tr h="203200">
                <a:tc>
                  <a:txBody>
                    <a:bodyPr/>
                    <a:lstStyle/>
                    <a:p>
                      <a:pPr algn="l" fontAlgn="b"/>
                      <a:r>
                        <a:rPr lang="en-GB" sz="1200" u="none" strike="noStrike" dirty="0">
                          <a:effectLst/>
                        </a:rPr>
                        <a:t>M5 Kane poor</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0.941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55944797"/>
                  </a:ext>
                </a:extLst>
              </a:tr>
              <a:tr h="203200">
                <a:tc>
                  <a:txBody>
                    <a:bodyPr/>
                    <a:lstStyle/>
                    <a:p>
                      <a:pPr algn="l" fontAlgn="b"/>
                      <a:r>
                        <a:rPr lang="en-GB" sz="1200" u="none" strike="noStrike">
                          <a:effectLst/>
                        </a:rPr>
                        <a:t>M9 LeHeron</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0.961</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96361863"/>
                  </a:ext>
                </a:extLst>
              </a:tr>
              <a:tr h="203200">
                <a:tc>
                  <a:txBody>
                    <a:bodyPr/>
                    <a:lstStyle/>
                    <a:p>
                      <a:pPr algn="l" fontAlgn="b"/>
                      <a:r>
                        <a:rPr lang="en-GB" sz="1200" u="none" strike="noStrike">
                          <a:effectLst/>
                        </a:rPr>
                        <a:t>M9 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0.972</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02091456"/>
                  </a:ext>
                </a:extLst>
              </a:tr>
              <a:tr h="203200">
                <a:tc>
                  <a:txBody>
                    <a:bodyPr/>
                    <a:lstStyle/>
                    <a:p>
                      <a:pPr algn="l" fontAlgn="b"/>
                      <a:r>
                        <a:rPr lang="en-GB" sz="1200" u="none" strike="noStrike">
                          <a:effectLst/>
                        </a:rPr>
                        <a:t>M9 Kane</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dirty="0">
                          <a:effectLst/>
                        </a:rPr>
                        <a:t>0.991</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9306807"/>
                  </a:ext>
                </a:extLst>
              </a:tr>
            </a:tbl>
          </a:graphicData>
        </a:graphic>
      </p:graphicFrame>
      <p:sp>
        <p:nvSpPr>
          <p:cNvPr id="6" name="TextBox 5">
            <a:extLst>
              <a:ext uri="{FF2B5EF4-FFF2-40B4-BE49-F238E27FC236}">
                <a16:creationId xmlns:a16="http://schemas.microsoft.com/office/drawing/2014/main" id="{2EDAB6EE-09A4-809E-CB58-F9D0B4A26B65}"/>
              </a:ext>
            </a:extLst>
          </p:cNvPr>
          <p:cNvSpPr txBox="1"/>
          <p:nvPr/>
        </p:nvSpPr>
        <p:spPr>
          <a:xfrm>
            <a:off x="932055" y="884879"/>
            <a:ext cx="2418162" cy="369332"/>
          </a:xfrm>
          <a:prstGeom prst="rect">
            <a:avLst/>
          </a:prstGeom>
          <a:noFill/>
        </p:spPr>
        <p:txBody>
          <a:bodyPr wrap="none" rtlCol="0">
            <a:spAutoFit/>
          </a:bodyPr>
          <a:lstStyle/>
          <a:p>
            <a:r>
              <a:rPr lang="en-US" dirty="0"/>
              <a:t>Reporting Pearson’s rho</a:t>
            </a:r>
          </a:p>
        </p:txBody>
      </p:sp>
      <p:sp>
        <p:nvSpPr>
          <p:cNvPr id="3" name="TextBox 2">
            <a:extLst>
              <a:ext uri="{FF2B5EF4-FFF2-40B4-BE49-F238E27FC236}">
                <a16:creationId xmlns:a16="http://schemas.microsoft.com/office/drawing/2014/main" id="{71DDE74E-C3E6-8D7E-5844-CC4A2C77EB8E}"/>
              </a:ext>
            </a:extLst>
          </p:cNvPr>
          <p:cNvSpPr txBox="1"/>
          <p:nvPr/>
        </p:nvSpPr>
        <p:spPr>
          <a:xfrm>
            <a:off x="226303" y="4370244"/>
            <a:ext cx="5710474" cy="369332"/>
          </a:xfrm>
          <a:prstGeom prst="rect">
            <a:avLst/>
          </a:prstGeom>
          <a:noFill/>
        </p:spPr>
        <p:txBody>
          <a:bodyPr wrap="none" rtlCol="0">
            <a:spAutoFit/>
          </a:bodyPr>
          <a:lstStyle/>
          <a:p>
            <a:r>
              <a:rPr lang="en-US" dirty="0" err="1"/>
              <a:t>Softmax</a:t>
            </a:r>
            <a:r>
              <a:rPr lang="en-US" dirty="0"/>
              <a:t> fixed model leaving times – no environment effect</a:t>
            </a:r>
          </a:p>
        </p:txBody>
      </p:sp>
      <p:pic>
        <p:nvPicPr>
          <p:cNvPr id="12" name="Graphic 11">
            <a:extLst>
              <a:ext uri="{FF2B5EF4-FFF2-40B4-BE49-F238E27FC236}">
                <a16:creationId xmlns:a16="http://schemas.microsoft.com/office/drawing/2014/main" id="{E82AFFC4-31EA-D52A-ABE2-A4683C89BE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4443" y="5099478"/>
            <a:ext cx="1879600" cy="1879600"/>
          </a:xfrm>
          <a:prstGeom prst="rect">
            <a:avLst/>
          </a:prstGeom>
        </p:spPr>
      </p:pic>
      <p:pic>
        <p:nvPicPr>
          <p:cNvPr id="14" name="Graphic 13">
            <a:extLst>
              <a:ext uri="{FF2B5EF4-FFF2-40B4-BE49-F238E27FC236}">
                <a16:creationId xmlns:a16="http://schemas.microsoft.com/office/drawing/2014/main" id="{B0A1602A-918B-AF3C-7CF5-544199BB1D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37622" y="5124532"/>
            <a:ext cx="1879600" cy="1879600"/>
          </a:xfrm>
          <a:prstGeom prst="rect">
            <a:avLst/>
          </a:prstGeom>
        </p:spPr>
      </p:pic>
      <p:pic>
        <p:nvPicPr>
          <p:cNvPr id="16" name="Graphic 15">
            <a:extLst>
              <a:ext uri="{FF2B5EF4-FFF2-40B4-BE49-F238E27FC236}">
                <a16:creationId xmlns:a16="http://schemas.microsoft.com/office/drawing/2014/main" id="{30DC7E9C-4F2C-7EF7-4352-57D3784E91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02" y="5108326"/>
            <a:ext cx="1879600" cy="1879600"/>
          </a:xfrm>
          <a:prstGeom prst="rect">
            <a:avLst/>
          </a:prstGeom>
        </p:spPr>
      </p:pic>
      <p:sp>
        <p:nvSpPr>
          <p:cNvPr id="17" name="TextBox 16">
            <a:extLst>
              <a:ext uri="{FF2B5EF4-FFF2-40B4-BE49-F238E27FC236}">
                <a16:creationId xmlns:a16="http://schemas.microsoft.com/office/drawing/2014/main" id="{28BAC86F-5D92-201F-2596-1E5A6AEC79F3}"/>
              </a:ext>
            </a:extLst>
          </p:cNvPr>
          <p:cNvSpPr txBox="1"/>
          <p:nvPr/>
        </p:nvSpPr>
        <p:spPr>
          <a:xfrm>
            <a:off x="5003386" y="4774612"/>
            <a:ext cx="648896" cy="369332"/>
          </a:xfrm>
          <a:prstGeom prst="rect">
            <a:avLst/>
          </a:prstGeom>
          <a:noFill/>
        </p:spPr>
        <p:txBody>
          <a:bodyPr wrap="none" rtlCol="0">
            <a:spAutoFit/>
          </a:bodyPr>
          <a:lstStyle/>
          <a:p>
            <a:r>
              <a:rPr lang="en-US" dirty="0"/>
              <a:t>Kane</a:t>
            </a:r>
          </a:p>
        </p:txBody>
      </p:sp>
      <p:sp>
        <p:nvSpPr>
          <p:cNvPr id="18" name="TextBox 17">
            <a:extLst>
              <a:ext uri="{FF2B5EF4-FFF2-40B4-BE49-F238E27FC236}">
                <a16:creationId xmlns:a16="http://schemas.microsoft.com/office/drawing/2014/main" id="{07444DDC-B665-FD0C-6438-29462480A596}"/>
              </a:ext>
            </a:extLst>
          </p:cNvPr>
          <p:cNvSpPr txBox="1"/>
          <p:nvPr/>
        </p:nvSpPr>
        <p:spPr>
          <a:xfrm>
            <a:off x="2763989" y="4747388"/>
            <a:ext cx="1811843" cy="369332"/>
          </a:xfrm>
          <a:prstGeom prst="rect">
            <a:avLst/>
          </a:prstGeom>
          <a:noFill/>
        </p:spPr>
        <p:txBody>
          <a:bodyPr wrap="none" rtlCol="0">
            <a:spAutoFit/>
          </a:bodyPr>
          <a:lstStyle/>
          <a:p>
            <a:r>
              <a:rPr lang="en-US" dirty="0"/>
              <a:t>Contreras-Huerta</a:t>
            </a:r>
          </a:p>
        </p:txBody>
      </p:sp>
      <p:sp>
        <p:nvSpPr>
          <p:cNvPr id="19" name="TextBox 18">
            <a:extLst>
              <a:ext uri="{FF2B5EF4-FFF2-40B4-BE49-F238E27FC236}">
                <a16:creationId xmlns:a16="http://schemas.microsoft.com/office/drawing/2014/main" id="{1122CFDB-980F-B47D-B702-DC3807EFC448}"/>
              </a:ext>
            </a:extLst>
          </p:cNvPr>
          <p:cNvSpPr txBox="1"/>
          <p:nvPr/>
        </p:nvSpPr>
        <p:spPr>
          <a:xfrm>
            <a:off x="632753" y="4801572"/>
            <a:ext cx="1030539" cy="369332"/>
          </a:xfrm>
          <a:prstGeom prst="rect">
            <a:avLst/>
          </a:prstGeom>
          <a:noFill/>
        </p:spPr>
        <p:txBody>
          <a:bodyPr wrap="none" rtlCol="0">
            <a:spAutoFit/>
          </a:bodyPr>
          <a:lstStyle/>
          <a:p>
            <a:r>
              <a:rPr lang="en-US" dirty="0"/>
              <a:t>Le Heron</a:t>
            </a:r>
          </a:p>
        </p:txBody>
      </p:sp>
      <p:pic>
        <p:nvPicPr>
          <p:cNvPr id="21" name="Graphic 20">
            <a:extLst>
              <a:ext uri="{FF2B5EF4-FFF2-40B4-BE49-F238E27FC236}">
                <a16:creationId xmlns:a16="http://schemas.microsoft.com/office/drawing/2014/main" id="{F5DBFEAD-EBC5-F8A4-5D48-BC08CA9C61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5501" y="7658558"/>
            <a:ext cx="1879600" cy="1879600"/>
          </a:xfrm>
          <a:prstGeom prst="rect">
            <a:avLst/>
          </a:prstGeom>
        </p:spPr>
      </p:pic>
      <p:pic>
        <p:nvPicPr>
          <p:cNvPr id="23" name="Graphic 22">
            <a:extLst>
              <a:ext uri="{FF2B5EF4-FFF2-40B4-BE49-F238E27FC236}">
                <a16:creationId xmlns:a16="http://schemas.microsoft.com/office/drawing/2014/main" id="{F9196B4D-F2B5-CC47-95AE-6F16A5D29DB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34600" y="7663498"/>
            <a:ext cx="1879600" cy="1879600"/>
          </a:xfrm>
          <a:prstGeom prst="rect">
            <a:avLst/>
          </a:prstGeom>
        </p:spPr>
      </p:pic>
      <p:pic>
        <p:nvPicPr>
          <p:cNvPr id="27" name="Graphic 26">
            <a:extLst>
              <a:ext uri="{FF2B5EF4-FFF2-40B4-BE49-F238E27FC236}">
                <a16:creationId xmlns:a16="http://schemas.microsoft.com/office/drawing/2014/main" id="{171A5295-7356-6530-F613-513BE5AFABE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12482" y="7658558"/>
            <a:ext cx="1879600" cy="1879600"/>
          </a:xfrm>
          <a:prstGeom prst="rect">
            <a:avLst/>
          </a:prstGeom>
        </p:spPr>
      </p:pic>
      <p:sp>
        <p:nvSpPr>
          <p:cNvPr id="28" name="TextBox 27">
            <a:extLst>
              <a:ext uri="{FF2B5EF4-FFF2-40B4-BE49-F238E27FC236}">
                <a16:creationId xmlns:a16="http://schemas.microsoft.com/office/drawing/2014/main" id="{542B9925-FF64-1C09-FD73-6A0D159AC1DA}"/>
              </a:ext>
            </a:extLst>
          </p:cNvPr>
          <p:cNvSpPr txBox="1"/>
          <p:nvPr/>
        </p:nvSpPr>
        <p:spPr>
          <a:xfrm>
            <a:off x="340802" y="7078728"/>
            <a:ext cx="6177985" cy="646331"/>
          </a:xfrm>
          <a:prstGeom prst="rect">
            <a:avLst/>
          </a:prstGeom>
          <a:noFill/>
        </p:spPr>
        <p:txBody>
          <a:bodyPr wrap="square" rtlCol="0">
            <a:spAutoFit/>
          </a:bodyPr>
          <a:lstStyle/>
          <a:p>
            <a:r>
              <a:rPr lang="en-US" dirty="0"/>
              <a:t>Lapse model – tiny epsilon fits don’t influence the model leaving times</a:t>
            </a:r>
          </a:p>
        </p:txBody>
      </p:sp>
    </p:spTree>
    <p:extLst>
      <p:ext uri="{BB962C8B-B14F-4D97-AF65-F5344CB8AC3E}">
        <p14:creationId xmlns:p14="http://schemas.microsoft.com/office/powerpoint/2010/main" val="202378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11B0254-6A54-3E5E-4355-6403F61271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23783" y="3141675"/>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1163776" y="67240"/>
            <a:ext cx="3859967" cy="369332"/>
          </a:xfrm>
          <a:prstGeom prst="rect">
            <a:avLst/>
          </a:prstGeom>
          <a:noFill/>
        </p:spPr>
        <p:txBody>
          <a:bodyPr wrap="none" rtlCol="0">
            <a:spAutoFit/>
          </a:bodyPr>
          <a:lstStyle/>
          <a:p>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sp>
        <p:nvSpPr>
          <p:cNvPr id="13" name="TextBox 12">
            <a:extLst>
              <a:ext uri="{FF2B5EF4-FFF2-40B4-BE49-F238E27FC236}">
                <a16:creationId xmlns:a16="http://schemas.microsoft.com/office/drawing/2014/main" id="{826A9F7B-AB98-DCF2-2570-E57BE7F74AB8}"/>
              </a:ext>
            </a:extLst>
          </p:cNvPr>
          <p:cNvSpPr txBox="1"/>
          <p:nvPr/>
        </p:nvSpPr>
        <p:spPr>
          <a:xfrm>
            <a:off x="658089" y="2722004"/>
            <a:ext cx="306494" cy="369332"/>
          </a:xfrm>
          <a:prstGeom prst="rect">
            <a:avLst/>
          </a:prstGeom>
          <a:noFill/>
        </p:spPr>
        <p:txBody>
          <a:bodyPr wrap="none" rtlCol="0">
            <a:spAutoFit/>
          </a:bodyPr>
          <a:lstStyle/>
          <a:p>
            <a:r>
              <a:rPr lang="en-US" dirty="0"/>
              <a:t>b</a:t>
            </a:r>
          </a:p>
        </p:txBody>
      </p:sp>
      <p:sp>
        <p:nvSpPr>
          <p:cNvPr id="14" name="TextBox 13">
            <a:extLst>
              <a:ext uri="{FF2B5EF4-FFF2-40B4-BE49-F238E27FC236}">
                <a16:creationId xmlns:a16="http://schemas.microsoft.com/office/drawing/2014/main" id="{7047C485-C94C-31B3-74F7-BC2C40FDA1A8}"/>
              </a:ext>
            </a:extLst>
          </p:cNvPr>
          <p:cNvSpPr txBox="1"/>
          <p:nvPr/>
        </p:nvSpPr>
        <p:spPr>
          <a:xfrm>
            <a:off x="2702958" y="2830663"/>
            <a:ext cx="282450" cy="369332"/>
          </a:xfrm>
          <a:prstGeom prst="rect">
            <a:avLst/>
          </a:prstGeom>
          <a:noFill/>
        </p:spPr>
        <p:txBody>
          <a:bodyPr wrap="none" rtlCol="0">
            <a:spAutoFit/>
          </a:bodyPr>
          <a:lstStyle/>
          <a:p>
            <a:r>
              <a:rPr lang="en-US" dirty="0"/>
              <a:t>c</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116128"/>
            <a:ext cx="6699250" cy="1107996"/>
          </a:xfrm>
          <a:prstGeom prst="rect">
            <a:avLst/>
          </a:prstGeom>
          <a:noFill/>
        </p:spPr>
        <p:txBody>
          <a:bodyPr wrap="square" rtlCol="0">
            <a:spAutoFit/>
          </a:bodyPr>
          <a:lstStyle/>
          <a:p>
            <a:pPr marL="228600" indent="-228600">
              <a:buAutoNum type="alphaLcParenR"/>
            </a:pPr>
            <a:r>
              <a:rPr lang="en-US" sz="1100" dirty="0"/>
              <a:t>BIC comparison of how beta arises from </a:t>
            </a:r>
            <a:r>
              <a:rPr lang="en-US" sz="1100" dirty="0" err="1"/>
              <a:t>averageRR</a:t>
            </a:r>
            <a:r>
              <a:rPr lang="en-US" sz="1100" dirty="0"/>
              <a:t> – simplest scalar model with one parameter wins, when using their real experienced average reward rate in each block. </a:t>
            </a:r>
          </a:p>
          <a:p>
            <a:pPr marL="228600" indent="-228600">
              <a:buAutoNum type="alphaLcParenR"/>
            </a:pPr>
            <a:r>
              <a:rPr lang="en-US" sz="1100" dirty="0"/>
              <a:t>Participant leave times vs simulated leave times</a:t>
            </a:r>
          </a:p>
          <a:p>
            <a:pPr marL="228600" indent="-228600">
              <a:buAutoNum type="alphaLcParenR"/>
            </a:pPr>
            <a:r>
              <a:rPr lang="en-US" sz="1100" dirty="0"/>
              <a:t>Participant SDs vs simulated SDs</a:t>
            </a:r>
          </a:p>
          <a:p>
            <a:r>
              <a:rPr lang="en-US" sz="1100" b="1" dirty="0"/>
              <a:t>d) </a:t>
            </a:r>
            <a:r>
              <a:rPr lang="en-US" sz="1100" dirty="0"/>
              <a:t>Correlation of participant lambda fits with participant mean leaving times  [</a:t>
            </a:r>
            <a:r>
              <a:rPr lang="en-US" sz="1100" i="1" dirty="0"/>
              <a:t>r</a:t>
            </a:r>
            <a:r>
              <a:rPr lang="en-US" sz="1100" dirty="0"/>
              <a:t>(37) = 0.99, </a:t>
            </a:r>
            <a:r>
              <a:rPr lang="en-US" sz="1100" i="1" dirty="0"/>
              <a:t>p</a:t>
            </a:r>
            <a:r>
              <a:rPr lang="en-US" sz="1100" dirty="0"/>
              <a:t> &lt; .001].</a:t>
            </a:r>
          </a:p>
          <a:p>
            <a:endParaRPr lang="en-US" sz="1100" dirty="0"/>
          </a:p>
        </p:txBody>
      </p:sp>
      <p:sp>
        <p:nvSpPr>
          <p:cNvPr id="18" name="TextBox 17">
            <a:extLst>
              <a:ext uri="{FF2B5EF4-FFF2-40B4-BE49-F238E27FC236}">
                <a16:creationId xmlns:a16="http://schemas.microsoft.com/office/drawing/2014/main" id="{66AAAE6B-C5A2-2C3F-EC4A-70EC847B705D}"/>
              </a:ext>
            </a:extLst>
          </p:cNvPr>
          <p:cNvSpPr txBox="1"/>
          <p:nvPr/>
        </p:nvSpPr>
        <p:spPr>
          <a:xfrm>
            <a:off x="4608636" y="2798011"/>
            <a:ext cx="306494" cy="369332"/>
          </a:xfrm>
          <a:prstGeom prst="rect">
            <a:avLst/>
          </a:prstGeom>
          <a:noFill/>
        </p:spPr>
        <p:txBody>
          <a:bodyPr wrap="none" rtlCol="0">
            <a:spAutoFit/>
          </a:bodyPr>
          <a:lstStyle/>
          <a:p>
            <a:r>
              <a:rPr lang="en-US" dirty="0"/>
              <a:t>d</a:t>
            </a:r>
          </a:p>
        </p:txBody>
      </p:sp>
      <p:pic>
        <p:nvPicPr>
          <p:cNvPr id="3" name="Graphic 2">
            <a:extLst>
              <a:ext uri="{FF2B5EF4-FFF2-40B4-BE49-F238E27FC236}">
                <a16:creationId xmlns:a16="http://schemas.microsoft.com/office/drawing/2014/main" id="{C7F5A654-5A55-6C8D-03DF-E1E622D2ED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588" y="780236"/>
            <a:ext cx="3771900" cy="1879600"/>
          </a:xfrm>
          <a:prstGeom prst="rect">
            <a:avLst/>
          </a:prstGeom>
        </p:spPr>
      </p:pic>
      <p:pic>
        <p:nvPicPr>
          <p:cNvPr id="4" name="Graphic 3">
            <a:extLst>
              <a:ext uri="{FF2B5EF4-FFF2-40B4-BE49-F238E27FC236}">
                <a16:creationId xmlns:a16="http://schemas.microsoft.com/office/drawing/2014/main" id="{33D7DC30-C3CD-34F6-5819-FB3A295A8B6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0972" y="3075084"/>
            <a:ext cx="1879600" cy="1879600"/>
          </a:xfrm>
          <a:prstGeom prst="rect">
            <a:avLst/>
          </a:prstGeom>
        </p:spPr>
      </p:pic>
      <p:pic>
        <p:nvPicPr>
          <p:cNvPr id="6" name="Graphic 5">
            <a:extLst>
              <a:ext uri="{FF2B5EF4-FFF2-40B4-BE49-F238E27FC236}">
                <a16:creationId xmlns:a16="http://schemas.microsoft.com/office/drawing/2014/main" id="{01AB7033-C610-523E-DA79-F7140BD7744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97231" y="3146242"/>
            <a:ext cx="1879600" cy="1879600"/>
          </a:xfrm>
          <a:prstGeom prst="rect">
            <a:avLst/>
          </a:prstGeom>
        </p:spPr>
      </p:pic>
    </p:spTree>
    <p:extLst>
      <p:ext uri="{BB962C8B-B14F-4D97-AF65-F5344CB8AC3E}">
        <p14:creationId xmlns:p14="http://schemas.microsoft.com/office/powerpoint/2010/main" val="4040899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699153E6-9C84-003A-EC59-5346D05E63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10312" y="4686785"/>
            <a:ext cx="1879600" cy="1879600"/>
          </a:xfrm>
          <a:prstGeom prst="rect">
            <a:avLst/>
          </a:prstGeom>
        </p:spPr>
      </p:pic>
      <p:pic>
        <p:nvPicPr>
          <p:cNvPr id="34" name="Graphic 33">
            <a:extLst>
              <a:ext uri="{FF2B5EF4-FFF2-40B4-BE49-F238E27FC236}">
                <a16:creationId xmlns:a16="http://schemas.microsoft.com/office/drawing/2014/main" id="{600BCD02-C71E-B02A-B5A7-2F16B25C47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53307" y="4718697"/>
            <a:ext cx="1879600" cy="1879600"/>
          </a:xfrm>
          <a:prstGeom prst="rect">
            <a:avLst/>
          </a:prstGeom>
        </p:spPr>
      </p:pic>
      <p:pic>
        <p:nvPicPr>
          <p:cNvPr id="8" name="Graphic 7">
            <a:extLst>
              <a:ext uri="{FF2B5EF4-FFF2-40B4-BE49-F238E27FC236}">
                <a16:creationId xmlns:a16="http://schemas.microsoft.com/office/drawing/2014/main" id="{55035DAA-03AF-7150-7287-CA7DB907D0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1758" y="2846113"/>
            <a:ext cx="37719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6141753" cy="646331"/>
          </a:xfrm>
          <a:prstGeom prst="rect">
            <a:avLst/>
          </a:prstGeom>
          <a:noFill/>
        </p:spPr>
        <p:txBody>
          <a:bodyPr wrap="square" rtlCol="0">
            <a:spAutoFit/>
          </a:bodyPr>
          <a:lstStyle/>
          <a:p>
            <a:r>
              <a:rPr lang="en-US" b="1" dirty="0"/>
              <a:t>Supplementary </a:t>
            </a:r>
            <a:r>
              <a:rPr lang="en-US" dirty="0"/>
              <a:t>Figure 5: Mechanism – </a:t>
            </a:r>
            <a:r>
              <a:rPr lang="en-US" dirty="0" err="1"/>
              <a:t>avgRR</a:t>
            </a:r>
            <a:r>
              <a:rPr lang="en-US" dirty="0"/>
              <a:t> functions for other datasets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99717" y="601286"/>
            <a:ext cx="295274" cy="369332"/>
          </a:xfrm>
          <a:prstGeom prst="rect">
            <a:avLst/>
          </a:prstGeom>
          <a:noFill/>
        </p:spPr>
        <p:txBody>
          <a:bodyPr wrap="none" rtlCol="0">
            <a:spAutoFit/>
          </a:bodyPr>
          <a:lstStyle/>
          <a:p>
            <a:r>
              <a:rPr lang="en-US" dirty="0"/>
              <a:t>a</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820835"/>
            <a:ext cx="6699250" cy="938719"/>
          </a:xfrm>
          <a:prstGeom prst="rect">
            <a:avLst/>
          </a:prstGeom>
          <a:noFill/>
        </p:spPr>
        <p:txBody>
          <a:bodyPr wrap="square" rtlCol="0">
            <a:spAutoFit/>
          </a:bodyPr>
          <a:lstStyle/>
          <a:p>
            <a:pPr marL="228600" indent="-228600">
              <a:buAutoNum type="alphaLcParenR"/>
            </a:pPr>
            <a:r>
              <a:rPr lang="en-US" sz="1100" dirty="0"/>
              <a:t>BIC comparison of all </a:t>
            </a:r>
            <a:r>
              <a:rPr lang="en-US" sz="1100" dirty="0" err="1"/>
              <a:t>avgRR</a:t>
            </a:r>
            <a:r>
              <a:rPr lang="en-US" sz="1100" dirty="0"/>
              <a:t> functions for Contreras-Huerta dataset – same simple model wins.</a:t>
            </a:r>
          </a:p>
          <a:p>
            <a:pPr marL="228600" indent="-228600">
              <a:buFontTx/>
              <a:buAutoNum type="alphaLcParenR"/>
            </a:pPr>
            <a:r>
              <a:rPr lang="en-US" sz="1100" dirty="0"/>
              <a:t>BIC comparison of all </a:t>
            </a:r>
            <a:r>
              <a:rPr lang="en-US" sz="1100" dirty="0" err="1"/>
              <a:t>avgRR</a:t>
            </a:r>
            <a:r>
              <a:rPr lang="en-US" sz="1100" dirty="0"/>
              <a:t> functions for Kane dataset – same simple model wins. </a:t>
            </a:r>
          </a:p>
          <a:p>
            <a:pPr marL="228600" indent="-228600">
              <a:buAutoNum type="alphaLcParenR"/>
            </a:pPr>
            <a:r>
              <a:rPr lang="en-US" sz="1100" dirty="0"/>
              <a:t>For winning function, both simulated leaving times (c-d) and  standard deviations(e-f) looks like participant data for Contreras-Huerta and Kane datasets </a:t>
            </a:r>
          </a:p>
          <a:p>
            <a:pPr marL="228600" indent="-228600">
              <a:buAutoNum type="alphaLcParenR"/>
            </a:pPr>
            <a:endParaRPr lang="en-US" sz="1100" dirty="0"/>
          </a:p>
        </p:txBody>
      </p:sp>
      <p:sp>
        <p:nvSpPr>
          <p:cNvPr id="4" name="TextBox 3">
            <a:extLst>
              <a:ext uri="{FF2B5EF4-FFF2-40B4-BE49-F238E27FC236}">
                <a16:creationId xmlns:a16="http://schemas.microsoft.com/office/drawing/2014/main" id="{271B56A4-6A3D-3F82-DDEB-FAE4484DA50B}"/>
              </a:ext>
            </a:extLst>
          </p:cNvPr>
          <p:cNvSpPr txBox="1"/>
          <p:nvPr/>
        </p:nvSpPr>
        <p:spPr>
          <a:xfrm>
            <a:off x="687625" y="2727484"/>
            <a:ext cx="306494" cy="369332"/>
          </a:xfrm>
          <a:prstGeom prst="rect">
            <a:avLst/>
          </a:prstGeom>
          <a:noFill/>
        </p:spPr>
        <p:txBody>
          <a:bodyPr wrap="none" rtlCol="0">
            <a:spAutoFit/>
          </a:bodyPr>
          <a:lstStyle/>
          <a:p>
            <a:r>
              <a:rPr lang="en-US" dirty="0"/>
              <a:t>b</a:t>
            </a:r>
          </a:p>
        </p:txBody>
      </p:sp>
      <p:pic>
        <p:nvPicPr>
          <p:cNvPr id="38" name="Graphic 37">
            <a:extLst>
              <a:ext uri="{FF2B5EF4-FFF2-40B4-BE49-F238E27FC236}">
                <a16:creationId xmlns:a16="http://schemas.microsoft.com/office/drawing/2014/main" id="{06498D07-0965-0350-B0ED-D01B7451F7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712" y="4726564"/>
            <a:ext cx="1879600" cy="1879600"/>
          </a:xfrm>
          <a:prstGeom prst="rect">
            <a:avLst/>
          </a:prstGeom>
        </p:spPr>
      </p:pic>
      <p:sp>
        <p:nvSpPr>
          <p:cNvPr id="39" name="TextBox 38">
            <a:extLst>
              <a:ext uri="{FF2B5EF4-FFF2-40B4-BE49-F238E27FC236}">
                <a16:creationId xmlns:a16="http://schemas.microsoft.com/office/drawing/2014/main" id="{FE67F76E-14F5-F5B3-6E6A-2F8130591958}"/>
              </a:ext>
            </a:extLst>
          </p:cNvPr>
          <p:cNvSpPr txBox="1"/>
          <p:nvPr/>
        </p:nvSpPr>
        <p:spPr>
          <a:xfrm>
            <a:off x="137774" y="4442803"/>
            <a:ext cx="282450" cy="369332"/>
          </a:xfrm>
          <a:prstGeom prst="rect">
            <a:avLst/>
          </a:prstGeom>
          <a:noFill/>
        </p:spPr>
        <p:txBody>
          <a:bodyPr wrap="none" rtlCol="0">
            <a:spAutoFit/>
          </a:bodyPr>
          <a:lstStyle/>
          <a:p>
            <a:r>
              <a:rPr lang="en-US" dirty="0"/>
              <a:t>c</a:t>
            </a:r>
          </a:p>
        </p:txBody>
      </p:sp>
      <p:sp>
        <p:nvSpPr>
          <p:cNvPr id="40" name="TextBox 39">
            <a:extLst>
              <a:ext uri="{FF2B5EF4-FFF2-40B4-BE49-F238E27FC236}">
                <a16:creationId xmlns:a16="http://schemas.microsoft.com/office/drawing/2014/main" id="{62DB1383-5E71-38DD-CEDB-8F6A2BF18F4C}"/>
              </a:ext>
            </a:extLst>
          </p:cNvPr>
          <p:cNvSpPr txBox="1"/>
          <p:nvPr/>
        </p:nvSpPr>
        <p:spPr>
          <a:xfrm>
            <a:off x="1710880" y="4642420"/>
            <a:ext cx="306494" cy="369332"/>
          </a:xfrm>
          <a:prstGeom prst="rect">
            <a:avLst/>
          </a:prstGeom>
          <a:noFill/>
        </p:spPr>
        <p:txBody>
          <a:bodyPr wrap="none" rtlCol="0">
            <a:spAutoFit/>
          </a:bodyPr>
          <a:lstStyle/>
          <a:p>
            <a:r>
              <a:rPr lang="en-US" dirty="0"/>
              <a:t>d</a:t>
            </a:r>
          </a:p>
        </p:txBody>
      </p:sp>
      <p:pic>
        <p:nvPicPr>
          <p:cNvPr id="5" name="Graphic 4">
            <a:extLst>
              <a:ext uri="{FF2B5EF4-FFF2-40B4-BE49-F238E27FC236}">
                <a16:creationId xmlns:a16="http://schemas.microsoft.com/office/drawing/2014/main" id="{88773C6C-6C80-B992-F890-36F25910754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0512" y="946349"/>
            <a:ext cx="3771900" cy="1879600"/>
          </a:xfrm>
          <a:prstGeom prst="rect">
            <a:avLst/>
          </a:prstGeom>
        </p:spPr>
      </p:pic>
      <p:pic>
        <p:nvPicPr>
          <p:cNvPr id="36" name="Graphic 35">
            <a:extLst>
              <a:ext uri="{FF2B5EF4-FFF2-40B4-BE49-F238E27FC236}">
                <a16:creationId xmlns:a16="http://schemas.microsoft.com/office/drawing/2014/main" id="{F17BAC60-F2EB-DDFB-93A1-3CD64006058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42229" y="4702741"/>
            <a:ext cx="1879600" cy="1879600"/>
          </a:xfrm>
          <a:prstGeom prst="rect">
            <a:avLst/>
          </a:prstGeom>
        </p:spPr>
      </p:pic>
      <p:sp>
        <p:nvSpPr>
          <p:cNvPr id="41" name="TextBox 40">
            <a:extLst>
              <a:ext uri="{FF2B5EF4-FFF2-40B4-BE49-F238E27FC236}">
                <a16:creationId xmlns:a16="http://schemas.microsoft.com/office/drawing/2014/main" id="{4CD7BEAC-3D27-69B6-2F7B-3EB2403DBF73}"/>
              </a:ext>
            </a:extLst>
          </p:cNvPr>
          <p:cNvSpPr txBox="1"/>
          <p:nvPr/>
        </p:nvSpPr>
        <p:spPr>
          <a:xfrm>
            <a:off x="3551681" y="4583030"/>
            <a:ext cx="300082" cy="369332"/>
          </a:xfrm>
          <a:prstGeom prst="rect">
            <a:avLst/>
          </a:prstGeom>
          <a:noFill/>
        </p:spPr>
        <p:txBody>
          <a:bodyPr wrap="none" rtlCol="0">
            <a:spAutoFit/>
          </a:bodyPr>
          <a:lstStyle/>
          <a:p>
            <a:r>
              <a:rPr lang="en-US" dirty="0"/>
              <a:t>e</a:t>
            </a:r>
          </a:p>
        </p:txBody>
      </p:sp>
      <p:sp>
        <p:nvSpPr>
          <p:cNvPr id="42" name="TextBox 41">
            <a:extLst>
              <a:ext uri="{FF2B5EF4-FFF2-40B4-BE49-F238E27FC236}">
                <a16:creationId xmlns:a16="http://schemas.microsoft.com/office/drawing/2014/main" id="{E5DF10BB-CA89-EED3-B617-9B9900365DA6}"/>
              </a:ext>
            </a:extLst>
          </p:cNvPr>
          <p:cNvSpPr txBox="1"/>
          <p:nvPr/>
        </p:nvSpPr>
        <p:spPr>
          <a:xfrm>
            <a:off x="5003004" y="4676751"/>
            <a:ext cx="255198" cy="369332"/>
          </a:xfrm>
          <a:prstGeom prst="rect">
            <a:avLst/>
          </a:prstGeom>
          <a:noFill/>
        </p:spPr>
        <p:txBody>
          <a:bodyPr wrap="none" rtlCol="0">
            <a:spAutoFit/>
          </a:bodyPr>
          <a:lstStyle/>
          <a:p>
            <a:r>
              <a:rPr lang="en-US"/>
              <a:t>f</a:t>
            </a:r>
          </a:p>
        </p:txBody>
      </p:sp>
    </p:spTree>
    <p:extLst>
      <p:ext uri="{BB962C8B-B14F-4D97-AF65-F5344CB8AC3E}">
        <p14:creationId xmlns:p14="http://schemas.microsoft.com/office/powerpoint/2010/main" val="240081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B419AFB6-74F9-3200-ED85-AA9866BA23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3418" y="2596827"/>
            <a:ext cx="1879600" cy="1879600"/>
          </a:xfrm>
          <a:prstGeom prst="rect">
            <a:avLst/>
          </a:prstGeom>
        </p:spPr>
      </p:pic>
      <p:pic>
        <p:nvPicPr>
          <p:cNvPr id="20" name="Graphic 19">
            <a:extLst>
              <a:ext uri="{FF2B5EF4-FFF2-40B4-BE49-F238E27FC236}">
                <a16:creationId xmlns:a16="http://schemas.microsoft.com/office/drawing/2014/main" id="{3A754E16-F203-10DA-9E8A-BDCADFB72A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7065" y="2638517"/>
            <a:ext cx="1879600" cy="1879600"/>
          </a:xfrm>
          <a:prstGeom prst="rect">
            <a:avLst/>
          </a:prstGeom>
        </p:spPr>
      </p:pic>
      <p:pic>
        <p:nvPicPr>
          <p:cNvPr id="13" name="Graphic 12">
            <a:extLst>
              <a:ext uri="{FF2B5EF4-FFF2-40B4-BE49-F238E27FC236}">
                <a16:creationId xmlns:a16="http://schemas.microsoft.com/office/drawing/2014/main" id="{B7A3EF55-89A3-7AB3-5975-C2883E8378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2554" y="764511"/>
            <a:ext cx="1879600" cy="1879600"/>
          </a:xfrm>
          <a:prstGeom prst="rect">
            <a:avLst/>
          </a:prstGeom>
        </p:spPr>
      </p:pic>
      <p:pic>
        <p:nvPicPr>
          <p:cNvPr id="11" name="Graphic 10">
            <a:extLst>
              <a:ext uri="{FF2B5EF4-FFF2-40B4-BE49-F238E27FC236}">
                <a16:creationId xmlns:a16="http://schemas.microsoft.com/office/drawing/2014/main" id="{3F086A34-966F-810C-B69B-1F868271630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75114" y="764511"/>
            <a:ext cx="1879600" cy="1879600"/>
          </a:xfrm>
          <a:prstGeom prst="rect">
            <a:avLst/>
          </a:prstGeom>
        </p:spPr>
      </p:pic>
      <p:pic>
        <p:nvPicPr>
          <p:cNvPr id="5" name="Graphic 4">
            <a:extLst>
              <a:ext uri="{FF2B5EF4-FFF2-40B4-BE49-F238E27FC236}">
                <a16:creationId xmlns:a16="http://schemas.microsoft.com/office/drawing/2014/main" id="{E0F95AAF-5291-EB0A-A46B-46434F3E48B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7702" y="779279"/>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6091348" cy="369332"/>
          </a:xfrm>
          <a:prstGeom prst="rect">
            <a:avLst/>
          </a:prstGeom>
          <a:noFill/>
        </p:spPr>
        <p:txBody>
          <a:bodyPr wrap="none" rtlCol="0">
            <a:spAutoFit/>
          </a:bodyPr>
          <a:lstStyle/>
          <a:p>
            <a:r>
              <a:rPr lang="en-US" b="1" dirty="0"/>
              <a:t>Supplementary </a:t>
            </a:r>
            <a:r>
              <a:rPr lang="en-US" dirty="0"/>
              <a:t>Figure 5: Mechanism – learning functions (RW)</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516474"/>
            <a:ext cx="6699250" cy="1107996"/>
          </a:xfrm>
          <a:prstGeom prst="rect">
            <a:avLst/>
          </a:prstGeom>
          <a:noFill/>
        </p:spPr>
        <p:txBody>
          <a:bodyPr wrap="square" rtlCol="0">
            <a:spAutoFit/>
          </a:bodyPr>
          <a:lstStyle/>
          <a:p>
            <a:r>
              <a:rPr lang="en-US" sz="1100" dirty="0"/>
              <a:t>a-c) Rescorla Wagner learning models comparison for Le Heron, Contreras-Huerta and Kane dataset</a:t>
            </a:r>
          </a:p>
          <a:p>
            <a:r>
              <a:rPr lang="en-US" sz="1100" dirty="0"/>
              <a:t>D-f) Rescorla Wagner models simulated leaving times for Le Heron, CH and Kane datasets shows still overharvesting, environment effect and patch effect, but patch effect is shallower than expected</a:t>
            </a:r>
          </a:p>
          <a:p>
            <a:r>
              <a:rPr lang="en-US" sz="1100" dirty="0"/>
              <a:t>G-</a:t>
            </a:r>
            <a:r>
              <a:rPr lang="en-US" sz="1100" dirty="0" err="1"/>
              <a:t>i</a:t>
            </a:r>
            <a:r>
              <a:rPr lang="en-US" sz="1100" dirty="0"/>
              <a:t>) models can capture SD patterns (Kane partially, as seen before) </a:t>
            </a:r>
          </a:p>
          <a:p>
            <a:r>
              <a:rPr lang="en-US" sz="1100" dirty="0"/>
              <a:t>J-l) correlation of learning rate fits with patch leaving times – no significant correlations, although CH is marginally significant (p = .06. ) driven by a few people with low leaving times and faster learning rates</a:t>
            </a:r>
          </a:p>
        </p:txBody>
      </p:sp>
      <p:sp>
        <p:nvSpPr>
          <p:cNvPr id="22" name="TextBox 21">
            <a:extLst>
              <a:ext uri="{FF2B5EF4-FFF2-40B4-BE49-F238E27FC236}">
                <a16:creationId xmlns:a16="http://schemas.microsoft.com/office/drawing/2014/main" id="{BD3DDD67-4B45-0369-BF67-88E02D383F3E}"/>
              </a:ext>
            </a:extLst>
          </p:cNvPr>
          <p:cNvSpPr txBox="1"/>
          <p:nvPr/>
        </p:nvSpPr>
        <p:spPr>
          <a:xfrm>
            <a:off x="532454" y="508839"/>
            <a:ext cx="293670" cy="369332"/>
          </a:xfrm>
          <a:prstGeom prst="rect">
            <a:avLst/>
          </a:prstGeom>
          <a:noFill/>
        </p:spPr>
        <p:txBody>
          <a:bodyPr wrap="none" rtlCol="0">
            <a:spAutoFit/>
          </a:bodyPr>
          <a:lstStyle/>
          <a:p>
            <a:r>
              <a:rPr lang="en-US" dirty="0"/>
              <a:t>a</a:t>
            </a:r>
          </a:p>
        </p:txBody>
      </p:sp>
      <p:sp>
        <p:nvSpPr>
          <p:cNvPr id="23" name="TextBox 22">
            <a:extLst>
              <a:ext uri="{FF2B5EF4-FFF2-40B4-BE49-F238E27FC236}">
                <a16:creationId xmlns:a16="http://schemas.microsoft.com/office/drawing/2014/main" id="{C5215E42-8F49-FAC0-D1F2-D7EDDF65794F}"/>
              </a:ext>
            </a:extLst>
          </p:cNvPr>
          <p:cNvSpPr txBox="1"/>
          <p:nvPr/>
        </p:nvSpPr>
        <p:spPr>
          <a:xfrm>
            <a:off x="2812749" y="473072"/>
            <a:ext cx="306494" cy="369332"/>
          </a:xfrm>
          <a:prstGeom prst="rect">
            <a:avLst/>
          </a:prstGeom>
          <a:noFill/>
        </p:spPr>
        <p:txBody>
          <a:bodyPr wrap="none" rtlCol="0">
            <a:spAutoFit/>
          </a:bodyPr>
          <a:lstStyle/>
          <a:p>
            <a:r>
              <a:rPr lang="en-US" dirty="0"/>
              <a:t>b</a:t>
            </a:r>
          </a:p>
        </p:txBody>
      </p:sp>
      <p:sp>
        <p:nvSpPr>
          <p:cNvPr id="24" name="TextBox 23">
            <a:extLst>
              <a:ext uri="{FF2B5EF4-FFF2-40B4-BE49-F238E27FC236}">
                <a16:creationId xmlns:a16="http://schemas.microsoft.com/office/drawing/2014/main" id="{8AED40BC-FA43-0614-EF55-DB250D1567AC}"/>
              </a:ext>
            </a:extLst>
          </p:cNvPr>
          <p:cNvSpPr txBox="1"/>
          <p:nvPr/>
        </p:nvSpPr>
        <p:spPr>
          <a:xfrm>
            <a:off x="4657762" y="521678"/>
            <a:ext cx="282450" cy="369332"/>
          </a:xfrm>
          <a:prstGeom prst="rect">
            <a:avLst/>
          </a:prstGeom>
          <a:noFill/>
        </p:spPr>
        <p:txBody>
          <a:bodyPr wrap="none" rtlCol="0">
            <a:spAutoFit/>
          </a:bodyPr>
          <a:lstStyle/>
          <a:p>
            <a:r>
              <a:rPr lang="en-US" dirty="0"/>
              <a:t>c</a:t>
            </a:r>
          </a:p>
        </p:txBody>
      </p:sp>
      <p:sp>
        <p:nvSpPr>
          <p:cNvPr id="2" name="TextBox 1">
            <a:extLst>
              <a:ext uri="{FF2B5EF4-FFF2-40B4-BE49-F238E27FC236}">
                <a16:creationId xmlns:a16="http://schemas.microsoft.com/office/drawing/2014/main" id="{C0903E1A-22B0-6171-2BE1-6D2EA0CA2767}"/>
              </a:ext>
            </a:extLst>
          </p:cNvPr>
          <p:cNvSpPr txBox="1"/>
          <p:nvPr/>
        </p:nvSpPr>
        <p:spPr>
          <a:xfrm>
            <a:off x="576348" y="2524687"/>
            <a:ext cx="306494" cy="369332"/>
          </a:xfrm>
          <a:prstGeom prst="rect">
            <a:avLst/>
          </a:prstGeom>
          <a:noFill/>
        </p:spPr>
        <p:txBody>
          <a:bodyPr wrap="none" rtlCol="0">
            <a:spAutoFit/>
          </a:bodyPr>
          <a:lstStyle/>
          <a:p>
            <a:r>
              <a:rPr lang="en-US" dirty="0"/>
              <a:t>d</a:t>
            </a:r>
          </a:p>
        </p:txBody>
      </p:sp>
      <p:sp>
        <p:nvSpPr>
          <p:cNvPr id="3" name="TextBox 2">
            <a:extLst>
              <a:ext uri="{FF2B5EF4-FFF2-40B4-BE49-F238E27FC236}">
                <a16:creationId xmlns:a16="http://schemas.microsoft.com/office/drawing/2014/main" id="{996300AF-15A2-8F98-E453-5CC28FB1CCC9}"/>
              </a:ext>
            </a:extLst>
          </p:cNvPr>
          <p:cNvSpPr txBox="1"/>
          <p:nvPr/>
        </p:nvSpPr>
        <p:spPr>
          <a:xfrm>
            <a:off x="2758320" y="2491916"/>
            <a:ext cx="300082" cy="369332"/>
          </a:xfrm>
          <a:prstGeom prst="rect">
            <a:avLst/>
          </a:prstGeom>
          <a:noFill/>
        </p:spPr>
        <p:txBody>
          <a:bodyPr wrap="none" rtlCol="0">
            <a:spAutoFit/>
          </a:bodyPr>
          <a:lstStyle/>
          <a:p>
            <a:r>
              <a:rPr lang="en-US" dirty="0"/>
              <a:t>e</a:t>
            </a:r>
          </a:p>
        </p:txBody>
      </p:sp>
      <p:sp>
        <p:nvSpPr>
          <p:cNvPr id="6" name="TextBox 5">
            <a:extLst>
              <a:ext uri="{FF2B5EF4-FFF2-40B4-BE49-F238E27FC236}">
                <a16:creationId xmlns:a16="http://schemas.microsoft.com/office/drawing/2014/main" id="{E3A9CA0B-9F71-369B-6FAB-CA2DC6E793F2}"/>
              </a:ext>
            </a:extLst>
          </p:cNvPr>
          <p:cNvSpPr txBox="1"/>
          <p:nvPr/>
        </p:nvSpPr>
        <p:spPr>
          <a:xfrm>
            <a:off x="4782193" y="2494916"/>
            <a:ext cx="255198" cy="369332"/>
          </a:xfrm>
          <a:prstGeom prst="rect">
            <a:avLst/>
          </a:prstGeom>
          <a:noFill/>
        </p:spPr>
        <p:txBody>
          <a:bodyPr wrap="none" rtlCol="0">
            <a:spAutoFit/>
          </a:bodyPr>
          <a:lstStyle/>
          <a:p>
            <a:r>
              <a:rPr lang="en-US" dirty="0"/>
              <a:t>f</a:t>
            </a:r>
          </a:p>
        </p:txBody>
      </p:sp>
      <p:pic>
        <p:nvPicPr>
          <p:cNvPr id="16" name="Graphic 15">
            <a:extLst>
              <a:ext uri="{FF2B5EF4-FFF2-40B4-BE49-F238E27FC236}">
                <a16:creationId xmlns:a16="http://schemas.microsoft.com/office/drawing/2014/main" id="{1AC679EC-AAF2-D5B0-DAC2-7D5F2C184C5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7865" y="2687868"/>
            <a:ext cx="1879600" cy="1879600"/>
          </a:xfrm>
          <a:prstGeom prst="rect">
            <a:avLst/>
          </a:prstGeom>
        </p:spPr>
      </p:pic>
      <p:pic>
        <p:nvPicPr>
          <p:cNvPr id="28" name="Graphic 27">
            <a:extLst>
              <a:ext uri="{FF2B5EF4-FFF2-40B4-BE49-F238E27FC236}">
                <a16:creationId xmlns:a16="http://schemas.microsoft.com/office/drawing/2014/main" id="{40211822-5754-7C1D-38C7-1337E13064F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17865" y="4578338"/>
            <a:ext cx="1879600" cy="1879600"/>
          </a:xfrm>
          <a:prstGeom prst="rect">
            <a:avLst/>
          </a:prstGeom>
        </p:spPr>
      </p:pic>
      <p:pic>
        <p:nvPicPr>
          <p:cNvPr id="30" name="Graphic 29">
            <a:extLst>
              <a:ext uri="{FF2B5EF4-FFF2-40B4-BE49-F238E27FC236}">
                <a16:creationId xmlns:a16="http://schemas.microsoft.com/office/drawing/2014/main" id="{1637725E-6490-4EED-D94B-7572A776D2A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57737" y="4654049"/>
            <a:ext cx="1879600" cy="1879600"/>
          </a:xfrm>
          <a:prstGeom prst="rect">
            <a:avLst/>
          </a:prstGeom>
        </p:spPr>
      </p:pic>
      <p:pic>
        <p:nvPicPr>
          <p:cNvPr id="34" name="Graphic 33">
            <a:extLst>
              <a:ext uri="{FF2B5EF4-FFF2-40B4-BE49-F238E27FC236}">
                <a16:creationId xmlns:a16="http://schemas.microsoft.com/office/drawing/2014/main" id="{BB5DDFC1-38D8-3632-25BC-1B8B0581D0D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999307" y="4654049"/>
            <a:ext cx="1879600" cy="1879600"/>
          </a:xfrm>
          <a:prstGeom prst="rect">
            <a:avLst/>
          </a:prstGeom>
        </p:spPr>
      </p:pic>
      <p:pic>
        <p:nvPicPr>
          <p:cNvPr id="42" name="Graphic 41">
            <a:extLst>
              <a:ext uri="{FF2B5EF4-FFF2-40B4-BE49-F238E27FC236}">
                <a16:creationId xmlns:a16="http://schemas.microsoft.com/office/drawing/2014/main" id="{A687F9AC-BCFB-3FD1-DD94-A2F478E5F7F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17865" y="6424142"/>
            <a:ext cx="1879600" cy="1879600"/>
          </a:xfrm>
          <a:prstGeom prst="rect">
            <a:avLst/>
          </a:prstGeom>
        </p:spPr>
      </p:pic>
      <p:pic>
        <p:nvPicPr>
          <p:cNvPr id="44" name="Graphic 43">
            <a:extLst>
              <a:ext uri="{FF2B5EF4-FFF2-40B4-BE49-F238E27FC236}">
                <a16:creationId xmlns:a16="http://schemas.microsoft.com/office/drawing/2014/main" id="{6D0E21FD-08A5-A0C1-7BE9-8AC9C73409EE}"/>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009030" y="6556742"/>
            <a:ext cx="1879600" cy="1879600"/>
          </a:xfrm>
          <a:prstGeom prst="rect">
            <a:avLst/>
          </a:prstGeom>
        </p:spPr>
      </p:pic>
      <p:pic>
        <p:nvPicPr>
          <p:cNvPr id="46" name="Graphic 45">
            <a:extLst>
              <a:ext uri="{FF2B5EF4-FFF2-40B4-BE49-F238E27FC236}">
                <a16:creationId xmlns:a16="http://schemas.microsoft.com/office/drawing/2014/main" id="{269A6688-44B0-CA33-D28B-7E16A9FF37B6}"/>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829535" y="6556742"/>
            <a:ext cx="1879600" cy="1879600"/>
          </a:xfrm>
          <a:prstGeom prst="rect">
            <a:avLst/>
          </a:prstGeom>
        </p:spPr>
      </p:pic>
      <p:sp>
        <p:nvSpPr>
          <p:cNvPr id="47" name="TextBox 46">
            <a:extLst>
              <a:ext uri="{FF2B5EF4-FFF2-40B4-BE49-F238E27FC236}">
                <a16:creationId xmlns:a16="http://schemas.microsoft.com/office/drawing/2014/main" id="{6F245B1A-65D5-AD66-285E-B794FAA3FDBD}"/>
              </a:ext>
            </a:extLst>
          </p:cNvPr>
          <p:cNvSpPr txBox="1"/>
          <p:nvPr/>
        </p:nvSpPr>
        <p:spPr>
          <a:xfrm>
            <a:off x="576348" y="4598519"/>
            <a:ext cx="293670" cy="369332"/>
          </a:xfrm>
          <a:prstGeom prst="rect">
            <a:avLst/>
          </a:prstGeom>
          <a:noFill/>
        </p:spPr>
        <p:txBody>
          <a:bodyPr wrap="none" rtlCol="0">
            <a:spAutoFit/>
          </a:bodyPr>
          <a:lstStyle/>
          <a:p>
            <a:r>
              <a:rPr lang="en-US" dirty="0"/>
              <a:t>g</a:t>
            </a:r>
          </a:p>
        </p:txBody>
      </p:sp>
      <p:sp>
        <p:nvSpPr>
          <p:cNvPr id="48" name="TextBox 47">
            <a:extLst>
              <a:ext uri="{FF2B5EF4-FFF2-40B4-BE49-F238E27FC236}">
                <a16:creationId xmlns:a16="http://schemas.microsoft.com/office/drawing/2014/main" id="{69EFC61F-453C-2669-0FAF-A6ABF9B07474}"/>
              </a:ext>
            </a:extLst>
          </p:cNvPr>
          <p:cNvSpPr txBox="1"/>
          <p:nvPr/>
        </p:nvSpPr>
        <p:spPr>
          <a:xfrm>
            <a:off x="2762703" y="4561009"/>
            <a:ext cx="306494" cy="369332"/>
          </a:xfrm>
          <a:prstGeom prst="rect">
            <a:avLst/>
          </a:prstGeom>
          <a:noFill/>
        </p:spPr>
        <p:txBody>
          <a:bodyPr wrap="none" rtlCol="0">
            <a:spAutoFit/>
          </a:bodyPr>
          <a:lstStyle/>
          <a:p>
            <a:r>
              <a:rPr lang="en-US" dirty="0"/>
              <a:t>h</a:t>
            </a:r>
          </a:p>
        </p:txBody>
      </p:sp>
      <p:sp>
        <p:nvSpPr>
          <p:cNvPr id="49" name="TextBox 48">
            <a:extLst>
              <a:ext uri="{FF2B5EF4-FFF2-40B4-BE49-F238E27FC236}">
                <a16:creationId xmlns:a16="http://schemas.microsoft.com/office/drawing/2014/main" id="{45594FBD-73B2-8182-A062-DEE7DD56422F}"/>
              </a:ext>
            </a:extLst>
          </p:cNvPr>
          <p:cNvSpPr txBox="1"/>
          <p:nvPr/>
        </p:nvSpPr>
        <p:spPr>
          <a:xfrm>
            <a:off x="4766573" y="4552756"/>
            <a:ext cx="237566" cy="369332"/>
          </a:xfrm>
          <a:prstGeom prst="rect">
            <a:avLst/>
          </a:prstGeom>
          <a:noFill/>
        </p:spPr>
        <p:txBody>
          <a:bodyPr wrap="none" rtlCol="0">
            <a:spAutoFit/>
          </a:bodyPr>
          <a:lstStyle/>
          <a:p>
            <a:r>
              <a:rPr lang="en-US" dirty="0" err="1"/>
              <a:t>i</a:t>
            </a:r>
            <a:endParaRPr lang="en-US" dirty="0"/>
          </a:p>
        </p:txBody>
      </p:sp>
      <p:sp>
        <p:nvSpPr>
          <p:cNvPr id="50" name="TextBox 49">
            <a:extLst>
              <a:ext uri="{FF2B5EF4-FFF2-40B4-BE49-F238E27FC236}">
                <a16:creationId xmlns:a16="http://schemas.microsoft.com/office/drawing/2014/main" id="{44F99C4E-0A5C-9C55-784F-C4D11CCD730E}"/>
              </a:ext>
            </a:extLst>
          </p:cNvPr>
          <p:cNvSpPr txBox="1"/>
          <p:nvPr/>
        </p:nvSpPr>
        <p:spPr>
          <a:xfrm>
            <a:off x="687915" y="6355237"/>
            <a:ext cx="239168" cy="369332"/>
          </a:xfrm>
          <a:prstGeom prst="rect">
            <a:avLst/>
          </a:prstGeom>
          <a:noFill/>
        </p:spPr>
        <p:txBody>
          <a:bodyPr wrap="none" rtlCol="0">
            <a:spAutoFit/>
          </a:bodyPr>
          <a:lstStyle/>
          <a:p>
            <a:r>
              <a:rPr lang="en-US" dirty="0"/>
              <a:t>j</a:t>
            </a:r>
          </a:p>
        </p:txBody>
      </p:sp>
      <p:sp>
        <p:nvSpPr>
          <p:cNvPr id="51" name="TextBox 50">
            <a:extLst>
              <a:ext uri="{FF2B5EF4-FFF2-40B4-BE49-F238E27FC236}">
                <a16:creationId xmlns:a16="http://schemas.microsoft.com/office/drawing/2014/main" id="{46F7F50F-3FB4-2B1D-8B50-64DCACAAD9FF}"/>
              </a:ext>
            </a:extLst>
          </p:cNvPr>
          <p:cNvSpPr txBox="1"/>
          <p:nvPr/>
        </p:nvSpPr>
        <p:spPr>
          <a:xfrm>
            <a:off x="2917679" y="6370750"/>
            <a:ext cx="288862" cy="369332"/>
          </a:xfrm>
          <a:prstGeom prst="rect">
            <a:avLst/>
          </a:prstGeom>
          <a:noFill/>
        </p:spPr>
        <p:txBody>
          <a:bodyPr wrap="none" rtlCol="0">
            <a:spAutoFit/>
          </a:bodyPr>
          <a:lstStyle/>
          <a:p>
            <a:r>
              <a:rPr lang="en-US" dirty="0"/>
              <a:t>k</a:t>
            </a:r>
          </a:p>
        </p:txBody>
      </p:sp>
      <p:sp>
        <p:nvSpPr>
          <p:cNvPr id="52" name="TextBox 51">
            <a:extLst>
              <a:ext uri="{FF2B5EF4-FFF2-40B4-BE49-F238E27FC236}">
                <a16:creationId xmlns:a16="http://schemas.microsoft.com/office/drawing/2014/main" id="{A13A91E5-8D96-4E2F-D153-E2A99878134C}"/>
              </a:ext>
            </a:extLst>
          </p:cNvPr>
          <p:cNvSpPr txBox="1"/>
          <p:nvPr/>
        </p:nvSpPr>
        <p:spPr>
          <a:xfrm>
            <a:off x="4650461" y="6476610"/>
            <a:ext cx="237566" cy="369332"/>
          </a:xfrm>
          <a:prstGeom prst="rect">
            <a:avLst/>
          </a:prstGeom>
          <a:noFill/>
        </p:spPr>
        <p:txBody>
          <a:bodyPr wrap="none" rtlCol="0">
            <a:spAutoFit/>
          </a:bodyPr>
          <a:lstStyle/>
          <a:p>
            <a:r>
              <a:rPr lang="en-US" dirty="0"/>
              <a:t>l</a:t>
            </a:r>
          </a:p>
        </p:txBody>
      </p:sp>
    </p:spTree>
    <p:extLst>
      <p:ext uri="{BB962C8B-B14F-4D97-AF65-F5344CB8AC3E}">
        <p14:creationId xmlns:p14="http://schemas.microsoft.com/office/powerpoint/2010/main" val="4216332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28316</TotalTime>
  <Words>1477</Words>
  <Application>Microsoft Macintosh PowerPoint</Application>
  <PresentationFormat>A4 Paper (210x297 mm)</PresentationFormat>
  <Paragraphs>191</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 Math</vt:lpstr>
      <vt:lpstr>Office Theme</vt:lpstr>
      <vt:lpstr>Figures for stochastic MVT paper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for stochastic MVT paper</dc:title>
  <dc:creator>Emma Scholey (PhD Psychology Lab FT)</dc:creator>
  <cp:lastModifiedBy>Mark Humphries (staff)</cp:lastModifiedBy>
  <cp:revision>156</cp:revision>
  <cp:lastPrinted>2023-09-07T15:39:42Z</cp:lastPrinted>
  <dcterms:created xsi:type="dcterms:W3CDTF">2023-07-17T08:29:56Z</dcterms:created>
  <dcterms:modified xsi:type="dcterms:W3CDTF">2023-09-13T18:45:30Z</dcterms:modified>
</cp:coreProperties>
</file>